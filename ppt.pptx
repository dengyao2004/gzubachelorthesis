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5765800" cy="3244850"/>
  <p:notesSz cx="5765800" cy="3244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94" d="100"/>
          <a:sy n="194" d="100"/>
        </p:scale>
        <p:origin x="130" y="8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1239989" y="903400"/>
            <a:ext cx="3488690" cy="403225"/>
          </a:xfrm>
          <a:prstGeom prst="rect">
            <a:avLst/>
          </a:prstGeom>
        </p:spPr>
        <p:txBody>
          <a:bodyPr wrap="square" lIns="0" tIns="0" rIns="0" bIns="0">
            <a:spAutoFit/>
          </a:bodyPr>
          <a:lstStyle>
            <a:lvl1pPr>
              <a:defRPr sz="1400" b="0" i="0">
                <a:solidFill>
                  <a:schemeClr val="bg1"/>
                </a:solidFill>
                <a:latin typeface="微软雅黑"/>
                <a:cs typeface="微软雅黑"/>
              </a:defRPr>
            </a:lvl1pPr>
          </a:lstStyle>
          <a:p>
            <a:endParaRPr/>
          </a:p>
        </p:txBody>
      </p:sp>
      <p:sp>
        <p:nvSpPr>
          <p:cNvPr id="3" name="Holder 3"/>
          <p:cNvSpPr>
            <a:spLocks noGrp="1"/>
          </p:cNvSpPr>
          <p:nvPr>
            <p:ph type="subTitle" idx="4"/>
          </p:nvPr>
        </p:nvSpPr>
        <p:spPr>
          <a:xfrm>
            <a:off x="864870" y="1817116"/>
            <a:ext cx="4036060" cy="811212"/>
          </a:xfrm>
          <a:prstGeom prst="rect">
            <a:avLst/>
          </a:prstGeom>
        </p:spPr>
        <p:txBody>
          <a:bodyPr wrap="square" lIns="0" tIns="0" rIns="0" bIns="0">
            <a:spAutoFit/>
          </a:bodyPr>
          <a:lstStyle>
            <a:lvl1pPr>
              <a:defRPr sz="1000" b="0" i="0">
                <a:solidFill>
                  <a:schemeClr val="tx1"/>
                </a:solidFill>
                <a:latin typeface="微软雅黑"/>
                <a:cs typeface="微软雅黑"/>
              </a:defRPr>
            </a:lvl1pPr>
          </a:lstStyle>
          <a:p>
            <a:endParaRPr/>
          </a:p>
        </p:txBody>
      </p:sp>
      <p:sp>
        <p:nvSpPr>
          <p:cNvPr id="4" name="Holder 4"/>
          <p:cNvSpPr>
            <a:spLocks noGrp="1"/>
          </p:cNvSpPr>
          <p:nvPr>
            <p:ph type="ftr" sz="quarter" idx="5"/>
          </p:nvPr>
        </p:nvSpPr>
        <p:spPr/>
        <p:txBody>
          <a:bodyPr lIns="0" tIns="0" rIns="0" bIns="0"/>
          <a:lstStyle>
            <a:lvl1pPr>
              <a:defRPr sz="500" b="0" i="0">
                <a:solidFill>
                  <a:schemeClr val="bg1"/>
                </a:solidFill>
                <a:latin typeface="Century Gothic"/>
                <a:cs typeface="Century Gothic"/>
              </a:defRPr>
            </a:lvl1pPr>
          </a:lstStyle>
          <a:p>
            <a:pPr marL="12700">
              <a:lnSpc>
                <a:spcPct val="100000"/>
              </a:lnSpc>
              <a:spcBef>
                <a:spcPts val="175"/>
              </a:spcBef>
            </a:pPr>
            <a:r>
              <a:rPr dirty="0"/>
              <a:t>2026</a:t>
            </a:r>
            <a:r>
              <a:rPr spc="15" dirty="0"/>
              <a:t> </a:t>
            </a:r>
            <a:r>
              <a:rPr dirty="0">
                <a:latin typeface="微软雅黑"/>
                <a:cs typeface="微软雅黑"/>
              </a:rPr>
              <a:t>年 </a:t>
            </a:r>
            <a:r>
              <a:rPr dirty="0"/>
              <a:t>3</a:t>
            </a:r>
            <a:r>
              <a:rPr spc="15" dirty="0"/>
              <a:t> </a:t>
            </a:r>
            <a:r>
              <a:rPr spc="5" dirty="0">
                <a:latin typeface="微软雅黑"/>
                <a:cs typeface="微软雅黑"/>
              </a:rPr>
              <a:t>月 </a:t>
            </a:r>
            <a:r>
              <a:rPr dirty="0"/>
              <a:t>9</a:t>
            </a:r>
            <a:r>
              <a:rPr spc="15" dirty="0"/>
              <a:t> </a:t>
            </a:r>
            <a:r>
              <a:rPr spc="-50" dirty="0">
                <a:latin typeface="微软雅黑"/>
                <a:cs typeface="微软雅黑"/>
              </a:rPr>
              <a:t>日</a:t>
            </a:r>
          </a:p>
        </p:txBody>
      </p:sp>
      <p:sp>
        <p:nvSpPr>
          <p:cNvPr id="5" name="Holder 5"/>
          <p:cNvSpPr>
            <a:spLocks noGrp="1"/>
          </p:cNvSpPr>
          <p:nvPr>
            <p:ph type="dt" sz="half" idx="6"/>
          </p:nvPr>
        </p:nvSpPr>
        <p:spPr/>
        <p:txBody>
          <a:bodyPr lIns="0" tIns="0" rIns="0" bIns="0"/>
          <a:lstStyle>
            <a:lvl1pPr>
              <a:defRPr sz="500" b="0" i="0">
                <a:solidFill>
                  <a:schemeClr val="bg1"/>
                </a:solidFill>
                <a:latin typeface="微软雅黑"/>
                <a:cs typeface="微软雅黑"/>
              </a:defRPr>
            </a:lvl1pPr>
          </a:lstStyle>
          <a:p>
            <a:pPr marL="12700">
              <a:lnSpc>
                <a:spcPct val="100000"/>
              </a:lnSpc>
              <a:spcBef>
                <a:spcPts val="175"/>
              </a:spcBef>
            </a:pPr>
            <a:r>
              <a:rPr spc="-10" dirty="0"/>
              <a:t>邓</a:t>
            </a:r>
            <a:r>
              <a:rPr dirty="0"/>
              <a:t>垚</a:t>
            </a:r>
            <a:r>
              <a:rPr spc="240" dirty="0"/>
              <a:t> </a:t>
            </a:r>
            <a:r>
              <a:rPr dirty="0">
                <a:latin typeface="Century Gothic"/>
                <a:cs typeface="Century Gothic"/>
              </a:rPr>
              <a:t>(</a:t>
            </a:r>
            <a:r>
              <a:rPr spc="-10" dirty="0"/>
              <a:t>贵州大学</a:t>
            </a:r>
            <a:r>
              <a:rPr spc="-50" dirty="0">
                <a:latin typeface="Century Gothic"/>
                <a:cs typeface="Century Gothic"/>
              </a:rPr>
              <a:t>)</a:t>
            </a:r>
          </a:p>
        </p:txBody>
      </p:sp>
      <p:sp>
        <p:nvSpPr>
          <p:cNvPr id="6" name="Holder 6"/>
          <p:cNvSpPr>
            <a:spLocks noGrp="1"/>
          </p:cNvSpPr>
          <p:nvPr>
            <p:ph type="sldNum" sz="quarter" idx="7"/>
          </p:nvPr>
        </p:nvSpPr>
        <p:spPr/>
        <p:txBody>
          <a:bodyPr lIns="0" tIns="0" rIns="0" bIns="0"/>
          <a:lstStyle>
            <a:lvl1pPr>
              <a:defRPr sz="500" b="0" i="0">
                <a:solidFill>
                  <a:schemeClr val="bg1"/>
                </a:solidFill>
                <a:latin typeface="Century Gothic"/>
                <a:cs typeface="Century Gothic"/>
              </a:defRPr>
            </a:lvl1pPr>
          </a:lstStyle>
          <a:p>
            <a:pPr marL="38100">
              <a:lnSpc>
                <a:spcPct val="100000"/>
              </a:lnSpc>
              <a:spcBef>
                <a:spcPts val="175"/>
              </a:spcBef>
            </a:pPr>
            <a:fld id="{81D60167-4931-47E6-BA6A-407CBD079E47}" type="slidenum">
              <a:rPr spc="-20" dirty="0"/>
              <a:t>‹#›</a:t>
            </a:fld>
            <a:r>
              <a:rPr spc="-35" dirty="0"/>
              <a:t> </a:t>
            </a:r>
            <a:r>
              <a:rPr dirty="0"/>
              <a:t>/</a:t>
            </a:r>
            <a:r>
              <a:rPr spc="-30" dirty="0"/>
              <a:t> </a:t>
            </a:r>
            <a:r>
              <a:rPr spc="-50" dirty="0"/>
              <a:t>7</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微软雅黑"/>
                <a:cs typeface="微软雅黑"/>
              </a:defRPr>
            </a:lvl1pPr>
          </a:lstStyle>
          <a:p>
            <a:endParaRPr/>
          </a:p>
        </p:txBody>
      </p:sp>
      <p:sp>
        <p:nvSpPr>
          <p:cNvPr id="3" name="Holder 3"/>
          <p:cNvSpPr>
            <a:spLocks noGrp="1"/>
          </p:cNvSpPr>
          <p:nvPr>
            <p:ph type="body" idx="1"/>
          </p:nvPr>
        </p:nvSpPr>
        <p:spPr/>
        <p:txBody>
          <a:bodyPr lIns="0" tIns="0" rIns="0" bIns="0"/>
          <a:lstStyle>
            <a:lvl1pPr>
              <a:defRPr sz="1000" b="0" i="0">
                <a:solidFill>
                  <a:schemeClr val="tx1"/>
                </a:solidFill>
                <a:latin typeface="微软雅黑"/>
                <a:cs typeface="微软雅黑"/>
              </a:defRPr>
            </a:lvl1pPr>
          </a:lstStyle>
          <a:p>
            <a:endParaRPr/>
          </a:p>
        </p:txBody>
      </p:sp>
      <p:sp>
        <p:nvSpPr>
          <p:cNvPr id="4" name="Holder 4"/>
          <p:cNvSpPr>
            <a:spLocks noGrp="1"/>
          </p:cNvSpPr>
          <p:nvPr>
            <p:ph type="ftr" sz="quarter" idx="5"/>
          </p:nvPr>
        </p:nvSpPr>
        <p:spPr/>
        <p:txBody>
          <a:bodyPr lIns="0" tIns="0" rIns="0" bIns="0"/>
          <a:lstStyle>
            <a:lvl1pPr>
              <a:defRPr sz="500" b="0" i="0">
                <a:solidFill>
                  <a:schemeClr val="bg1"/>
                </a:solidFill>
                <a:latin typeface="Century Gothic"/>
                <a:cs typeface="Century Gothic"/>
              </a:defRPr>
            </a:lvl1pPr>
          </a:lstStyle>
          <a:p>
            <a:pPr marL="12700">
              <a:lnSpc>
                <a:spcPct val="100000"/>
              </a:lnSpc>
              <a:spcBef>
                <a:spcPts val="175"/>
              </a:spcBef>
            </a:pPr>
            <a:r>
              <a:rPr dirty="0"/>
              <a:t>2026</a:t>
            </a:r>
            <a:r>
              <a:rPr spc="15" dirty="0"/>
              <a:t> </a:t>
            </a:r>
            <a:r>
              <a:rPr dirty="0">
                <a:latin typeface="微软雅黑"/>
                <a:cs typeface="微软雅黑"/>
              </a:rPr>
              <a:t>年 </a:t>
            </a:r>
            <a:r>
              <a:rPr dirty="0"/>
              <a:t>3</a:t>
            </a:r>
            <a:r>
              <a:rPr spc="15" dirty="0"/>
              <a:t> </a:t>
            </a:r>
            <a:r>
              <a:rPr spc="5" dirty="0">
                <a:latin typeface="微软雅黑"/>
                <a:cs typeface="微软雅黑"/>
              </a:rPr>
              <a:t>月 </a:t>
            </a:r>
            <a:r>
              <a:rPr dirty="0"/>
              <a:t>9</a:t>
            </a:r>
            <a:r>
              <a:rPr spc="15" dirty="0"/>
              <a:t> </a:t>
            </a:r>
            <a:r>
              <a:rPr spc="-50" dirty="0">
                <a:latin typeface="微软雅黑"/>
                <a:cs typeface="微软雅黑"/>
              </a:rPr>
              <a:t>日</a:t>
            </a:r>
          </a:p>
        </p:txBody>
      </p:sp>
      <p:sp>
        <p:nvSpPr>
          <p:cNvPr id="5" name="Holder 5"/>
          <p:cNvSpPr>
            <a:spLocks noGrp="1"/>
          </p:cNvSpPr>
          <p:nvPr>
            <p:ph type="dt" sz="half" idx="6"/>
          </p:nvPr>
        </p:nvSpPr>
        <p:spPr/>
        <p:txBody>
          <a:bodyPr lIns="0" tIns="0" rIns="0" bIns="0"/>
          <a:lstStyle>
            <a:lvl1pPr>
              <a:defRPr sz="500" b="0" i="0">
                <a:solidFill>
                  <a:schemeClr val="bg1"/>
                </a:solidFill>
                <a:latin typeface="微软雅黑"/>
                <a:cs typeface="微软雅黑"/>
              </a:defRPr>
            </a:lvl1pPr>
          </a:lstStyle>
          <a:p>
            <a:pPr marL="12700">
              <a:lnSpc>
                <a:spcPct val="100000"/>
              </a:lnSpc>
              <a:spcBef>
                <a:spcPts val="175"/>
              </a:spcBef>
            </a:pPr>
            <a:r>
              <a:rPr spc="-10" dirty="0"/>
              <a:t>邓</a:t>
            </a:r>
            <a:r>
              <a:rPr dirty="0"/>
              <a:t>垚</a:t>
            </a:r>
            <a:r>
              <a:rPr spc="240" dirty="0"/>
              <a:t> </a:t>
            </a:r>
            <a:r>
              <a:rPr dirty="0">
                <a:latin typeface="Century Gothic"/>
                <a:cs typeface="Century Gothic"/>
              </a:rPr>
              <a:t>(</a:t>
            </a:r>
            <a:r>
              <a:rPr spc="-10" dirty="0"/>
              <a:t>贵州大学</a:t>
            </a:r>
            <a:r>
              <a:rPr spc="-50" dirty="0">
                <a:latin typeface="Century Gothic"/>
                <a:cs typeface="Century Gothic"/>
              </a:rPr>
              <a:t>)</a:t>
            </a:r>
          </a:p>
        </p:txBody>
      </p:sp>
      <p:sp>
        <p:nvSpPr>
          <p:cNvPr id="6" name="Holder 6"/>
          <p:cNvSpPr>
            <a:spLocks noGrp="1"/>
          </p:cNvSpPr>
          <p:nvPr>
            <p:ph type="sldNum" sz="quarter" idx="7"/>
          </p:nvPr>
        </p:nvSpPr>
        <p:spPr/>
        <p:txBody>
          <a:bodyPr lIns="0" tIns="0" rIns="0" bIns="0"/>
          <a:lstStyle>
            <a:lvl1pPr>
              <a:defRPr sz="500" b="0" i="0">
                <a:solidFill>
                  <a:schemeClr val="bg1"/>
                </a:solidFill>
                <a:latin typeface="Century Gothic"/>
                <a:cs typeface="Century Gothic"/>
              </a:defRPr>
            </a:lvl1pPr>
          </a:lstStyle>
          <a:p>
            <a:pPr marL="38100">
              <a:lnSpc>
                <a:spcPct val="100000"/>
              </a:lnSpc>
              <a:spcBef>
                <a:spcPts val="175"/>
              </a:spcBef>
            </a:pPr>
            <a:fld id="{81D60167-4931-47E6-BA6A-407CBD079E47}" type="slidenum">
              <a:rPr spc="-20" dirty="0"/>
              <a:t>‹#›</a:t>
            </a:fld>
            <a:r>
              <a:rPr spc="-35" dirty="0"/>
              <a:t> </a:t>
            </a:r>
            <a:r>
              <a:rPr dirty="0"/>
              <a:t>/</a:t>
            </a:r>
            <a:r>
              <a:rPr spc="-30" dirty="0"/>
              <a:t> </a:t>
            </a:r>
            <a:r>
              <a:rPr spc="-50" dirty="0"/>
              <a:t>7</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微软雅黑"/>
                <a:cs typeface="微软雅黑"/>
              </a:defRPr>
            </a:lvl1pPr>
          </a:lstStyle>
          <a:p>
            <a:endParaRPr/>
          </a:p>
        </p:txBody>
      </p:sp>
      <p:sp>
        <p:nvSpPr>
          <p:cNvPr id="3" name="Holder 3"/>
          <p:cNvSpPr>
            <a:spLocks noGrp="1"/>
          </p:cNvSpPr>
          <p:nvPr>
            <p:ph sz="half" idx="2"/>
          </p:nvPr>
        </p:nvSpPr>
        <p:spPr>
          <a:xfrm>
            <a:off x="288290" y="746315"/>
            <a:ext cx="2508123" cy="21416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969387" y="746315"/>
            <a:ext cx="2508123" cy="21416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500" b="0" i="0">
                <a:solidFill>
                  <a:schemeClr val="bg1"/>
                </a:solidFill>
                <a:latin typeface="Century Gothic"/>
                <a:cs typeface="Century Gothic"/>
              </a:defRPr>
            </a:lvl1pPr>
          </a:lstStyle>
          <a:p>
            <a:pPr marL="12700">
              <a:lnSpc>
                <a:spcPct val="100000"/>
              </a:lnSpc>
              <a:spcBef>
                <a:spcPts val="175"/>
              </a:spcBef>
            </a:pPr>
            <a:r>
              <a:rPr dirty="0"/>
              <a:t>2026</a:t>
            </a:r>
            <a:r>
              <a:rPr spc="15" dirty="0"/>
              <a:t> </a:t>
            </a:r>
            <a:r>
              <a:rPr dirty="0">
                <a:latin typeface="微软雅黑"/>
                <a:cs typeface="微软雅黑"/>
              </a:rPr>
              <a:t>年 </a:t>
            </a:r>
            <a:r>
              <a:rPr dirty="0"/>
              <a:t>3</a:t>
            </a:r>
            <a:r>
              <a:rPr spc="15" dirty="0"/>
              <a:t> </a:t>
            </a:r>
            <a:r>
              <a:rPr spc="5" dirty="0">
                <a:latin typeface="微软雅黑"/>
                <a:cs typeface="微软雅黑"/>
              </a:rPr>
              <a:t>月 </a:t>
            </a:r>
            <a:r>
              <a:rPr dirty="0"/>
              <a:t>9</a:t>
            </a:r>
            <a:r>
              <a:rPr spc="15" dirty="0"/>
              <a:t> </a:t>
            </a:r>
            <a:r>
              <a:rPr spc="-50" dirty="0">
                <a:latin typeface="微软雅黑"/>
                <a:cs typeface="微软雅黑"/>
              </a:rPr>
              <a:t>日</a:t>
            </a:r>
          </a:p>
        </p:txBody>
      </p:sp>
      <p:sp>
        <p:nvSpPr>
          <p:cNvPr id="6" name="Holder 6"/>
          <p:cNvSpPr>
            <a:spLocks noGrp="1"/>
          </p:cNvSpPr>
          <p:nvPr>
            <p:ph type="dt" sz="half" idx="6"/>
          </p:nvPr>
        </p:nvSpPr>
        <p:spPr/>
        <p:txBody>
          <a:bodyPr lIns="0" tIns="0" rIns="0" bIns="0"/>
          <a:lstStyle>
            <a:lvl1pPr>
              <a:defRPr sz="500" b="0" i="0">
                <a:solidFill>
                  <a:schemeClr val="bg1"/>
                </a:solidFill>
                <a:latin typeface="微软雅黑"/>
                <a:cs typeface="微软雅黑"/>
              </a:defRPr>
            </a:lvl1pPr>
          </a:lstStyle>
          <a:p>
            <a:pPr marL="12700">
              <a:lnSpc>
                <a:spcPct val="100000"/>
              </a:lnSpc>
              <a:spcBef>
                <a:spcPts val="175"/>
              </a:spcBef>
            </a:pPr>
            <a:r>
              <a:rPr spc="-10" dirty="0"/>
              <a:t>邓</a:t>
            </a:r>
            <a:r>
              <a:rPr dirty="0"/>
              <a:t>垚</a:t>
            </a:r>
            <a:r>
              <a:rPr spc="240" dirty="0"/>
              <a:t> </a:t>
            </a:r>
            <a:r>
              <a:rPr dirty="0">
                <a:latin typeface="Century Gothic"/>
                <a:cs typeface="Century Gothic"/>
              </a:rPr>
              <a:t>(</a:t>
            </a:r>
            <a:r>
              <a:rPr spc="-10" dirty="0"/>
              <a:t>贵州大学</a:t>
            </a:r>
            <a:r>
              <a:rPr spc="-50" dirty="0">
                <a:latin typeface="Century Gothic"/>
                <a:cs typeface="Century Gothic"/>
              </a:rPr>
              <a:t>)</a:t>
            </a:r>
          </a:p>
        </p:txBody>
      </p:sp>
      <p:sp>
        <p:nvSpPr>
          <p:cNvPr id="7" name="Holder 7"/>
          <p:cNvSpPr>
            <a:spLocks noGrp="1"/>
          </p:cNvSpPr>
          <p:nvPr>
            <p:ph type="sldNum" sz="quarter" idx="7"/>
          </p:nvPr>
        </p:nvSpPr>
        <p:spPr/>
        <p:txBody>
          <a:bodyPr lIns="0" tIns="0" rIns="0" bIns="0"/>
          <a:lstStyle>
            <a:lvl1pPr>
              <a:defRPr sz="500" b="0" i="0">
                <a:solidFill>
                  <a:schemeClr val="bg1"/>
                </a:solidFill>
                <a:latin typeface="Century Gothic"/>
                <a:cs typeface="Century Gothic"/>
              </a:defRPr>
            </a:lvl1pPr>
          </a:lstStyle>
          <a:p>
            <a:pPr marL="38100">
              <a:lnSpc>
                <a:spcPct val="100000"/>
              </a:lnSpc>
              <a:spcBef>
                <a:spcPts val="175"/>
              </a:spcBef>
            </a:pPr>
            <a:fld id="{81D60167-4931-47E6-BA6A-407CBD079E47}" type="slidenum">
              <a:rPr spc="-20" dirty="0"/>
              <a:t>‹#›</a:t>
            </a:fld>
            <a:r>
              <a:rPr spc="-35" dirty="0"/>
              <a:t> </a:t>
            </a:r>
            <a:r>
              <a:rPr dirty="0"/>
              <a:t>/</a:t>
            </a:r>
            <a:r>
              <a:rPr spc="-30" dirty="0"/>
              <a:t> </a:t>
            </a:r>
            <a:r>
              <a:rPr spc="-50" dirty="0"/>
              <a:t>7</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微软雅黑"/>
                <a:cs typeface="微软雅黑"/>
              </a:defRPr>
            </a:lvl1pPr>
          </a:lstStyle>
          <a:p>
            <a:endParaRPr/>
          </a:p>
        </p:txBody>
      </p:sp>
      <p:sp>
        <p:nvSpPr>
          <p:cNvPr id="3" name="Holder 3"/>
          <p:cNvSpPr>
            <a:spLocks noGrp="1"/>
          </p:cNvSpPr>
          <p:nvPr>
            <p:ph type="ftr" sz="quarter" idx="5"/>
          </p:nvPr>
        </p:nvSpPr>
        <p:spPr/>
        <p:txBody>
          <a:bodyPr lIns="0" tIns="0" rIns="0" bIns="0"/>
          <a:lstStyle>
            <a:lvl1pPr>
              <a:defRPr sz="500" b="0" i="0">
                <a:solidFill>
                  <a:schemeClr val="bg1"/>
                </a:solidFill>
                <a:latin typeface="Century Gothic"/>
                <a:cs typeface="Century Gothic"/>
              </a:defRPr>
            </a:lvl1pPr>
          </a:lstStyle>
          <a:p>
            <a:pPr marL="12700">
              <a:lnSpc>
                <a:spcPct val="100000"/>
              </a:lnSpc>
              <a:spcBef>
                <a:spcPts val="175"/>
              </a:spcBef>
            </a:pPr>
            <a:r>
              <a:rPr dirty="0"/>
              <a:t>2026</a:t>
            </a:r>
            <a:r>
              <a:rPr spc="15" dirty="0"/>
              <a:t> </a:t>
            </a:r>
            <a:r>
              <a:rPr dirty="0">
                <a:latin typeface="微软雅黑"/>
                <a:cs typeface="微软雅黑"/>
              </a:rPr>
              <a:t>年 </a:t>
            </a:r>
            <a:r>
              <a:rPr dirty="0"/>
              <a:t>3</a:t>
            </a:r>
            <a:r>
              <a:rPr spc="15" dirty="0"/>
              <a:t> </a:t>
            </a:r>
            <a:r>
              <a:rPr spc="5" dirty="0">
                <a:latin typeface="微软雅黑"/>
                <a:cs typeface="微软雅黑"/>
              </a:rPr>
              <a:t>月 </a:t>
            </a:r>
            <a:r>
              <a:rPr dirty="0"/>
              <a:t>9</a:t>
            </a:r>
            <a:r>
              <a:rPr spc="15" dirty="0"/>
              <a:t> </a:t>
            </a:r>
            <a:r>
              <a:rPr spc="-50" dirty="0">
                <a:latin typeface="微软雅黑"/>
                <a:cs typeface="微软雅黑"/>
              </a:rPr>
              <a:t>日</a:t>
            </a:r>
          </a:p>
        </p:txBody>
      </p:sp>
      <p:sp>
        <p:nvSpPr>
          <p:cNvPr id="4" name="Holder 4"/>
          <p:cNvSpPr>
            <a:spLocks noGrp="1"/>
          </p:cNvSpPr>
          <p:nvPr>
            <p:ph type="dt" sz="half" idx="6"/>
          </p:nvPr>
        </p:nvSpPr>
        <p:spPr/>
        <p:txBody>
          <a:bodyPr lIns="0" tIns="0" rIns="0" bIns="0"/>
          <a:lstStyle>
            <a:lvl1pPr>
              <a:defRPr sz="500" b="0" i="0">
                <a:solidFill>
                  <a:schemeClr val="bg1"/>
                </a:solidFill>
                <a:latin typeface="微软雅黑"/>
                <a:cs typeface="微软雅黑"/>
              </a:defRPr>
            </a:lvl1pPr>
          </a:lstStyle>
          <a:p>
            <a:pPr marL="12700">
              <a:lnSpc>
                <a:spcPct val="100000"/>
              </a:lnSpc>
              <a:spcBef>
                <a:spcPts val="175"/>
              </a:spcBef>
            </a:pPr>
            <a:r>
              <a:rPr spc="-10" dirty="0"/>
              <a:t>邓</a:t>
            </a:r>
            <a:r>
              <a:rPr dirty="0"/>
              <a:t>垚</a:t>
            </a:r>
            <a:r>
              <a:rPr spc="240" dirty="0"/>
              <a:t> </a:t>
            </a:r>
            <a:r>
              <a:rPr dirty="0">
                <a:latin typeface="Century Gothic"/>
                <a:cs typeface="Century Gothic"/>
              </a:rPr>
              <a:t>(</a:t>
            </a:r>
            <a:r>
              <a:rPr spc="-10" dirty="0"/>
              <a:t>贵州大学</a:t>
            </a:r>
            <a:r>
              <a:rPr spc="-50" dirty="0">
                <a:latin typeface="Century Gothic"/>
                <a:cs typeface="Century Gothic"/>
              </a:rPr>
              <a:t>)</a:t>
            </a:r>
          </a:p>
        </p:txBody>
      </p:sp>
      <p:sp>
        <p:nvSpPr>
          <p:cNvPr id="5" name="Holder 5"/>
          <p:cNvSpPr>
            <a:spLocks noGrp="1"/>
          </p:cNvSpPr>
          <p:nvPr>
            <p:ph type="sldNum" sz="quarter" idx="7"/>
          </p:nvPr>
        </p:nvSpPr>
        <p:spPr/>
        <p:txBody>
          <a:bodyPr lIns="0" tIns="0" rIns="0" bIns="0"/>
          <a:lstStyle>
            <a:lvl1pPr>
              <a:defRPr sz="500" b="0" i="0">
                <a:solidFill>
                  <a:schemeClr val="bg1"/>
                </a:solidFill>
                <a:latin typeface="Century Gothic"/>
                <a:cs typeface="Century Gothic"/>
              </a:defRPr>
            </a:lvl1pPr>
          </a:lstStyle>
          <a:p>
            <a:pPr marL="38100">
              <a:lnSpc>
                <a:spcPct val="100000"/>
              </a:lnSpc>
              <a:spcBef>
                <a:spcPts val="175"/>
              </a:spcBef>
            </a:pPr>
            <a:fld id="{81D60167-4931-47E6-BA6A-407CBD079E47}" type="slidenum">
              <a:rPr spc="-20" dirty="0"/>
              <a:t>‹#›</a:t>
            </a:fld>
            <a:r>
              <a:rPr spc="-35" dirty="0"/>
              <a:t> </a:t>
            </a:r>
            <a:r>
              <a:rPr dirty="0"/>
              <a:t>/</a:t>
            </a:r>
            <a:r>
              <a:rPr spc="-30" dirty="0"/>
              <a:t> </a:t>
            </a:r>
            <a:r>
              <a:rPr spc="-50" dirty="0"/>
              <a:t>7</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500" b="0" i="0">
                <a:solidFill>
                  <a:schemeClr val="bg1"/>
                </a:solidFill>
                <a:latin typeface="Century Gothic"/>
                <a:cs typeface="Century Gothic"/>
              </a:defRPr>
            </a:lvl1pPr>
          </a:lstStyle>
          <a:p>
            <a:pPr marL="12700">
              <a:lnSpc>
                <a:spcPct val="100000"/>
              </a:lnSpc>
              <a:spcBef>
                <a:spcPts val="175"/>
              </a:spcBef>
            </a:pPr>
            <a:r>
              <a:rPr dirty="0"/>
              <a:t>2026</a:t>
            </a:r>
            <a:r>
              <a:rPr spc="15" dirty="0"/>
              <a:t> </a:t>
            </a:r>
            <a:r>
              <a:rPr dirty="0">
                <a:latin typeface="微软雅黑"/>
                <a:cs typeface="微软雅黑"/>
              </a:rPr>
              <a:t>年 </a:t>
            </a:r>
            <a:r>
              <a:rPr dirty="0"/>
              <a:t>3</a:t>
            </a:r>
            <a:r>
              <a:rPr spc="15" dirty="0"/>
              <a:t> </a:t>
            </a:r>
            <a:r>
              <a:rPr spc="5" dirty="0">
                <a:latin typeface="微软雅黑"/>
                <a:cs typeface="微软雅黑"/>
              </a:rPr>
              <a:t>月 </a:t>
            </a:r>
            <a:r>
              <a:rPr dirty="0"/>
              <a:t>9</a:t>
            </a:r>
            <a:r>
              <a:rPr spc="15" dirty="0"/>
              <a:t> </a:t>
            </a:r>
            <a:r>
              <a:rPr spc="-50" dirty="0">
                <a:latin typeface="微软雅黑"/>
                <a:cs typeface="微软雅黑"/>
              </a:rPr>
              <a:t>日</a:t>
            </a:r>
          </a:p>
        </p:txBody>
      </p:sp>
      <p:sp>
        <p:nvSpPr>
          <p:cNvPr id="3" name="Holder 3"/>
          <p:cNvSpPr>
            <a:spLocks noGrp="1"/>
          </p:cNvSpPr>
          <p:nvPr>
            <p:ph type="dt" sz="half" idx="6"/>
          </p:nvPr>
        </p:nvSpPr>
        <p:spPr/>
        <p:txBody>
          <a:bodyPr lIns="0" tIns="0" rIns="0" bIns="0"/>
          <a:lstStyle>
            <a:lvl1pPr>
              <a:defRPr sz="500" b="0" i="0">
                <a:solidFill>
                  <a:schemeClr val="bg1"/>
                </a:solidFill>
                <a:latin typeface="微软雅黑"/>
                <a:cs typeface="微软雅黑"/>
              </a:defRPr>
            </a:lvl1pPr>
          </a:lstStyle>
          <a:p>
            <a:pPr marL="12700">
              <a:lnSpc>
                <a:spcPct val="100000"/>
              </a:lnSpc>
              <a:spcBef>
                <a:spcPts val="175"/>
              </a:spcBef>
            </a:pPr>
            <a:r>
              <a:rPr spc="-10" dirty="0"/>
              <a:t>邓</a:t>
            </a:r>
            <a:r>
              <a:rPr dirty="0"/>
              <a:t>垚</a:t>
            </a:r>
            <a:r>
              <a:rPr spc="240" dirty="0"/>
              <a:t> </a:t>
            </a:r>
            <a:r>
              <a:rPr dirty="0">
                <a:latin typeface="Century Gothic"/>
                <a:cs typeface="Century Gothic"/>
              </a:rPr>
              <a:t>(</a:t>
            </a:r>
            <a:r>
              <a:rPr spc="-10" dirty="0"/>
              <a:t>贵州大学</a:t>
            </a:r>
            <a:r>
              <a:rPr spc="-50" dirty="0">
                <a:latin typeface="Century Gothic"/>
                <a:cs typeface="Century Gothic"/>
              </a:rPr>
              <a:t>)</a:t>
            </a:r>
          </a:p>
        </p:txBody>
      </p:sp>
      <p:sp>
        <p:nvSpPr>
          <p:cNvPr id="4" name="Holder 4"/>
          <p:cNvSpPr>
            <a:spLocks noGrp="1"/>
          </p:cNvSpPr>
          <p:nvPr>
            <p:ph type="sldNum" sz="quarter" idx="7"/>
          </p:nvPr>
        </p:nvSpPr>
        <p:spPr/>
        <p:txBody>
          <a:bodyPr lIns="0" tIns="0" rIns="0" bIns="0"/>
          <a:lstStyle>
            <a:lvl1pPr>
              <a:defRPr sz="500" b="0" i="0">
                <a:solidFill>
                  <a:schemeClr val="bg1"/>
                </a:solidFill>
                <a:latin typeface="Century Gothic"/>
                <a:cs typeface="Century Gothic"/>
              </a:defRPr>
            </a:lvl1pPr>
          </a:lstStyle>
          <a:p>
            <a:pPr marL="38100">
              <a:lnSpc>
                <a:spcPct val="100000"/>
              </a:lnSpc>
              <a:spcBef>
                <a:spcPts val="175"/>
              </a:spcBef>
            </a:pPr>
            <a:fld id="{81D60167-4931-47E6-BA6A-407CBD079E47}" type="slidenum">
              <a:rPr spc="-20" dirty="0"/>
              <a:t>‹#›</a:t>
            </a:fld>
            <a:r>
              <a:rPr spc="-35" dirty="0"/>
              <a:t> </a:t>
            </a:r>
            <a:r>
              <a:rPr dirty="0"/>
              <a:t>/</a:t>
            </a:r>
            <a:r>
              <a:rPr spc="-30" dirty="0"/>
              <a:t> </a:t>
            </a:r>
            <a:r>
              <a:rPr spc="-50" dirty="0"/>
              <a:t>7</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25"/>
            <a:ext cx="5760085" cy="350520"/>
          </a:xfrm>
          <a:custGeom>
            <a:avLst/>
            <a:gdLst/>
            <a:ahLst/>
            <a:cxnLst/>
            <a:rect l="l" t="t" r="r" b="b"/>
            <a:pathLst>
              <a:path w="5760085" h="350520">
                <a:moveTo>
                  <a:pt x="5759996" y="0"/>
                </a:moveTo>
                <a:lnTo>
                  <a:pt x="0" y="0"/>
                </a:lnTo>
                <a:lnTo>
                  <a:pt x="0" y="350278"/>
                </a:lnTo>
                <a:lnTo>
                  <a:pt x="5759996" y="350278"/>
                </a:lnTo>
                <a:lnTo>
                  <a:pt x="5759996" y="0"/>
                </a:lnTo>
                <a:close/>
              </a:path>
            </a:pathLst>
          </a:custGeom>
          <a:solidFill>
            <a:srgbClr val="004A8F"/>
          </a:solidFill>
        </p:spPr>
        <p:txBody>
          <a:bodyPr wrap="square" lIns="0" tIns="0" rIns="0" bIns="0" rtlCol="0"/>
          <a:lstStyle/>
          <a:p>
            <a:endParaRPr/>
          </a:p>
        </p:txBody>
      </p:sp>
      <p:sp>
        <p:nvSpPr>
          <p:cNvPr id="2" name="Holder 2"/>
          <p:cNvSpPr>
            <a:spLocks noGrp="1"/>
          </p:cNvSpPr>
          <p:nvPr>
            <p:ph type="title"/>
          </p:nvPr>
        </p:nvSpPr>
        <p:spPr>
          <a:xfrm>
            <a:off x="95300" y="59979"/>
            <a:ext cx="754380" cy="244475"/>
          </a:xfrm>
          <a:prstGeom prst="rect">
            <a:avLst/>
          </a:prstGeom>
        </p:spPr>
        <p:txBody>
          <a:bodyPr wrap="square" lIns="0" tIns="0" rIns="0" bIns="0">
            <a:spAutoFit/>
          </a:bodyPr>
          <a:lstStyle>
            <a:lvl1pPr>
              <a:defRPr sz="1400" b="0" i="0">
                <a:solidFill>
                  <a:schemeClr val="bg1"/>
                </a:solidFill>
                <a:latin typeface="微软雅黑"/>
                <a:cs typeface="微软雅黑"/>
              </a:defRPr>
            </a:lvl1pPr>
          </a:lstStyle>
          <a:p>
            <a:endParaRPr/>
          </a:p>
        </p:txBody>
      </p:sp>
      <p:sp>
        <p:nvSpPr>
          <p:cNvPr id="3" name="Holder 3"/>
          <p:cNvSpPr>
            <a:spLocks noGrp="1"/>
          </p:cNvSpPr>
          <p:nvPr>
            <p:ph type="body" idx="1"/>
          </p:nvPr>
        </p:nvSpPr>
        <p:spPr>
          <a:xfrm>
            <a:off x="1189177" y="1251729"/>
            <a:ext cx="4156075" cy="1088389"/>
          </a:xfrm>
          <a:prstGeom prst="rect">
            <a:avLst/>
          </a:prstGeom>
        </p:spPr>
        <p:txBody>
          <a:bodyPr wrap="square" lIns="0" tIns="0" rIns="0" bIns="0">
            <a:spAutoFit/>
          </a:bodyPr>
          <a:lstStyle>
            <a:lvl1pPr>
              <a:defRPr sz="1000" b="0" i="0">
                <a:solidFill>
                  <a:schemeClr val="tx1"/>
                </a:solidFill>
                <a:latin typeface="微软雅黑"/>
                <a:cs typeface="微软雅黑"/>
              </a:defRPr>
            </a:lvl1pPr>
          </a:lstStyle>
          <a:p>
            <a:endParaRPr/>
          </a:p>
        </p:txBody>
      </p:sp>
      <p:sp>
        <p:nvSpPr>
          <p:cNvPr id="4" name="Holder 4"/>
          <p:cNvSpPr>
            <a:spLocks noGrp="1"/>
          </p:cNvSpPr>
          <p:nvPr>
            <p:ph type="ftr" sz="quarter" idx="5"/>
          </p:nvPr>
        </p:nvSpPr>
        <p:spPr>
          <a:xfrm>
            <a:off x="4474629" y="3126226"/>
            <a:ext cx="528954" cy="118744"/>
          </a:xfrm>
          <a:prstGeom prst="rect">
            <a:avLst/>
          </a:prstGeom>
        </p:spPr>
        <p:txBody>
          <a:bodyPr wrap="square" lIns="0" tIns="0" rIns="0" bIns="0">
            <a:spAutoFit/>
          </a:bodyPr>
          <a:lstStyle>
            <a:lvl1pPr>
              <a:defRPr sz="500" b="0" i="0">
                <a:solidFill>
                  <a:schemeClr val="bg1"/>
                </a:solidFill>
                <a:latin typeface="Century Gothic"/>
                <a:cs typeface="Century Gothic"/>
              </a:defRPr>
            </a:lvl1pPr>
          </a:lstStyle>
          <a:p>
            <a:pPr marL="12700">
              <a:lnSpc>
                <a:spcPct val="100000"/>
              </a:lnSpc>
              <a:spcBef>
                <a:spcPts val="175"/>
              </a:spcBef>
            </a:pPr>
            <a:r>
              <a:rPr dirty="0"/>
              <a:t>2026</a:t>
            </a:r>
            <a:r>
              <a:rPr spc="15" dirty="0"/>
              <a:t> </a:t>
            </a:r>
            <a:r>
              <a:rPr dirty="0">
                <a:latin typeface="微软雅黑"/>
                <a:cs typeface="微软雅黑"/>
              </a:rPr>
              <a:t>年 </a:t>
            </a:r>
            <a:r>
              <a:rPr dirty="0"/>
              <a:t>3</a:t>
            </a:r>
            <a:r>
              <a:rPr spc="15" dirty="0"/>
              <a:t> </a:t>
            </a:r>
            <a:r>
              <a:rPr spc="5" dirty="0">
                <a:latin typeface="微软雅黑"/>
                <a:cs typeface="微软雅黑"/>
              </a:rPr>
              <a:t>月 </a:t>
            </a:r>
            <a:r>
              <a:rPr dirty="0"/>
              <a:t>9</a:t>
            </a:r>
            <a:r>
              <a:rPr spc="15" dirty="0"/>
              <a:t> </a:t>
            </a:r>
            <a:r>
              <a:rPr spc="-50" dirty="0">
                <a:latin typeface="微软雅黑"/>
                <a:cs typeface="微软雅黑"/>
              </a:rPr>
              <a:t>日</a:t>
            </a:r>
          </a:p>
        </p:txBody>
      </p:sp>
      <p:sp>
        <p:nvSpPr>
          <p:cNvPr id="5" name="Holder 5"/>
          <p:cNvSpPr>
            <a:spLocks noGrp="1"/>
          </p:cNvSpPr>
          <p:nvPr>
            <p:ph type="dt" sz="half" idx="6"/>
          </p:nvPr>
        </p:nvSpPr>
        <p:spPr>
          <a:xfrm>
            <a:off x="708977" y="3126226"/>
            <a:ext cx="502284" cy="118744"/>
          </a:xfrm>
          <a:prstGeom prst="rect">
            <a:avLst/>
          </a:prstGeom>
        </p:spPr>
        <p:txBody>
          <a:bodyPr wrap="square" lIns="0" tIns="0" rIns="0" bIns="0">
            <a:spAutoFit/>
          </a:bodyPr>
          <a:lstStyle>
            <a:lvl1pPr>
              <a:defRPr sz="500" b="0" i="0">
                <a:solidFill>
                  <a:schemeClr val="bg1"/>
                </a:solidFill>
                <a:latin typeface="微软雅黑"/>
                <a:cs typeface="微软雅黑"/>
              </a:defRPr>
            </a:lvl1pPr>
          </a:lstStyle>
          <a:p>
            <a:pPr marL="12700">
              <a:lnSpc>
                <a:spcPct val="100000"/>
              </a:lnSpc>
              <a:spcBef>
                <a:spcPts val="175"/>
              </a:spcBef>
            </a:pPr>
            <a:r>
              <a:rPr spc="-10" dirty="0"/>
              <a:t>邓</a:t>
            </a:r>
            <a:r>
              <a:rPr dirty="0"/>
              <a:t>垚</a:t>
            </a:r>
            <a:r>
              <a:rPr spc="240" dirty="0"/>
              <a:t> </a:t>
            </a:r>
            <a:r>
              <a:rPr dirty="0">
                <a:latin typeface="Century Gothic"/>
                <a:cs typeface="Century Gothic"/>
              </a:rPr>
              <a:t>(</a:t>
            </a:r>
            <a:r>
              <a:rPr spc="-10" dirty="0"/>
              <a:t>贵州大学</a:t>
            </a:r>
            <a:r>
              <a:rPr spc="-50" dirty="0">
                <a:latin typeface="Century Gothic"/>
                <a:cs typeface="Century Gothic"/>
              </a:rPr>
              <a:t>)</a:t>
            </a:r>
          </a:p>
        </p:txBody>
      </p:sp>
      <p:sp>
        <p:nvSpPr>
          <p:cNvPr id="6" name="Holder 6"/>
          <p:cNvSpPr>
            <a:spLocks noGrp="1"/>
          </p:cNvSpPr>
          <p:nvPr>
            <p:ph type="sldNum" sz="quarter" idx="7"/>
          </p:nvPr>
        </p:nvSpPr>
        <p:spPr>
          <a:xfrm>
            <a:off x="5510174" y="3126226"/>
            <a:ext cx="206375" cy="118744"/>
          </a:xfrm>
          <a:prstGeom prst="rect">
            <a:avLst/>
          </a:prstGeom>
        </p:spPr>
        <p:txBody>
          <a:bodyPr wrap="square" lIns="0" tIns="0" rIns="0" bIns="0">
            <a:spAutoFit/>
          </a:bodyPr>
          <a:lstStyle>
            <a:lvl1pPr>
              <a:defRPr sz="500" b="0" i="0">
                <a:solidFill>
                  <a:schemeClr val="bg1"/>
                </a:solidFill>
                <a:latin typeface="Century Gothic"/>
                <a:cs typeface="Century Gothic"/>
              </a:defRPr>
            </a:lvl1pPr>
          </a:lstStyle>
          <a:p>
            <a:pPr marL="38100">
              <a:lnSpc>
                <a:spcPct val="100000"/>
              </a:lnSpc>
              <a:spcBef>
                <a:spcPts val="175"/>
              </a:spcBef>
            </a:pPr>
            <a:fld id="{81D60167-4931-47E6-BA6A-407CBD079E47}" type="slidenum">
              <a:rPr spc="-20" dirty="0"/>
              <a:t>‹#›</a:t>
            </a:fld>
            <a:r>
              <a:rPr spc="-35" dirty="0"/>
              <a:t> </a:t>
            </a:r>
            <a:r>
              <a:rPr dirty="0"/>
              <a:t>/</a:t>
            </a:r>
            <a:r>
              <a:rPr spc="-30" dirty="0"/>
              <a:t> </a:t>
            </a:r>
            <a:r>
              <a:rPr spc="-50" dirty="0"/>
              <a:t>7</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2.svg"/><Relationship Id="rId7" Type="http://schemas.openxmlformats.org/officeDocument/2006/relationships/slide" Target="slide6.xml"/><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slide" Target="slide5.xml"/><Relationship Id="rId5" Type="http://schemas.openxmlformats.org/officeDocument/2006/relationships/slide" Target="slide4.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slide" Target="slide7.xml"/></Relationships>
</file>

<file path=ppt/slides/_rels/slide5.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5729" y="544677"/>
            <a:ext cx="5659755" cy="739140"/>
            <a:chOff x="75729" y="544677"/>
            <a:chExt cx="5659755" cy="739140"/>
          </a:xfrm>
        </p:grpSpPr>
        <p:sp>
          <p:nvSpPr>
            <p:cNvPr id="3" name="object 3"/>
            <p:cNvSpPr/>
            <p:nvPr/>
          </p:nvSpPr>
          <p:spPr>
            <a:xfrm>
              <a:off x="75729" y="544677"/>
              <a:ext cx="5608955" cy="82550"/>
            </a:xfrm>
            <a:custGeom>
              <a:avLst/>
              <a:gdLst/>
              <a:ahLst/>
              <a:cxnLst/>
              <a:rect l="l" t="t" r="r" b="b"/>
              <a:pathLst>
                <a:path w="5608955" h="82550">
                  <a:moveTo>
                    <a:pt x="5557820" y="0"/>
                  </a:moveTo>
                  <a:lnTo>
                    <a:pt x="50800" y="0"/>
                  </a:lnTo>
                  <a:lnTo>
                    <a:pt x="31075" y="4008"/>
                  </a:lnTo>
                  <a:lnTo>
                    <a:pt x="14922" y="14922"/>
                  </a:lnTo>
                  <a:lnTo>
                    <a:pt x="4008" y="31075"/>
                  </a:lnTo>
                  <a:lnTo>
                    <a:pt x="0" y="50800"/>
                  </a:lnTo>
                  <a:lnTo>
                    <a:pt x="0" y="82384"/>
                  </a:lnTo>
                  <a:lnTo>
                    <a:pt x="5608620" y="82384"/>
                  </a:lnTo>
                  <a:lnTo>
                    <a:pt x="5608620" y="50800"/>
                  </a:lnTo>
                  <a:lnTo>
                    <a:pt x="5604612" y="31075"/>
                  </a:lnTo>
                  <a:lnTo>
                    <a:pt x="5593698" y="14922"/>
                  </a:lnTo>
                  <a:lnTo>
                    <a:pt x="5577545" y="4008"/>
                  </a:lnTo>
                  <a:lnTo>
                    <a:pt x="5557820" y="0"/>
                  </a:lnTo>
                  <a:close/>
                </a:path>
              </a:pathLst>
            </a:custGeom>
            <a:solidFill>
              <a:srgbClr val="004A8F"/>
            </a:solidFill>
          </p:spPr>
          <p:txBody>
            <a:bodyPr wrap="square" lIns="0" tIns="0" rIns="0" bIns="0" rtlCol="0"/>
            <a:lstStyle/>
            <a:p>
              <a:endParaRPr/>
            </a:p>
          </p:txBody>
        </p:sp>
        <p:sp>
          <p:nvSpPr>
            <p:cNvPr id="4" name="object 4"/>
            <p:cNvSpPr/>
            <p:nvPr/>
          </p:nvSpPr>
          <p:spPr>
            <a:xfrm>
              <a:off x="126530" y="607925"/>
              <a:ext cx="5608955" cy="676275"/>
            </a:xfrm>
            <a:custGeom>
              <a:avLst/>
              <a:gdLst/>
              <a:ahLst/>
              <a:cxnLst/>
              <a:rect l="l" t="t" r="r" b="b"/>
              <a:pathLst>
                <a:path w="5608955" h="676275">
                  <a:moveTo>
                    <a:pt x="5608620" y="0"/>
                  </a:moveTo>
                  <a:lnTo>
                    <a:pt x="0" y="0"/>
                  </a:lnTo>
                  <a:lnTo>
                    <a:pt x="0" y="675842"/>
                  </a:lnTo>
                  <a:lnTo>
                    <a:pt x="5608620" y="675842"/>
                  </a:lnTo>
                  <a:lnTo>
                    <a:pt x="5608620" y="0"/>
                  </a:lnTo>
                  <a:close/>
                </a:path>
              </a:pathLst>
            </a:custGeom>
            <a:solidFill>
              <a:srgbClr val="000000"/>
            </a:solidFill>
          </p:spPr>
          <p:txBody>
            <a:bodyPr wrap="square" lIns="0" tIns="0" rIns="0" bIns="0" rtlCol="0"/>
            <a:lstStyle/>
            <a:p>
              <a:endParaRPr/>
            </a:p>
          </p:txBody>
        </p:sp>
        <p:sp>
          <p:nvSpPr>
            <p:cNvPr id="5" name="object 5"/>
            <p:cNvSpPr/>
            <p:nvPr/>
          </p:nvSpPr>
          <p:spPr>
            <a:xfrm>
              <a:off x="75729" y="589088"/>
              <a:ext cx="5608955" cy="643890"/>
            </a:xfrm>
            <a:custGeom>
              <a:avLst/>
              <a:gdLst/>
              <a:ahLst/>
              <a:cxnLst/>
              <a:rect l="l" t="t" r="r" b="b"/>
              <a:pathLst>
                <a:path w="5608955" h="643890">
                  <a:moveTo>
                    <a:pt x="5608620" y="0"/>
                  </a:moveTo>
                  <a:lnTo>
                    <a:pt x="0" y="0"/>
                  </a:lnTo>
                  <a:lnTo>
                    <a:pt x="0" y="593077"/>
                  </a:lnTo>
                  <a:lnTo>
                    <a:pt x="4008" y="612802"/>
                  </a:lnTo>
                  <a:lnTo>
                    <a:pt x="14922" y="628955"/>
                  </a:lnTo>
                  <a:lnTo>
                    <a:pt x="31075" y="639869"/>
                  </a:lnTo>
                  <a:lnTo>
                    <a:pt x="50800" y="643878"/>
                  </a:lnTo>
                  <a:lnTo>
                    <a:pt x="5557820" y="643878"/>
                  </a:lnTo>
                  <a:lnTo>
                    <a:pt x="5577545" y="639869"/>
                  </a:lnTo>
                  <a:lnTo>
                    <a:pt x="5593698" y="628955"/>
                  </a:lnTo>
                  <a:lnTo>
                    <a:pt x="5604612" y="612802"/>
                  </a:lnTo>
                  <a:lnTo>
                    <a:pt x="5608620" y="593077"/>
                  </a:lnTo>
                  <a:lnTo>
                    <a:pt x="5608620" y="0"/>
                  </a:lnTo>
                  <a:close/>
                </a:path>
              </a:pathLst>
            </a:custGeom>
            <a:solidFill>
              <a:srgbClr val="004B8E"/>
            </a:solidFill>
          </p:spPr>
          <p:txBody>
            <a:bodyPr wrap="square" lIns="0" tIns="0" rIns="0" bIns="0" rtlCol="0"/>
            <a:lstStyle/>
            <a:p>
              <a:endParaRPr/>
            </a:p>
          </p:txBody>
        </p:sp>
      </p:grpSp>
      <p:sp>
        <p:nvSpPr>
          <p:cNvPr id="6" name="object 6"/>
          <p:cNvSpPr txBox="1"/>
          <p:nvPr/>
        </p:nvSpPr>
        <p:spPr>
          <a:xfrm>
            <a:off x="126530" y="607925"/>
            <a:ext cx="5608955" cy="676275"/>
          </a:xfrm>
          <a:prstGeom prst="rect">
            <a:avLst/>
          </a:prstGeom>
        </p:spPr>
        <p:txBody>
          <a:bodyPr vert="horz" wrap="square" lIns="0" tIns="82550" rIns="0" bIns="0" rtlCol="0">
            <a:spAutoFit/>
          </a:bodyPr>
          <a:lstStyle/>
          <a:p>
            <a:pPr marR="93980" algn="ctr">
              <a:lnSpc>
                <a:spcPct val="100000"/>
              </a:lnSpc>
              <a:spcBef>
                <a:spcPts val="650"/>
              </a:spcBef>
            </a:pPr>
            <a:r>
              <a:rPr sz="1400" dirty="0">
                <a:solidFill>
                  <a:srgbClr val="FFFFFF"/>
                </a:solidFill>
                <a:latin typeface="微软雅黑"/>
                <a:cs typeface="微软雅黑"/>
              </a:rPr>
              <a:t>奇异两点边值问题解的存在性和唯一</a:t>
            </a:r>
            <a:r>
              <a:rPr sz="1400" spc="-50" dirty="0">
                <a:solidFill>
                  <a:srgbClr val="FFFFFF"/>
                </a:solidFill>
                <a:latin typeface="微软雅黑"/>
                <a:cs typeface="微软雅黑"/>
              </a:rPr>
              <a:t>性</a:t>
            </a:r>
            <a:endParaRPr sz="1400">
              <a:latin typeface="微软雅黑"/>
              <a:cs typeface="微软雅黑"/>
            </a:endParaRPr>
          </a:p>
          <a:p>
            <a:pPr marR="93980" algn="ctr">
              <a:lnSpc>
                <a:spcPct val="100000"/>
              </a:lnSpc>
              <a:spcBef>
                <a:spcPts val="270"/>
              </a:spcBef>
            </a:pPr>
            <a:r>
              <a:rPr sz="1000" spc="-10" dirty="0">
                <a:solidFill>
                  <a:srgbClr val="FFFFFF"/>
                </a:solidFill>
                <a:latin typeface="微软雅黑"/>
                <a:cs typeface="微软雅黑"/>
              </a:rPr>
              <a:t>贵州大学本科生毕业论文（设计）开题报</a:t>
            </a:r>
            <a:r>
              <a:rPr sz="1000" spc="-50" dirty="0">
                <a:solidFill>
                  <a:srgbClr val="FFFFFF"/>
                </a:solidFill>
                <a:latin typeface="微软雅黑"/>
                <a:cs typeface="微软雅黑"/>
              </a:rPr>
              <a:t>告</a:t>
            </a:r>
            <a:endParaRPr sz="1000">
              <a:latin typeface="微软雅黑"/>
              <a:cs typeface="微软雅黑"/>
            </a:endParaRPr>
          </a:p>
        </p:txBody>
      </p:sp>
      <p:sp>
        <p:nvSpPr>
          <p:cNvPr id="7" name="object 7"/>
          <p:cNvSpPr txBox="1"/>
          <p:nvPr/>
        </p:nvSpPr>
        <p:spPr>
          <a:xfrm>
            <a:off x="2001989" y="1380306"/>
            <a:ext cx="1756410" cy="1114425"/>
          </a:xfrm>
          <a:prstGeom prst="rect">
            <a:avLst/>
          </a:prstGeom>
        </p:spPr>
        <p:txBody>
          <a:bodyPr vert="horz" wrap="square" lIns="0" tIns="83820" rIns="0" bIns="0" rtlCol="0">
            <a:spAutoFit/>
          </a:bodyPr>
          <a:lstStyle/>
          <a:p>
            <a:pPr algn="ctr">
              <a:lnSpc>
                <a:spcPct val="100000"/>
              </a:lnSpc>
              <a:spcBef>
                <a:spcPts val="660"/>
              </a:spcBef>
            </a:pPr>
            <a:r>
              <a:rPr sz="1000" spc="-10" dirty="0">
                <a:latin typeface="微软雅黑"/>
                <a:cs typeface="微软雅黑"/>
              </a:rPr>
              <a:t>报告人：邓</a:t>
            </a:r>
            <a:r>
              <a:rPr sz="1000" spc="-50" dirty="0">
                <a:latin typeface="微软雅黑"/>
                <a:cs typeface="微软雅黑"/>
              </a:rPr>
              <a:t>垚</a:t>
            </a:r>
            <a:endParaRPr sz="1000">
              <a:latin typeface="微软雅黑"/>
              <a:cs typeface="微软雅黑"/>
            </a:endParaRPr>
          </a:p>
          <a:p>
            <a:pPr algn="ctr">
              <a:lnSpc>
                <a:spcPct val="100000"/>
              </a:lnSpc>
              <a:spcBef>
                <a:spcPts val="565"/>
              </a:spcBef>
              <a:tabLst>
                <a:tab pos="1180465" algn="l"/>
              </a:tabLst>
            </a:pPr>
            <a:r>
              <a:rPr sz="1000" spc="-10" dirty="0">
                <a:latin typeface="微软雅黑"/>
                <a:cs typeface="微软雅黑"/>
              </a:rPr>
              <a:t>指导教师：彭云</a:t>
            </a:r>
            <a:r>
              <a:rPr sz="1000" spc="-50" dirty="0">
                <a:latin typeface="微软雅黑"/>
                <a:cs typeface="微软雅黑"/>
              </a:rPr>
              <a:t>飞</a:t>
            </a:r>
            <a:r>
              <a:rPr sz="1000" dirty="0">
                <a:latin typeface="微软雅黑"/>
                <a:cs typeface="微软雅黑"/>
              </a:rPr>
              <a:t>	</a:t>
            </a:r>
            <a:r>
              <a:rPr sz="1000" spc="-10" dirty="0">
                <a:latin typeface="微软雅黑"/>
                <a:cs typeface="微软雅黑"/>
              </a:rPr>
              <a:t>教</a:t>
            </a:r>
            <a:r>
              <a:rPr sz="1000" spc="-50" dirty="0">
                <a:latin typeface="微软雅黑"/>
                <a:cs typeface="微软雅黑"/>
              </a:rPr>
              <a:t>授</a:t>
            </a:r>
            <a:endParaRPr sz="1000">
              <a:latin typeface="微软雅黑"/>
              <a:cs typeface="微软雅黑"/>
            </a:endParaRPr>
          </a:p>
          <a:p>
            <a:pPr>
              <a:lnSpc>
                <a:spcPct val="100000"/>
              </a:lnSpc>
              <a:spcBef>
                <a:spcPts val="40"/>
              </a:spcBef>
            </a:pPr>
            <a:endParaRPr sz="800">
              <a:latin typeface="微软雅黑"/>
              <a:cs typeface="微软雅黑"/>
            </a:endParaRPr>
          </a:p>
          <a:p>
            <a:pPr algn="ctr">
              <a:lnSpc>
                <a:spcPct val="100000"/>
              </a:lnSpc>
              <a:spcBef>
                <a:spcPts val="5"/>
              </a:spcBef>
            </a:pPr>
            <a:r>
              <a:rPr sz="700" spc="-10" dirty="0">
                <a:latin typeface="微软雅黑"/>
                <a:cs typeface="微软雅黑"/>
              </a:rPr>
              <a:t>贵州大</a:t>
            </a:r>
            <a:r>
              <a:rPr sz="700" dirty="0">
                <a:latin typeface="微软雅黑"/>
                <a:cs typeface="微软雅黑"/>
              </a:rPr>
              <a:t>学</a:t>
            </a:r>
            <a:r>
              <a:rPr sz="700" spc="700" dirty="0">
                <a:latin typeface="微软雅黑"/>
                <a:cs typeface="微软雅黑"/>
              </a:rPr>
              <a:t> </a:t>
            </a:r>
            <a:r>
              <a:rPr sz="700" spc="-10" dirty="0">
                <a:latin typeface="微软雅黑"/>
                <a:cs typeface="微软雅黑"/>
              </a:rPr>
              <a:t>数学与统计学</a:t>
            </a:r>
            <a:r>
              <a:rPr sz="700" dirty="0">
                <a:latin typeface="微软雅黑"/>
                <a:cs typeface="微软雅黑"/>
              </a:rPr>
              <a:t>院</a:t>
            </a:r>
            <a:r>
              <a:rPr sz="700" spc="705" dirty="0">
                <a:latin typeface="微软雅黑"/>
                <a:cs typeface="微软雅黑"/>
              </a:rPr>
              <a:t> </a:t>
            </a:r>
            <a:r>
              <a:rPr sz="700" spc="-10" dirty="0">
                <a:latin typeface="微软雅黑"/>
                <a:cs typeface="微软雅黑"/>
              </a:rPr>
              <a:t>应</a:t>
            </a:r>
            <a:r>
              <a:rPr sz="700" dirty="0">
                <a:latin typeface="微软雅黑"/>
                <a:cs typeface="微软雅黑"/>
              </a:rPr>
              <a:t>数</a:t>
            </a:r>
            <a:r>
              <a:rPr sz="700" spc="25" dirty="0">
                <a:latin typeface="微软雅黑"/>
                <a:cs typeface="微软雅黑"/>
              </a:rPr>
              <a:t> </a:t>
            </a:r>
            <a:r>
              <a:rPr sz="700" dirty="0">
                <a:latin typeface="Century Gothic"/>
                <a:cs typeface="Century Gothic"/>
              </a:rPr>
              <a:t>2201</a:t>
            </a:r>
            <a:r>
              <a:rPr sz="700" spc="45" dirty="0">
                <a:latin typeface="Century Gothic"/>
                <a:cs typeface="Century Gothic"/>
              </a:rPr>
              <a:t> </a:t>
            </a:r>
            <a:r>
              <a:rPr sz="700" spc="-50" dirty="0">
                <a:latin typeface="微软雅黑"/>
                <a:cs typeface="微软雅黑"/>
              </a:rPr>
              <a:t>班</a:t>
            </a:r>
            <a:endParaRPr sz="700">
              <a:latin typeface="微软雅黑"/>
              <a:cs typeface="微软雅黑"/>
            </a:endParaRPr>
          </a:p>
          <a:p>
            <a:pPr>
              <a:lnSpc>
                <a:spcPct val="100000"/>
              </a:lnSpc>
              <a:spcBef>
                <a:spcPts val="15"/>
              </a:spcBef>
            </a:pPr>
            <a:endParaRPr sz="800">
              <a:latin typeface="微软雅黑"/>
              <a:cs typeface="微软雅黑"/>
            </a:endParaRPr>
          </a:p>
          <a:p>
            <a:pPr algn="ctr">
              <a:lnSpc>
                <a:spcPct val="100000"/>
              </a:lnSpc>
            </a:pPr>
            <a:r>
              <a:rPr sz="1000" spc="-35" dirty="0">
                <a:latin typeface="Tahoma"/>
                <a:cs typeface="Tahoma"/>
              </a:rPr>
              <a:t>2026</a:t>
            </a:r>
            <a:r>
              <a:rPr sz="1000" spc="-20" dirty="0">
                <a:latin typeface="Tahoma"/>
                <a:cs typeface="Tahoma"/>
              </a:rPr>
              <a:t> </a:t>
            </a:r>
            <a:r>
              <a:rPr sz="1000" dirty="0">
                <a:latin typeface="微软雅黑"/>
                <a:cs typeface="微软雅黑"/>
              </a:rPr>
              <a:t>年 </a:t>
            </a:r>
            <a:r>
              <a:rPr sz="1000" dirty="0">
                <a:latin typeface="Tahoma"/>
                <a:cs typeface="Tahoma"/>
              </a:rPr>
              <a:t>3</a:t>
            </a:r>
            <a:r>
              <a:rPr sz="1000" spc="-20" dirty="0">
                <a:latin typeface="Tahoma"/>
                <a:cs typeface="Tahoma"/>
              </a:rPr>
              <a:t> </a:t>
            </a:r>
            <a:r>
              <a:rPr sz="1000" dirty="0">
                <a:latin typeface="微软雅黑"/>
                <a:cs typeface="微软雅黑"/>
              </a:rPr>
              <a:t>月 </a:t>
            </a:r>
            <a:r>
              <a:rPr sz="1000" dirty="0">
                <a:latin typeface="Tahoma"/>
                <a:cs typeface="Tahoma"/>
              </a:rPr>
              <a:t>9</a:t>
            </a:r>
            <a:r>
              <a:rPr sz="1000" spc="-20" dirty="0">
                <a:latin typeface="Tahoma"/>
                <a:cs typeface="Tahoma"/>
              </a:rPr>
              <a:t> </a:t>
            </a:r>
            <a:r>
              <a:rPr sz="1000" spc="-50" dirty="0">
                <a:latin typeface="微软雅黑"/>
                <a:cs typeface="微软雅黑"/>
              </a:rPr>
              <a:t>日</a:t>
            </a:r>
            <a:endParaRPr sz="1000">
              <a:latin typeface="微软雅黑"/>
              <a:cs typeface="微软雅黑"/>
            </a:endParaRPr>
          </a:p>
        </p:txBody>
      </p:sp>
      <p:grpSp>
        <p:nvGrpSpPr>
          <p:cNvPr id="8" name="object 8"/>
          <p:cNvGrpSpPr/>
          <p:nvPr/>
        </p:nvGrpSpPr>
        <p:grpSpPr>
          <a:xfrm>
            <a:off x="0" y="3148736"/>
            <a:ext cx="5760085" cy="91440"/>
            <a:chOff x="0" y="3148736"/>
            <a:chExt cx="5760085" cy="91440"/>
          </a:xfrm>
        </p:grpSpPr>
        <p:sp>
          <p:nvSpPr>
            <p:cNvPr id="9" name="object 9"/>
            <p:cNvSpPr/>
            <p:nvPr/>
          </p:nvSpPr>
          <p:spPr>
            <a:xfrm>
              <a:off x="0"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2547"/>
            </a:solidFill>
          </p:spPr>
          <p:txBody>
            <a:bodyPr wrap="square" lIns="0" tIns="0" rIns="0" bIns="0" rtlCol="0"/>
            <a:lstStyle/>
            <a:p>
              <a:endParaRPr/>
            </a:p>
          </p:txBody>
        </p:sp>
        <p:sp>
          <p:nvSpPr>
            <p:cNvPr id="10" name="object 10"/>
            <p:cNvSpPr/>
            <p:nvPr/>
          </p:nvSpPr>
          <p:spPr>
            <a:xfrm>
              <a:off x="1919973"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386B"/>
            </a:solidFill>
          </p:spPr>
          <p:txBody>
            <a:bodyPr wrap="square" lIns="0" tIns="0" rIns="0" bIns="0" rtlCol="0"/>
            <a:lstStyle/>
            <a:p>
              <a:endParaRPr/>
            </a:p>
          </p:txBody>
        </p:sp>
        <p:sp>
          <p:nvSpPr>
            <p:cNvPr id="11" name="object 11"/>
            <p:cNvSpPr/>
            <p:nvPr/>
          </p:nvSpPr>
          <p:spPr>
            <a:xfrm>
              <a:off x="3839946"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4A8F"/>
            </a:solidFill>
          </p:spPr>
          <p:txBody>
            <a:bodyPr wrap="square" lIns="0" tIns="0" rIns="0" bIns="0" rtlCol="0"/>
            <a:lstStyle/>
            <a:p>
              <a:endParaRPr/>
            </a:p>
          </p:txBody>
        </p:sp>
      </p:grpSp>
      <p:sp>
        <p:nvSpPr>
          <p:cNvPr id="12" name="object 12"/>
          <p:cNvSpPr txBox="1">
            <a:spLocks noGrp="1"/>
          </p:cNvSpPr>
          <p:nvPr>
            <p:ph type="dt" sz="half" idx="6"/>
          </p:nvPr>
        </p:nvSpPr>
        <p:spPr>
          <a:prstGeom prst="rect">
            <a:avLst/>
          </a:prstGeom>
        </p:spPr>
        <p:txBody>
          <a:bodyPr vert="horz" wrap="square" lIns="0" tIns="22225" rIns="0" bIns="0" rtlCol="0">
            <a:spAutoFit/>
          </a:bodyPr>
          <a:lstStyle/>
          <a:p>
            <a:pPr marL="12700">
              <a:lnSpc>
                <a:spcPct val="100000"/>
              </a:lnSpc>
              <a:spcBef>
                <a:spcPts val="175"/>
              </a:spcBef>
            </a:pPr>
            <a:r>
              <a:rPr spc="-10" dirty="0"/>
              <a:t>邓</a:t>
            </a:r>
            <a:r>
              <a:rPr dirty="0"/>
              <a:t>垚</a:t>
            </a:r>
            <a:r>
              <a:rPr spc="240" dirty="0"/>
              <a:t> </a:t>
            </a:r>
            <a:r>
              <a:rPr dirty="0">
                <a:latin typeface="Century Gothic"/>
                <a:cs typeface="Century Gothic"/>
              </a:rPr>
              <a:t>(</a:t>
            </a:r>
            <a:r>
              <a:rPr spc="-10" dirty="0"/>
              <a:t>贵州大学</a:t>
            </a:r>
            <a:r>
              <a:rPr spc="-50" dirty="0">
                <a:latin typeface="Century Gothic"/>
                <a:cs typeface="Century Gothic"/>
              </a:rPr>
              <a:t>)</a:t>
            </a:r>
          </a:p>
        </p:txBody>
      </p:sp>
      <p:sp>
        <p:nvSpPr>
          <p:cNvPr id="13" name="object 13"/>
          <p:cNvSpPr txBox="1">
            <a:spLocks noGrp="1"/>
          </p:cNvSpPr>
          <p:nvPr>
            <p:ph type="ftr" sz="quarter" idx="5"/>
          </p:nvPr>
        </p:nvSpPr>
        <p:spPr>
          <a:prstGeom prst="rect">
            <a:avLst/>
          </a:prstGeom>
        </p:spPr>
        <p:txBody>
          <a:bodyPr vert="horz" wrap="square" lIns="0" tIns="22225" rIns="0" bIns="0" rtlCol="0">
            <a:spAutoFit/>
          </a:bodyPr>
          <a:lstStyle/>
          <a:p>
            <a:pPr marL="12700">
              <a:lnSpc>
                <a:spcPct val="100000"/>
              </a:lnSpc>
              <a:spcBef>
                <a:spcPts val="175"/>
              </a:spcBef>
            </a:pPr>
            <a:r>
              <a:rPr dirty="0"/>
              <a:t>2026</a:t>
            </a:r>
            <a:r>
              <a:rPr spc="15" dirty="0"/>
              <a:t> </a:t>
            </a:r>
            <a:r>
              <a:rPr dirty="0">
                <a:latin typeface="微软雅黑"/>
                <a:cs typeface="微软雅黑"/>
              </a:rPr>
              <a:t>年 </a:t>
            </a:r>
            <a:r>
              <a:rPr dirty="0"/>
              <a:t>3</a:t>
            </a:r>
            <a:r>
              <a:rPr spc="15" dirty="0"/>
              <a:t> </a:t>
            </a:r>
            <a:r>
              <a:rPr spc="5" dirty="0">
                <a:latin typeface="微软雅黑"/>
                <a:cs typeface="微软雅黑"/>
              </a:rPr>
              <a:t>月 </a:t>
            </a:r>
            <a:r>
              <a:rPr dirty="0"/>
              <a:t>9</a:t>
            </a:r>
            <a:r>
              <a:rPr spc="15" dirty="0"/>
              <a:t> </a:t>
            </a:r>
            <a:r>
              <a:rPr spc="-50" dirty="0">
                <a:latin typeface="微软雅黑"/>
                <a:cs typeface="微软雅黑"/>
              </a:rPr>
              <a:t>日</a:t>
            </a:r>
          </a:p>
        </p:txBody>
      </p:sp>
      <p:sp>
        <p:nvSpPr>
          <p:cNvPr id="14" name="object 14"/>
          <p:cNvSpPr txBox="1">
            <a:spLocks noGrp="1"/>
          </p:cNvSpPr>
          <p:nvPr>
            <p:ph type="sldNum" sz="quarter" idx="7"/>
          </p:nvPr>
        </p:nvSpPr>
        <p:spPr>
          <a:prstGeom prst="rect">
            <a:avLst/>
          </a:prstGeom>
        </p:spPr>
        <p:txBody>
          <a:bodyPr vert="horz" wrap="square" lIns="0" tIns="22225" rIns="0" bIns="0" rtlCol="0">
            <a:spAutoFit/>
          </a:bodyPr>
          <a:lstStyle/>
          <a:p>
            <a:pPr marL="38100">
              <a:lnSpc>
                <a:spcPct val="100000"/>
              </a:lnSpc>
              <a:spcBef>
                <a:spcPts val="175"/>
              </a:spcBef>
            </a:pPr>
            <a:fld id="{81D60167-4931-47E6-BA6A-407CBD079E47}" type="slidenum">
              <a:rPr spc="-20" dirty="0"/>
              <a:t>1</a:t>
            </a:fld>
            <a:r>
              <a:rPr spc="-35" dirty="0"/>
              <a:t> </a:t>
            </a:r>
            <a:r>
              <a:rPr dirty="0"/>
              <a:t>/</a:t>
            </a:r>
            <a:r>
              <a:rPr spc="-30" dirty="0"/>
              <a:t> </a:t>
            </a:r>
            <a:r>
              <a:rPr spc="-50" dirty="0"/>
              <a:t>7</a:t>
            </a:r>
          </a:p>
        </p:txBody>
      </p:sp>
      <p:sp>
        <p:nvSpPr>
          <p:cNvPr id="15" name="object 15"/>
          <p:cNvSpPr txBox="1"/>
          <p:nvPr/>
        </p:nvSpPr>
        <p:spPr>
          <a:xfrm>
            <a:off x="2456052" y="3132293"/>
            <a:ext cx="848360" cy="109220"/>
          </a:xfrm>
          <a:prstGeom prst="rect">
            <a:avLst/>
          </a:prstGeom>
        </p:spPr>
        <p:txBody>
          <a:bodyPr vert="horz" wrap="square" lIns="0" tIns="15875" rIns="0" bIns="0" rtlCol="0">
            <a:spAutoFit/>
          </a:bodyPr>
          <a:lstStyle/>
          <a:p>
            <a:pPr marL="12700">
              <a:lnSpc>
                <a:spcPct val="100000"/>
              </a:lnSpc>
              <a:spcBef>
                <a:spcPts val="125"/>
              </a:spcBef>
            </a:pPr>
            <a:r>
              <a:rPr sz="500" spc="-10" dirty="0">
                <a:solidFill>
                  <a:srgbClr val="FFFFFF"/>
                </a:solidFill>
                <a:latin typeface="微软雅黑"/>
                <a:cs typeface="微软雅黑"/>
                <a:hlinkClick r:id="rId2" action="ppaction://hlinksldjump"/>
              </a:rPr>
              <a:t>开题报告：奇异两点边值问</a:t>
            </a:r>
            <a:r>
              <a:rPr sz="500" spc="-50" dirty="0">
                <a:solidFill>
                  <a:srgbClr val="FFFFFF"/>
                </a:solidFill>
                <a:latin typeface="微软雅黑"/>
                <a:cs typeface="微软雅黑"/>
                <a:hlinkClick r:id="rId2" action="ppaction://hlinksldjump"/>
              </a:rPr>
              <a:t>题</a:t>
            </a:r>
            <a:endParaRPr sz="500">
              <a:latin typeface="微软雅黑"/>
              <a:cs typeface="微软雅黑"/>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25"/>
            <a:ext cx="5760085" cy="350520"/>
          </a:xfrm>
          <a:custGeom>
            <a:avLst/>
            <a:gdLst/>
            <a:ahLst/>
            <a:cxnLst/>
            <a:rect l="l" t="t" r="r" b="b"/>
            <a:pathLst>
              <a:path w="5760085" h="350520">
                <a:moveTo>
                  <a:pt x="5759996" y="0"/>
                </a:moveTo>
                <a:lnTo>
                  <a:pt x="0" y="0"/>
                </a:lnTo>
                <a:lnTo>
                  <a:pt x="0" y="350278"/>
                </a:lnTo>
                <a:lnTo>
                  <a:pt x="5759996" y="350278"/>
                </a:lnTo>
                <a:lnTo>
                  <a:pt x="5759996" y="0"/>
                </a:lnTo>
                <a:close/>
              </a:path>
            </a:pathLst>
          </a:custGeom>
          <a:solidFill>
            <a:srgbClr val="004A8F"/>
          </a:solidFill>
        </p:spPr>
        <p:txBody>
          <a:bodyPr wrap="square" lIns="0" tIns="0" rIns="0" bIns="0" rtlCol="0"/>
          <a:lstStyle/>
          <a:p>
            <a:endParaRPr/>
          </a:p>
        </p:txBody>
      </p:sp>
      <p:sp>
        <p:nvSpPr>
          <p:cNvPr id="3" name="object 3"/>
          <p:cNvSpPr txBox="1"/>
          <p:nvPr/>
        </p:nvSpPr>
        <p:spPr>
          <a:xfrm>
            <a:off x="95300" y="59979"/>
            <a:ext cx="75438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微软雅黑"/>
                <a:cs typeface="微软雅黑"/>
              </a:rPr>
              <a:t>汇报提</a:t>
            </a:r>
            <a:r>
              <a:rPr sz="1400" spc="-50" dirty="0">
                <a:solidFill>
                  <a:srgbClr val="FFFFFF"/>
                </a:solidFill>
                <a:latin typeface="微软雅黑"/>
                <a:cs typeface="微软雅黑"/>
              </a:rPr>
              <a:t>纲</a:t>
            </a:r>
            <a:endParaRPr sz="1400">
              <a:latin typeface="微软雅黑"/>
              <a:cs typeface="微软雅黑"/>
            </a:endParaRPr>
          </a:p>
        </p:txBody>
      </p:sp>
      <p:pic>
        <p:nvPicPr>
          <p:cNvPr id="4" name="object 4" descr="停止"/>
          <p:cNvPicPr/>
          <p:nvPr/>
        </p:nvPicPr>
        <p:blipFill>
          <a:blip r:embed="rId2">
            <a:extLst>
              <a:ext uri="{96DAC541-7B7A-43D3-8B79-37D633B846F1}">
                <asvg:svgBlip xmlns:asvg="http://schemas.microsoft.com/office/drawing/2016/SVG/main" r:embed="rId3"/>
              </a:ext>
            </a:extLst>
          </a:blip>
          <a:srcRect/>
          <a:stretch/>
        </p:blipFill>
        <p:spPr>
          <a:xfrm>
            <a:off x="81584" y="946721"/>
            <a:ext cx="146062" cy="146062"/>
          </a:xfrm>
          <a:prstGeom prst="rect">
            <a:avLst/>
          </a:prstGeom>
        </p:spPr>
      </p:pic>
      <p:sp>
        <p:nvSpPr>
          <p:cNvPr id="5" name="object 5"/>
          <p:cNvSpPr txBox="1"/>
          <p:nvPr/>
        </p:nvSpPr>
        <p:spPr>
          <a:xfrm>
            <a:off x="116140" y="925585"/>
            <a:ext cx="1061085" cy="166071"/>
          </a:xfrm>
          <a:prstGeom prst="rect">
            <a:avLst/>
          </a:prstGeom>
        </p:spPr>
        <p:txBody>
          <a:bodyPr vert="horz" wrap="square" lIns="0" tIns="12065" rIns="0" bIns="0" rtlCol="0">
            <a:spAutoFit/>
          </a:bodyPr>
          <a:lstStyle/>
          <a:p>
            <a:pPr marL="12700">
              <a:lnSpc>
                <a:spcPct val="100000"/>
              </a:lnSpc>
              <a:spcBef>
                <a:spcPts val="95"/>
              </a:spcBef>
            </a:pPr>
            <a:r>
              <a:rPr sz="1050" b="1" baseline="3968" dirty="0">
                <a:solidFill>
                  <a:srgbClr val="E5ECF3"/>
                </a:solidFill>
                <a:latin typeface="Century Gothic"/>
                <a:cs typeface="Century Gothic"/>
              </a:rPr>
              <a:t>1</a:t>
            </a:r>
            <a:r>
              <a:rPr sz="1050" spc="892" baseline="3968" dirty="0">
                <a:solidFill>
                  <a:srgbClr val="E5ECF3"/>
                </a:solidFill>
                <a:latin typeface="Century Gothic"/>
                <a:cs typeface="Century Gothic"/>
              </a:rPr>
              <a:t> </a:t>
            </a:r>
            <a:r>
              <a:rPr sz="1000" spc="-10" dirty="0">
                <a:solidFill>
                  <a:srgbClr val="004A8F"/>
                </a:solidFill>
                <a:latin typeface="微软雅黑"/>
                <a:cs typeface="微软雅黑"/>
                <a:hlinkClick r:id="rId4" action="ppaction://hlinksldjump"/>
              </a:rPr>
              <a:t>研究背景与意</a:t>
            </a:r>
            <a:r>
              <a:rPr sz="1000" spc="-50" dirty="0">
                <a:solidFill>
                  <a:srgbClr val="004A8F"/>
                </a:solidFill>
                <a:latin typeface="微软雅黑"/>
                <a:cs typeface="微软雅黑"/>
                <a:hlinkClick r:id="rId4" action="ppaction://hlinksldjump"/>
              </a:rPr>
              <a:t>义</a:t>
            </a:r>
            <a:endParaRPr sz="1000" dirty="0">
              <a:latin typeface="微软雅黑"/>
              <a:cs typeface="微软雅黑"/>
            </a:endParaRPr>
          </a:p>
        </p:txBody>
      </p:sp>
      <p:pic>
        <p:nvPicPr>
          <p:cNvPr id="6" name="object 6" descr="停止"/>
          <p:cNvPicPr/>
          <p:nvPr/>
        </p:nvPicPr>
        <p:blipFill>
          <a:blip r:embed="rId2">
            <a:extLst>
              <a:ext uri="{96DAC541-7B7A-43D3-8B79-37D633B846F1}">
                <asvg:svgBlip xmlns:asvg="http://schemas.microsoft.com/office/drawing/2016/SVG/main" r:embed="rId3"/>
              </a:ext>
            </a:extLst>
          </a:blip>
          <a:srcRect/>
          <a:stretch/>
        </p:blipFill>
        <p:spPr>
          <a:xfrm>
            <a:off x="81584" y="1288338"/>
            <a:ext cx="146062" cy="146062"/>
          </a:xfrm>
          <a:prstGeom prst="rect">
            <a:avLst/>
          </a:prstGeom>
        </p:spPr>
      </p:pic>
      <p:sp>
        <p:nvSpPr>
          <p:cNvPr id="7" name="object 7"/>
          <p:cNvSpPr txBox="1"/>
          <p:nvPr/>
        </p:nvSpPr>
        <p:spPr>
          <a:xfrm>
            <a:off x="118389" y="1290093"/>
            <a:ext cx="73025" cy="119905"/>
          </a:xfrm>
          <a:prstGeom prst="rect">
            <a:avLst/>
          </a:prstGeom>
        </p:spPr>
        <p:txBody>
          <a:bodyPr vert="horz" wrap="square" lIns="0" tIns="12065" rIns="0" bIns="0" rtlCol="0">
            <a:spAutoFit/>
          </a:bodyPr>
          <a:lstStyle/>
          <a:p>
            <a:pPr marL="12700">
              <a:lnSpc>
                <a:spcPct val="100000"/>
              </a:lnSpc>
              <a:spcBef>
                <a:spcPts val="95"/>
              </a:spcBef>
            </a:pPr>
            <a:r>
              <a:rPr sz="700" b="1" spc="-20" dirty="0">
                <a:solidFill>
                  <a:srgbClr val="E5ECF3"/>
                </a:solidFill>
                <a:latin typeface="Century Gothic"/>
                <a:cs typeface="Century Gothic"/>
              </a:rPr>
              <a:t>2</a:t>
            </a:r>
            <a:endParaRPr sz="700" b="1" dirty="0">
              <a:latin typeface="Century Gothic"/>
              <a:cs typeface="Century Gothic"/>
            </a:endParaRPr>
          </a:p>
        </p:txBody>
      </p:sp>
      <p:sp>
        <p:nvSpPr>
          <p:cNvPr id="8" name="object 8"/>
          <p:cNvSpPr txBox="1"/>
          <p:nvPr/>
        </p:nvSpPr>
        <p:spPr>
          <a:xfrm>
            <a:off x="268312" y="1261470"/>
            <a:ext cx="1290955"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004A8F"/>
                </a:solidFill>
                <a:latin typeface="微软雅黑"/>
                <a:cs typeface="微软雅黑"/>
                <a:hlinkClick r:id="rId5" action="ppaction://hlinksldjump"/>
              </a:rPr>
              <a:t>国内外现状与发展趋</a:t>
            </a:r>
            <a:r>
              <a:rPr sz="1000" spc="-50" dirty="0">
                <a:solidFill>
                  <a:srgbClr val="004A8F"/>
                </a:solidFill>
                <a:latin typeface="微软雅黑"/>
                <a:cs typeface="微软雅黑"/>
                <a:hlinkClick r:id="rId5" action="ppaction://hlinksldjump"/>
              </a:rPr>
              <a:t>势</a:t>
            </a:r>
            <a:endParaRPr sz="1000" dirty="0">
              <a:latin typeface="微软雅黑"/>
              <a:cs typeface="微软雅黑"/>
            </a:endParaRPr>
          </a:p>
        </p:txBody>
      </p:sp>
      <p:pic>
        <p:nvPicPr>
          <p:cNvPr id="9" name="object 9" descr="停止"/>
          <p:cNvPicPr/>
          <p:nvPr/>
        </p:nvPicPr>
        <p:blipFill>
          <a:blip r:embed="rId2">
            <a:extLst>
              <a:ext uri="{96DAC541-7B7A-43D3-8B79-37D633B846F1}">
                <asvg:svgBlip xmlns:asvg="http://schemas.microsoft.com/office/drawing/2016/SVG/main" r:embed="rId3"/>
              </a:ext>
            </a:extLst>
          </a:blip>
          <a:srcRect/>
          <a:stretch/>
        </p:blipFill>
        <p:spPr>
          <a:xfrm>
            <a:off x="81584" y="1629956"/>
            <a:ext cx="146062" cy="146062"/>
          </a:xfrm>
          <a:prstGeom prst="rect">
            <a:avLst/>
          </a:prstGeom>
        </p:spPr>
      </p:pic>
      <p:sp>
        <p:nvSpPr>
          <p:cNvPr id="10" name="object 10"/>
          <p:cNvSpPr txBox="1"/>
          <p:nvPr/>
        </p:nvSpPr>
        <p:spPr>
          <a:xfrm>
            <a:off x="118389" y="1630771"/>
            <a:ext cx="73025" cy="119905"/>
          </a:xfrm>
          <a:prstGeom prst="rect">
            <a:avLst/>
          </a:prstGeom>
        </p:spPr>
        <p:txBody>
          <a:bodyPr vert="horz" wrap="square" lIns="0" tIns="12065" rIns="0" bIns="0" rtlCol="0">
            <a:spAutoFit/>
          </a:bodyPr>
          <a:lstStyle/>
          <a:p>
            <a:pPr marL="12700">
              <a:lnSpc>
                <a:spcPct val="100000"/>
              </a:lnSpc>
              <a:spcBef>
                <a:spcPts val="95"/>
              </a:spcBef>
            </a:pPr>
            <a:r>
              <a:rPr sz="700" b="1" spc="-20" dirty="0">
                <a:solidFill>
                  <a:srgbClr val="E5ECF3"/>
                </a:solidFill>
                <a:latin typeface="Century Gothic"/>
                <a:cs typeface="Century Gothic"/>
              </a:rPr>
              <a:t>3</a:t>
            </a:r>
            <a:endParaRPr sz="700" b="1" dirty="0">
              <a:latin typeface="Century Gothic"/>
              <a:cs typeface="Century Gothic"/>
            </a:endParaRPr>
          </a:p>
        </p:txBody>
      </p:sp>
      <p:sp>
        <p:nvSpPr>
          <p:cNvPr id="11" name="object 11"/>
          <p:cNvSpPr txBox="1"/>
          <p:nvPr/>
        </p:nvSpPr>
        <p:spPr>
          <a:xfrm>
            <a:off x="264451" y="1610795"/>
            <a:ext cx="1544320"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004A8F"/>
                </a:solidFill>
                <a:latin typeface="微软雅黑"/>
                <a:cs typeface="微软雅黑"/>
                <a:hlinkClick r:id="rId6" action="ppaction://hlinksldjump"/>
              </a:rPr>
              <a:t>核心内容、关键问题与思</a:t>
            </a:r>
            <a:r>
              <a:rPr sz="1000" spc="-50" dirty="0">
                <a:solidFill>
                  <a:srgbClr val="004A8F"/>
                </a:solidFill>
                <a:latin typeface="微软雅黑"/>
                <a:cs typeface="微软雅黑"/>
                <a:hlinkClick r:id="rId6" action="ppaction://hlinksldjump"/>
              </a:rPr>
              <a:t>路</a:t>
            </a:r>
            <a:endParaRPr sz="1000" dirty="0">
              <a:latin typeface="微软雅黑"/>
              <a:cs typeface="微软雅黑"/>
            </a:endParaRPr>
          </a:p>
        </p:txBody>
      </p:sp>
      <p:pic>
        <p:nvPicPr>
          <p:cNvPr id="12" name="object 12" descr="停止"/>
          <p:cNvPicPr/>
          <p:nvPr/>
        </p:nvPicPr>
        <p:blipFill>
          <a:blip r:embed="rId2">
            <a:extLst>
              <a:ext uri="{96DAC541-7B7A-43D3-8B79-37D633B846F1}">
                <asvg:svgBlip xmlns:asvg="http://schemas.microsoft.com/office/drawing/2016/SVG/main" r:embed="rId3"/>
              </a:ext>
            </a:extLst>
          </a:blip>
          <a:srcRect/>
          <a:stretch/>
        </p:blipFill>
        <p:spPr>
          <a:xfrm>
            <a:off x="81584" y="1971573"/>
            <a:ext cx="146062" cy="146062"/>
          </a:xfrm>
          <a:prstGeom prst="rect">
            <a:avLst/>
          </a:prstGeom>
        </p:spPr>
      </p:pic>
      <p:sp>
        <p:nvSpPr>
          <p:cNvPr id="13" name="object 13"/>
          <p:cNvSpPr txBox="1"/>
          <p:nvPr/>
        </p:nvSpPr>
        <p:spPr>
          <a:xfrm>
            <a:off x="116140" y="1952253"/>
            <a:ext cx="1314450" cy="166071"/>
          </a:xfrm>
          <a:prstGeom prst="rect">
            <a:avLst/>
          </a:prstGeom>
        </p:spPr>
        <p:txBody>
          <a:bodyPr vert="horz" wrap="square" lIns="0" tIns="12065" rIns="0" bIns="0" rtlCol="0">
            <a:spAutoFit/>
          </a:bodyPr>
          <a:lstStyle/>
          <a:p>
            <a:pPr marL="12700">
              <a:lnSpc>
                <a:spcPct val="100000"/>
              </a:lnSpc>
              <a:spcBef>
                <a:spcPts val="95"/>
              </a:spcBef>
            </a:pPr>
            <a:r>
              <a:rPr sz="1050" b="1" baseline="7936" dirty="0">
                <a:solidFill>
                  <a:srgbClr val="E5ECF3"/>
                </a:solidFill>
                <a:latin typeface="Century Gothic"/>
                <a:cs typeface="Century Gothic"/>
              </a:rPr>
              <a:t>4</a:t>
            </a:r>
            <a:r>
              <a:rPr sz="1050" spc="892" baseline="7936" dirty="0">
                <a:solidFill>
                  <a:srgbClr val="E5ECF3"/>
                </a:solidFill>
                <a:latin typeface="Century Gothic"/>
                <a:cs typeface="Century Gothic"/>
              </a:rPr>
              <a:t> </a:t>
            </a:r>
            <a:r>
              <a:rPr sz="1000" spc="-10" dirty="0">
                <a:solidFill>
                  <a:srgbClr val="004A8F"/>
                </a:solidFill>
                <a:latin typeface="微软雅黑"/>
                <a:cs typeface="微软雅黑"/>
                <a:hlinkClick r:id="rId7" action="ppaction://hlinksldjump"/>
              </a:rPr>
              <a:t>工作基础与进度安</a:t>
            </a:r>
            <a:r>
              <a:rPr sz="1000" spc="-50" dirty="0">
                <a:solidFill>
                  <a:srgbClr val="004A8F"/>
                </a:solidFill>
                <a:latin typeface="微软雅黑"/>
                <a:cs typeface="微软雅黑"/>
                <a:hlinkClick r:id="rId7" action="ppaction://hlinksldjump"/>
              </a:rPr>
              <a:t>排</a:t>
            </a:r>
            <a:endParaRPr sz="1000" dirty="0">
              <a:latin typeface="微软雅黑"/>
              <a:cs typeface="微软雅黑"/>
            </a:endParaRPr>
          </a:p>
        </p:txBody>
      </p:sp>
      <p:grpSp>
        <p:nvGrpSpPr>
          <p:cNvPr id="14" name="object 14"/>
          <p:cNvGrpSpPr/>
          <p:nvPr/>
        </p:nvGrpSpPr>
        <p:grpSpPr>
          <a:xfrm>
            <a:off x="0" y="3148736"/>
            <a:ext cx="5760085" cy="91440"/>
            <a:chOff x="0" y="3148736"/>
            <a:chExt cx="5760085" cy="91440"/>
          </a:xfrm>
        </p:grpSpPr>
        <p:sp>
          <p:nvSpPr>
            <p:cNvPr id="15" name="object 15"/>
            <p:cNvSpPr/>
            <p:nvPr/>
          </p:nvSpPr>
          <p:spPr>
            <a:xfrm>
              <a:off x="0"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2547"/>
            </a:solidFill>
          </p:spPr>
          <p:txBody>
            <a:bodyPr wrap="square" lIns="0" tIns="0" rIns="0" bIns="0" rtlCol="0"/>
            <a:lstStyle/>
            <a:p>
              <a:endParaRPr/>
            </a:p>
          </p:txBody>
        </p:sp>
        <p:sp>
          <p:nvSpPr>
            <p:cNvPr id="16" name="object 16"/>
            <p:cNvSpPr/>
            <p:nvPr/>
          </p:nvSpPr>
          <p:spPr>
            <a:xfrm>
              <a:off x="1919973"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386B"/>
            </a:solidFill>
          </p:spPr>
          <p:txBody>
            <a:bodyPr wrap="square" lIns="0" tIns="0" rIns="0" bIns="0" rtlCol="0"/>
            <a:lstStyle/>
            <a:p>
              <a:endParaRPr/>
            </a:p>
          </p:txBody>
        </p:sp>
        <p:sp>
          <p:nvSpPr>
            <p:cNvPr id="17" name="object 17"/>
            <p:cNvSpPr/>
            <p:nvPr/>
          </p:nvSpPr>
          <p:spPr>
            <a:xfrm>
              <a:off x="3839946"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4A8F"/>
            </a:solidFill>
          </p:spPr>
          <p:txBody>
            <a:bodyPr wrap="square" lIns="0" tIns="0" rIns="0" bIns="0" rtlCol="0"/>
            <a:lstStyle/>
            <a:p>
              <a:endParaRPr/>
            </a:p>
          </p:txBody>
        </p:sp>
      </p:grpSp>
      <p:sp>
        <p:nvSpPr>
          <p:cNvPr id="18" name="object 18"/>
          <p:cNvSpPr txBox="1">
            <a:spLocks noGrp="1"/>
          </p:cNvSpPr>
          <p:nvPr>
            <p:ph type="dt" sz="half" idx="6"/>
          </p:nvPr>
        </p:nvSpPr>
        <p:spPr>
          <a:prstGeom prst="rect">
            <a:avLst/>
          </a:prstGeom>
        </p:spPr>
        <p:txBody>
          <a:bodyPr vert="horz" wrap="square" lIns="0" tIns="22225" rIns="0" bIns="0" rtlCol="0">
            <a:spAutoFit/>
          </a:bodyPr>
          <a:lstStyle/>
          <a:p>
            <a:pPr marL="12700">
              <a:lnSpc>
                <a:spcPct val="100000"/>
              </a:lnSpc>
              <a:spcBef>
                <a:spcPts val="175"/>
              </a:spcBef>
            </a:pPr>
            <a:r>
              <a:rPr spc="-10" dirty="0"/>
              <a:t>邓</a:t>
            </a:r>
            <a:r>
              <a:rPr dirty="0"/>
              <a:t>垚</a:t>
            </a:r>
            <a:r>
              <a:rPr spc="240" dirty="0"/>
              <a:t> </a:t>
            </a:r>
            <a:r>
              <a:rPr dirty="0">
                <a:latin typeface="Century Gothic"/>
                <a:cs typeface="Century Gothic"/>
              </a:rPr>
              <a:t>(</a:t>
            </a:r>
            <a:r>
              <a:rPr spc="-10" dirty="0"/>
              <a:t>贵州大学</a:t>
            </a:r>
            <a:r>
              <a:rPr spc="-50" dirty="0">
                <a:latin typeface="Century Gothic"/>
                <a:cs typeface="Century Gothic"/>
              </a:rPr>
              <a:t>)</a:t>
            </a:r>
          </a:p>
        </p:txBody>
      </p:sp>
      <p:sp>
        <p:nvSpPr>
          <p:cNvPr id="19" name="object 19"/>
          <p:cNvSpPr txBox="1">
            <a:spLocks noGrp="1"/>
          </p:cNvSpPr>
          <p:nvPr>
            <p:ph type="ftr" sz="quarter" idx="5"/>
          </p:nvPr>
        </p:nvSpPr>
        <p:spPr>
          <a:prstGeom prst="rect">
            <a:avLst/>
          </a:prstGeom>
        </p:spPr>
        <p:txBody>
          <a:bodyPr vert="horz" wrap="square" lIns="0" tIns="22225" rIns="0" bIns="0" rtlCol="0">
            <a:spAutoFit/>
          </a:bodyPr>
          <a:lstStyle/>
          <a:p>
            <a:pPr marL="12700">
              <a:lnSpc>
                <a:spcPct val="100000"/>
              </a:lnSpc>
              <a:spcBef>
                <a:spcPts val="175"/>
              </a:spcBef>
            </a:pPr>
            <a:r>
              <a:rPr dirty="0"/>
              <a:t>2026</a:t>
            </a:r>
            <a:r>
              <a:rPr spc="15" dirty="0"/>
              <a:t> </a:t>
            </a:r>
            <a:r>
              <a:rPr dirty="0">
                <a:latin typeface="微软雅黑"/>
                <a:cs typeface="微软雅黑"/>
              </a:rPr>
              <a:t>年 </a:t>
            </a:r>
            <a:r>
              <a:rPr dirty="0"/>
              <a:t>3</a:t>
            </a:r>
            <a:r>
              <a:rPr spc="15" dirty="0"/>
              <a:t> </a:t>
            </a:r>
            <a:r>
              <a:rPr spc="5" dirty="0">
                <a:latin typeface="微软雅黑"/>
                <a:cs typeface="微软雅黑"/>
              </a:rPr>
              <a:t>月 </a:t>
            </a:r>
            <a:r>
              <a:rPr dirty="0"/>
              <a:t>9</a:t>
            </a:r>
            <a:r>
              <a:rPr spc="15" dirty="0"/>
              <a:t> </a:t>
            </a:r>
            <a:r>
              <a:rPr spc="-50" dirty="0">
                <a:latin typeface="微软雅黑"/>
                <a:cs typeface="微软雅黑"/>
              </a:rPr>
              <a:t>日</a:t>
            </a:r>
          </a:p>
        </p:txBody>
      </p:sp>
      <p:sp>
        <p:nvSpPr>
          <p:cNvPr id="20" name="object 20"/>
          <p:cNvSpPr txBox="1">
            <a:spLocks noGrp="1"/>
          </p:cNvSpPr>
          <p:nvPr>
            <p:ph type="sldNum" sz="quarter" idx="7"/>
          </p:nvPr>
        </p:nvSpPr>
        <p:spPr>
          <a:prstGeom prst="rect">
            <a:avLst/>
          </a:prstGeom>
        </p:spPr>
        <p:txBody>
          <a:bodyPr vert="horz" wrap="square" lIns="0" tIns="22225" rIns="0" bIns="0" rtlCol="0">
            <a:spAutoFit/>
          </a:bodyPr>
          <a:lstStyle/>
          <a:p>
            <a:pPr marL="38100">
              <a:lnSpc>
                <a:spcPct val="100000"/>
              </a:lnSpc>
              <a:spcBef>
                <a:spcPts val="175"/>
              </a:spcBef>
            </a:pPr>
            <a:fld id="{81D60167-4931-47E6-BA6A-407CBD079E47}" type="slidenum">
              <a:rPr spc="-20" dirty="0"/>
              <a:t>2</a:t>
            </a:fld>
            <a:r>
              <a:rPr spc="-35" dirty="0"/>
              <a:t> </a:t>
            </a:r>
            <a:r>
              <a:rPr dirty="0"/>
              <a:t>/</a:t>
            </a:r>
            <a:r>
              <a:rPr spc="-30" dirty="0"/>
              <a:t> </a:t>
            </a:r>
            <a:r>
              <a:rPr spc="-50" dirty="0"/>
              <a:t>7</a:t>
            </a:r>
          </a:p>
        </p:txBody>
      </p:sp>
      <p:sp>
        <p:nvSpPr>
          <p:cNvPr id="21" name="object 21"/>
          <p:cNvSpPr txBox="1"/>
          <p:nvPr/>
        </p:nvSpPr>
        <p:spPr>
          <a:xfrm>
            <a:off x="2456052" y="3132293"/>
            <a:ext cx="848360" cy="109220"/>
          </a:xfrm>
          <a:prstGeom prst="rect">
            <a:avLst/>
          </a:prstGeom>
        </p:spPr>
        <p:txBody>
          <a:bodyPr vert="horz" wrap="square" lIns="0" tIns="15875" rIns="0" bIns="0" rtlCol="0">
            <a:spAutoFit/>
          </a:bodyPr>
          <a:lstStyle/>
          <a:p>
            <a:pPr marL="12700">
              <a:lnSpc>
                <a:spcPct val="100000"/>
              </a:lnSpc>
              <a:spcBef>
                <a:spcPts val="125"/>
              </a:spcBef>
            </a:pPr>
            <a:r>
              <a:rPr sz="500" spc="-10" dirty="0">
                <a:solidFill>
                  <a:srgbClr val="FFFFFF"/>
                </a:solidFill>
                <a:latin typeface="微软雅黑"/>
                <a:cs typeface="微软雅黑"/>
                <a:hlinkClick r:id="rId8" action="ppaction://hlinksldjump"/>
              </a:rPr>
              <a:t>开题报告：奇异两点边值问</a:t>
            </a:r>
            <a:r>
              <a:rPr sz="500" spc="-50" dirty="0">
                <a:solidFill>
                  <a:srgbClr val="FFFFFF"/>
                </a:solidFill>
                <a:latin typeface="微软雅黑"/>
                <a:cs typeface="微软雅黑"/>
                <a:hlinkClick r:id="rId8" action="ppaction://hlinksldjump"/>
              </a:rPr>
              <a:t>题</a:t>
            </a:r>
            <a:endParaRPr sz="500">
              <a:latin typeface="微软雅黑"/>
              <a:cs typeface="微软雅黑"/>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979"/>
            <a:ext cx="1301115" cy="244475"/>
          </a:xfrm>
          <a:prstGeom prst="rect">
            <a:avLst/>
          </a:prstGeom>
        </p:spPr>
        <p:txBody>
          <a:bodyPr vert="horz" wrap="square" lIns="0" tIns="17145" rIns="0" bIns="0" rtlCol="0">
            <a:spAutoFit/>
          </a:bodyPr>
          <a:lstStyle/>
          <a:p>
            <a:pPr marL="12700">
              <a:lnSpc>
                <a:spcPct val="100000"/>
              </a:lnSpc>
              <a:spcBef>
                <a:spcPts val="135"/>
              </a:spcBef>
            </a:pPr>
            <a:r>
              <a:rPr dirty="0"/>
              <a:t>研究背景与目</a:t>
            </a:r>
            <a:r>
              <a:rPr spc="-50" dirty="0"/>
              <a:t>的</a:t>
            </a:r>
          </a:p>
        </p:txBody>
      </p:sp>
      <p:grpSp>
        <p:nvGrpSpPr>
          <p:cNvPr id="5" name="object 5"/>
          <p:cNvGrpSpPr/>
          <p:nvPr/>
        </p:nvGrpSpPr>
        <p:grpSpPr>
          <a:xfrm>
            <a:off x="75729" y="834380"/>
            <a:ext cx="5659756" cy="600710"/>
            <a:chOff x="75729" y="847595"/>
            <a:chExt cx="5659756" cy="600710"/>
          </a:xfrm>
        </p:grpSpPr>
        <p:sp>
          <p:nvSpPr>
            <p:cNvPr id="7" name="object 7"/>
            <p:cNvSpPr/>
            <p:nvPr/>
          </p:nvSpPr>
          <p:spPr>
            <a:xfrm>
              <a:off x="126530" y="847595"/>
              <a:ext cx="5608955" cy="600710"/>
            </a:xfrm>
            <a:custGeom>
              <a:avLst/>
              <a:gdLst/>
              <a:ahLst/>
              <a:cxnLst/>
              <a:rect l="l" t="t" r="r" b="b"/>
              <a:pathLst>
                <a:path w="5608955" h="600710">
                  <a:moveTo>
                    <a:pt x="5608620" y="0"/>
                  </a:moveTo>
                  <a:lnTo>
                    <a:pt x="0" y="0"/>
                  </a:lnTo>
                  <a:lnTo>
                    <a:pt x="0" y="600319"/>
                  </a:lnTo>
                  <a:lnTo>
                    <a:pt x="5608620" y="600319"/>
                  </a:lnTo>
                  <a:lnTo>
                    <a:pt x="5608620" y="0"/>
                  </a:lnTo>
                  <a:close/>
                </a:path>
              </a:pathLst>
            </a:custGeom>
            <a:noFill/>
          </p:spPr>
          <p:txBody>
            <a:bodyPr wrap="square" lIns="0" tIns="0" rIns="0" bIns="0" rtlCol="0"/>
            <a:lstStyle/>
            <a:p>
              <a:endParaRPr dirty="0"/>
            </a:p>
          </p:txBody>
        </p:sp>
        <p:pic>
          <p:nvPicPr>
            <p:cNvPr id="6" name="object 6"/>
            <p:cNvPicPr/>
            <p:nvPr/>
          </p:nvPicPr>
          <p:blipFill>
            <a:blip r:embed="rId2" cstate="print"/>
            <a:stretch>
              <a:fillRect/>
            </a:stretch>
          </p:blipFill>
          <p:spPr>
            <a:xfrm>
              <a:off x="75730" y="1006970"/>
              <a:ext cx="5608620" cy="50609"/>
            </a:xfrm>
            <a:prstGeom prst="rect">
              <a:avLst/>
            </a:prstGeom>
          </p:spPr>
        </p:pic>
        <p:sp>
          <p:nvSpPr>
            <p:cNvPr id="8" name="object 8"/>
            <p:cNvSpPr/>
            <p:nvPr/>
          </p:nvSpPr>
          <p:spPr>
            <a:xfrm>
              <a:off x="75729" y="1051247"/>
              <a:ext cx="5608955" cy="346075"/>
            </a:xfrm>
            <a:custGeom>
              <a:avLst/>
              <a:gdLst/>
              <a:ahLst/>
              <a:cxnLst/>
              <a:rect l="l" t="t" r="r" b="b"/>
              <a:pathLst>
                <a:path w="5608955" h="346075">
                  <a:moveTo>
                    <a:pt x="5608620" y="0"/>
                  </a:moveTo>
                  <a:lnTo>
                    <a:pt x="0" y="0"/>
                  </a:lnTo>
                  <a:lnTo>
                    <a:pt x="0" y="295067"/>
                  </a:lnTo>
                  <a:lnTo>
                    <a:pt x="4008" y="314791"/>
                  </a:lnTo>
                  <a:lnTo>
                    <a:pt x="14922" y="330944"/>
                  </a:lnTo>
                  <a:lnTo>
                    <a:pt x="31075" y="341858"/>
                  </a:lnTo>
                  <a:lnTo>
                    <a:pt x="50800" y="345867"/>
                  </a:lnTo>
                  <a:lnTo>
                    <a:pt x="5557820" y="345867"/>
                  </a:lnTo>
                  <a:lnTo>
                    <a:pt x="5577545" y="341858"/>
                  </a:lnTo>
                  <a:lnTo>
                    <a:pt x="5593698" y="330944"/>
                  </a:lnTo>
                  <a:lnTo>
                    <a:pt x="5604612" y="314791"/>
                  </a:lnTo>
                  <a:lnTo>
                    <a:pt x="5608620" y="295067"/>
                  </a:lnTo>
                  <a:lnTo>
                    <a:pt x="5608620" y="0"/>
                  </a:lnTo>
                  <a:close/>
                </a:path>
              </a:pathLst>
            </a:custGeom>
            <a:solidFill>
              <a:srgbClr val="EBF2FA"/>
            </a:solidFill>
          </p:spPr>
          <p:txBody>
            <a:bodyPr wrap="square" lIns="0" tIns="0" rIns="0" bIns="0" rtlCol="0"/>
            <a:lstStyle/>
            <a:p>
              <a:endParaRPr/>
            </a:p>
          </p:txBody>
        </p:sp>
      </p:grpSp>
      <p:sp>
        <p:nvSpPr>
          <p:cNvPr id="10" name="object 10"/>
          <p:cNvSpPr txBox="1"/>
          <p:nvPr/>
        </p:nvSpPr>
        <p:spPr>
          <a:xfrm>
            <a:off x="88430" y="1530420"/>
            <a:ext cx="5516880" cy="1088390"/>
          </a:xfrm>
          <a:prstGeom prst="rect">
            <a:avLst/>
          </a:prstGeom>
        </p:spPr>
        <p:txBody>
          <a:bodyPr vert="horz" wrap="square" lIns="0" tIns="50165" rIns="0" bIns="0" rtlCol="0">
            <a:spAutoFit/>
          </a:bodyPr>
          <a:lstStyle/>
          <a:p>
            <a:pPr marL="38100">
              <a:lnSpc>
                <a:spcPct val="100000"/>
              </a:lnSpc>
              <a:spcBef>
                <a:spcPts val="395"/>
              </a:spcBef>
            </a:pPr>
            <a:r>
              <a:rPr sz="1000" b="1" spc="-10" dirty="0">
                <a:solidFill>
                  <a:srgbClr val="004A8F"/>
                </a:solidFill>
                <a:latin typeface="微软雅黑"/>
                <a:cs typeface="微软雅黑"/>
              </a:rPr>
              <a:t>研究目的</a:t>
            </a:r>
            <a:r>
              <a:rPr sz="1000" b="1" spc="-50" dirty="0">
                <a:solidFill>
                  <a:srgbClr val="004A8F"/>
                </a:solidFill>
                <a:latin typeface="微软雅黑"/>
                <a:cs typeface="微软雅黑"/>
              </a:rPr>
              <a:t>：</a:t>
            </a:r>
            <a:endParaRPr sz="1000" dirty="0">
              <a:latin typeface="微软雅黑"/>
              <a:cs typeface="微软雅黑"/>
            </a:endParaRPr>
          </a:p>
          <a:p>
            <a:pPr marL="290830" marR="30480" indent="-127000">
              <a:lnSpc>
                <a:spcPct val="100000"/>
              </a:lnSpc>
              <a:spcBef>
                <a:spcPts val="295"/>
              </a:spcBef>
              <a:buClr>
                <a:srgbClr val="004A8F"/>
              </a:buClr>
              <a:buFont typeface="Times New Roman"/>
              <a:buChar char="•"/>
              <a:tabLst>
                <a:tab pos="291465" algn="l"/>
              </a:tabLst>
            </a:pPr>
            <a:r>
              <a:rPr sz="1000" b="1" spc="-10" dirty="0">
                <a:latin typeface="微软雅黑"/>
                <a:cs typeface="微软雅黑"/>
              </a:rPr>
              <a:t>理论剖析：</a:t>
            </a:r>
            <a:r>
              <a:rPr sz="1000" spc="-10" dirty="0">
                <a:latin typeface="微软雅黑"/>
                <a:cs typeface="微软雅黑"/>
              </a:rPr>
              <a:t>在时间不一致框架下，探究该类奇异两点边值问题与普通奇异两点边值问题在</a:t>
            </a:r>
            <a:r>
              <a:rPr sz="1000" b="1" spc="-10" dirty="0">
                <a:latin typeface="微软雅黑"/>
                <a:cs typeface="微软雅黑"/>
              </a:rPr>
              <a:t>解</a:t>
            </a:r>
            <a:r>
              <a:rPr sz="1000" b="1" spc="-50" dirty="0">
                <a:latin typeface="微软雅黑"/>
                <a:cs typeface="微软雅黑"/>
              </a:rPr>
              <a:t>的</a:t>
            </a:r>
            <a:r>
              <a:rPr sz="1000" b="1" spc="-10" dirty="0">
                <a:latin typeface="微软雅黑"/>
                <a:cs typeface="微软雅黑"/>
              </a:rPr>
              <a:t>唯一性</a:t>
            </a:r>
            <a:r>
              <a:rPr sz="1000" spc="-10" dirty="0">
                <a:latin typeface="微软雅黑"/>
                <a:cs typeface="微软雅黑"/>
              </a:rPr>
              <a:t>上的本质差别</a:t>
            </a:r>
            <a:r>
              <a:rPr sz="1000" spc="-50" dirty="0">
                <a:latin typeface="微软雅黑"/>
                <a:cs typeface="微软雅黑"/>
              </a:rPr>
              <a:t>。</a:t>
            </a:r>
            <a:endParaRPr sz="1000" dirty="0">
              <a:latin typeface="微软雅黑"/>
              <a:cs typeface="微软雅黑"/>
            </a:endParaRPr>
          </a:p>
          <a:p>
            <a:pPr marL="290830" marR="43180" indent="-127000">
              <a:lnSpc>
                <a:spcPct val="100000"/>
              </a:lnSpc>
              <a:spcBef>
                <a:spcPts val="290"/>
              </a:spcBef>
              <a:buClr>
                <a:srgbClr val="004A8F"/>
              </a:buClr>
              <a:buFont typeface="Times New Roman"/>
              <a:buChar char="•"/>
              <a:tabLst>
                <a:tab pos="291465" algn="l"/>
              </a:tabLst>
            </a:pPr>
            <a:r>
              <a:rPr sz="1000" b="1" spc="-10" dirty="0">
                <a:latin typeface="微软雅黑"/>
                <a:cs typeface="微软雅黑"/>
              </a:rPr>
              <a:t>等价关系：</a:t>
            </a:r>
            <a:r>
              <a:rPr sz="1000" spc="-10" dirty="0">
                <a:latin typeface="微软雅黑"/>
                <a:cs typeface="微软雅黑"/>
              </a:rPr>
              <a:t>利</a:t>
            </a:r>
            <a:r>
              <a:rPr sz="1000" dirty="0">
                <a:latin typeface="微软雅黑"/>
                <a:cs typeface="微软雅黑"/>
              </a:rPr>
              <a:t>用</a:t>
            </a:r>
            <a:r>
              <a:rPr sz="1000" spc="-5" dirty="0">
                <a:latin typeface="微软雅黑"/>
                <a:cs typeface="微软雅黑"/>
              </a:rPr>
              <a:t> </a:t>
            </a:r>
            <a:r>
              <a:rPr sz="1000" spc="-120" dirty="0">
                <a:latin typeface="Arial Black"/>
                <a:cs typeface="Arial Black"/>
              </a:rPr>
              <a:t>Riccati</a:t>
            </a:r>
            <a:r>
              <a:rPr sz="1000" spc="30" dirty="0">
                <a:latin typeface="Arial Black"/>
                <a:cs typeface="Arial Black"/>
              </a:rPr>
              <a:t> </a:t>
            </a:r>
            <a:r>
              <a:rPr sz="1000" b="1" spc="-10" dirty="0">
                <a:latin typeface="微软雅黑"/>
                <a:cs typeface="微软雅黑"/>
              </a:rPr>
              <a:t>方程</a:t>
            </a:r>
            <a:r>
              <a:rPr sz="1000" spc="-10" dirty="0">
                <a:latin typeface="微软雅黑"/>
                <a:cs typeface="微软雅黑"/>
              </a:rPr>
              <a:t>、</a:t>
            </a:r>
            <a:r>
              <a:rPr sz="1000" b="1" spc="-10" dirty="0">
                <a:latin typeface="微软雅黑"/>
                <a:cs typeface="微软雅黑"/>
              </a:rPr>
              <a:t>相应奇异边值问题</a:t>
            </a:r>
            <a:r>
              <a:rPr sz="1000" dirty="0">
                <a:latin typeface="微软雅黑"/>
                <a:cs typeface="微软雅黑"/>
              </a:rPr>
              <a:t>与 </a:t>
            </a:r>
            <a:r>
              <a:rPr sz="1000" spc="-30" dirty="0">
                <a:latin typeface="Arial Black"/>
                <a:cs typeface="Arial Black"/>
              </a:rPr>
              <a:t>LQ </a:t>
            </a:r>
            <a:r>
              <a:rPr sz="1000" b="1" spc="-10" dirty="0">
                <a:latin typeface="微软雅黑"/>
                <a:cs typeface="微软雅黑"/>
              </a:rPr>
              <a:t>问题</a:t>
            </a:r>
            <a:r>
              <a:rPr sz="1000" spc="-10" dirty="0">
                <a:latin typeface="微软雅黑"/>
                <a:cs typeface="微软雅黑"/>
              </a:rPr>
              <a:t>之间的等价关系，严格证明解</a:t>
            </a:r>
            <a:r>
              <a:rPr sz="1000" spc="-50" dirty="0">
                <a:latin typeface="微软雅黑"/>
                <a:cs typeface="微软雅黑"/>
              </a:rPr>
              <a:t>的</a:t>
            </a:r>
            <a:r>
              <a:rPr sz="1000" spc="-10" dirty="0">
                <a:latin typeface="微软雅黑"/>
                <a:cs typeface="微软雅黑"/>
              </a:rPr>
              <a:t>存在性与唯一性</a:t>
            </a:r>
            <a:r>
              <a:rPr sz="1000" spc="-50" dirty="0">
                <a:latin typeface="微软雅黑"/>
                <a:cs typeface="微软雅黑"/>
              </a:rPr>
              <a:t>。</a:t>
            </a:r>
            <a:endParaRPr sz="1000" dirty="0">
              <a:latin typeface="微软雅黑"/>
              <a:cs typeface="微软雅黑"/>
            </a:endParaRPr>
          </a:p>
          <a:p>
            <a:pPr marL="290830" indent="-127000">
              <a:lnSpc>
                <a:spcPct val="100000"/>
              </a:lnSpc>
              <a:spcBef>
                <a:spcPts val="290"/>
              </a:spcBef>
              <a:buClr>
                <a:srgbClr val="004A8F"/>
              </a:buClr>
              <a:buFont typeface="Times New Roman"/>
              <a:buChar char="•"/>
              <a:tabLst>
                <a:tab pos="291465" algn="l"/>
              </a:tabLst>
            </a:pPr>
            <a:r>
              <a:rPr sz="1000" b="1" spc="-10" dirty="0" err="1">
                <a:latin typeface="微软雅黑"/>
                <a:cs typeface="微软雅黑"/>
              </a:rPr>
              <a:t>数值实现：</a:t>
            </a:r>
            <a:r>
              <a:rPr sz="1000" spc="-10" dirty="0" err="1">
                <a:latin typeface="微软雅黑"/>
                <a:cs typeface="微软雅黑"/>
              </a:rPr>
              <a:t>针对一维情形，构造轻量级迭代算法求取数值解，提供直观的计算支撑</a:t>
            </a:r>
            <a:r>
              <a:rPr sz="1000" spc="-50" dirty="0">
                <a:latin typeface="微软雅黑"/>
                <a:cs typeface="微软雅黑"/>
              </a:rPr>
              <a:t>。</a:t>
            </a:r>
            <a:endParaRPr sz="1000" dirty="0">
              <a:latin typeface="微软雅黑"/>
              <a:cs typeface="微软雅黑"/>
            </a:endParaRPr>
          </a:p>
        </p:txBody>
      </p:sp>
      <p:grpSp>
        <p:nvGrpSpPr>
          <p:cNvPr id="11" name="object 11"/>
          <p:cNvGrpSpPr/>
          <p:nvPr/>
        </p:nvGrpSpPr>
        <p:grpSpPr>
          <a:xfrm>
            <a:off x="0" y="3148736"/>
            <a:ext cx="5760085" cy="91440"/>
            <a:chOff x="0" y="3148736"/>
            <a:chExt cx="5760085" cy="91440"/>
          </a:xfrm>
        </p:grpSpPr>
        <p:sp>
          <p:nvSpPr>
            <p:cNvPr id="12" name="object 12"/>
            <p:cNvSpPr/>
            <p:nvPr/>
          </p:nvSpPr>
          <p:spPr>
            <a:xfrm>
              <a:off x="0"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2547"/>
            </a:solidFill>
          </p:spPr>
          <p:txBody>
            <a:bodyPr wrap="square" lIns="0" tIns="0" rIns="0" bIns="0" rtlCol="0"/>
            <a:lstStyle/>
            <a:p>
              <a:endParaRPr/>
            </a:p>
          </p:txBody>
        </p:sp>
        <p:sp>
          <p:nvSpPr>
            <p:cNvPr id="13" name="object 13"/>
            <p:cNvSpPr/>
            <p:nvPr/>
          </p:nvSpPr>
          <p:spPr>
            <a:xfrm>
              <a:off x="1919973"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386B"/>
            </a:solidFill>
          </p:spPr>
          <p:txBody>
            <a:bodyPr wrap="square" lIns="0" tIns="0" rIns="0" bIns="0" rtlCol="0"/>
            <a:lstStyle/>
            <a:p>
              <a:endParaRPr/>
            </a:p>
          </p:txBody>
        </p:sp>
        <p:sp>
          <p:nvSpPr>
            <p:cNvPr id="14" name="object 14"/>
            <p:cNvSpPr/>
            <p:nvPr/>
          </p:nvSpPr>
          <p:spPr>
            <a:xfrm>
              <a:off x="3839946"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4A8F"/>
            </a:solidFill>
          </p:spPr>
          <p:txBody>
            <a:bodyPr wrap="square" lIns="0" tIns="0" rIns="0" bIns="0" rtlCol="0"/>
            <a:lstStyle/>
            <a:p>
              <a:endParaRPr/>
            </a:p>
          </p:txBody>
        </p:sp>
      </p:grpSp>
      <p:sp>
        <p:nvSpPr>
          <p:cNvPr id="15" name="object 15"/>
          <p:cNvSpPr txBox="1">
            <a:spLocks noGrp="1"/>
          </p:cNvSpPr>
          <p:nvPr>
            <p:ph type="dt" sz="half" idx="6"/>
          </p:nvPr>
        </p:nvSpPr>
        <p:spPr>
          <a:prstGeom prst="rect">
            <a:avLst/>
          </a:prstGeom>
        </p:spPr>
        <p:txBody>
          <a:bodyPr vert="horz" wrap="square" lIns="0" tIns="22225" rIns="0" bIns="0" rtlCol="0">
            <a:spAutoFit/>
          </a:bodyPr>
          <a:lstStyle/>
          <a:p>
            <a:pPr marL="12700">
              <a:lnSpc>
                <a:spcPct val="100000"/>
              </a:lnSpc>
              <a:spcBef>
                <a:spcPts val="175"/>
              </a:spcBef>
            </a:pPr>
            <a:r>
              <a:rPr spc="-10" dirty="0"/>
              <a:t>邓</a:t>
            </a:r>
            <a:r>
              <a:rPr dirty="0"/>
              <a:t>垚</a:t>
            </a:r>
            <a:r>
              <a:rPr spc="240" dirty="0"/>
              <a:t> </a:t>
            </a:r>
            <a:r>
              <a:rPr dirty="0">
                <a:latin typeface="Century Gothic"/>
                <a:cs typeface="Century Gothic"/>
              </a:rPr>
              <a:t>(</a:t>
            </a:r>
            <a:r>
              <a:rPr spc="-10" dirty="0"/>
              <a:t>贵州大学</a:t>
            </a:r>
            <a:r>
              <a:rPr spc="-50" dirty="0">
                <a:latin typeface="Century Gothic"/>
                <a:cs typeface="Century Gothic"/>
              </a:rPr>
              <a:t>)</a:t>
            </a:r>
          </a:p>
        </p:txBody>
      </p:sp>
      <p:sp>
        <p:nvSpPr>
          <p:cNvPr id="16" name="object 16"/>
          <p:cNvSpPr txBox="1">
            <a:spLocks noGrp="1"/>
          </p:cNvSpPr>
          <p:nvPr>
            <p:ph type="ftr" sz="quarter" idx="5"/>
          </p:nvPr>
        </p:nvSpPr>
        <p:spPr>
          <a:prstGeom prst="rect">
            <a:avLst/>
          </a:prstGeom>
        </p:spPr>
        <p:txBody>
          <a:bodyPr vert="horz" wrap="square" lIns="0" tIns="22225" rIns="0" bIns="0" rtlCol="0">
            <a:spAutoFit/>
          </a:bodyPr>
          <a:lstStyle/>
          <a:p>
            <a:pPr marL="12700">
              <a:lnSpc>
                <a:spcPct val="100000"/>
              </a:lnSpc>
              <a:spcBef>
                <a:spcPts val="175"/>
              </a:spcBef>
            </a:pPr>
            <a:r>
              <a:rPr dirty="0"/>
              <a:t>2026</a:t>
            </a:r>
            <a:r>
              <a:rPr spc="15" dirty="0"/>
              <a:t> </a:t>
            </a:r>
            <a:r>
              <a:rPr dirty="0">
                <a:latin typeface="微软雅黑"/>
                <a:cs typeface="微软雅黑"/>
              </a:rPr>
              <a:t>年 </a:t>
            </a:r>
            <a:r>
              <a:rPr dirty="0"/>
              <a:t>3</a:t>
            </a:r>
            <a:r>
              <a:rPr spc="15" dirty="0"/>
              <a:t> </a:t>
            </a:r>
            <a:r>
              <a:rPr spc="5" dirty="0">
                <a:latin typeface="微软雅黑"/>
                <a:cs typeface="微软雅黑"/>
              </a:rPr>
              <a:t>月 </a:t>
            </a:r>
            <a:r>
              <a:rPr dirty="0"/>
              <a:t>9</a:t>
            </a:r>
            <a:r>
              <a:rPr spc="15" dirty="0"/>
              <a:t> </a:t>
            </a:r>
            <a:r>
              <a:rPr spc="-50" dirty="0">
                <a:latin typeface="微软雅黑"/>
                <a:cs typeface="微软雅黑"/>
              </a:rPr>
              <a:t>日</a:t>
            </a:r>
          </a:p>
        </p:txBody>
      </p:sp>
      <p:sp>
        <p:nvSpPr>
          <p:cNvPr id="17" name="object 17"/>
          <p:cNvSpPr txBox="1">
            <a:spLocks noGrp="1"/>
          </p:cNvSpPr>
          <p:nvPr>
            <p:ph type="sldNum" sz="quarter" idx="7"/>
          </p:nvPr>
        </p:nvSpPr>
        <p:spPr>
          <a:prstGeom prst="rect">
            <a:avLst/>
          </a:prstGeom>
        </p:spPr>
        <p:txBody>
          <a:bodyPr vert="horz" wrap="square" lIns="0" tIns="22225" rIns="0" bIns="0" rtlCol="0">
            <a:spAutoFit/>
          </a:bodyPr>
          <a:lstStyle/>
          <a:p>
            <a:pPr marL="38100">
              <a:lnSpc>
                <a:spcPct val="100000"/>
              </a:lnSpc>
              <a:spcBef>
                <a:spcPts val="175"/>
              </a:spcBef>
            </a:pPr>
            <a:fld id="{81D60167-4931-47E6-BA6A-407CBD079E47}" type="slidenum">
              <a:rPr spc="-20" dirty="0"/>
              <a:t>3</a:t>
            </a:fld>
            <a:r>
              <a:rPr spc="-35" dirty="0"/>
              <a:t> </a:t>
            </a:r>
            <a:r>
              <a:rPr dirty="0"/>
              <a:t>/</a:t>
            </a:r>
            <a:r>
              <a:rPr spc="-30" dirty="0"/>
              <a:t> </a:t>
            </a:r>
            <a:r>
              <a:rPr spc="-50" dirty="0"/>
              <a:t>7</a:t>
            </a:r>
          </a:p>
        </p:txBody>
      </p:sp>
      <p:sp>
        <p:nvSpPr>
          <p:cNvPr id="18" name="object 18"/>
          <p:cNvSpPr txBox="1"/>
          <p:nvPr/>
        </p:nvSpPr>
        <p:spPr>
          <a:xfrm>
            <a:off x="2456052" y="3132293"/>
            <a:ext cx="848360" cy="109220"/>
          </a:xfrm>
          <a:prstGeom prst="rect">
            <a:avLst/>
          </a:prstGeom>
        </p:spPr>
        <p:txBody>
          <a:bodyPr vert="horz" wrap="square" lIns="0" tIns="15875" rIns="0" bIns="0" rtlCol="0">
            <a:spAutoFit/>
          </a:bodyPr>
          <a:lstStyle/>
          <a:p>
            <a:pPr marL="12700">
              <a:lnSpc>
                <a:spcPct val="100000"/>
              </a:lnSpc>
              <a:spcBef>
                <a:spcPts val="125"/>
              </a:spcBef>
            </a:pPr>
            <a:r>
              <a:rPr sz="500" spc="-10" dirty="0">
                <a:solidFill>
                  <a:srgbClr val="FFFFFF"/>
                </a:solidFill>
                <a:latin typeface="微软雅黑"/>
                <a:cs typeface="微软雅黑"/>
                <a:hlinkClick r:id="rId3" action="ppaction://hlinksldjump"/>
              </a:rPr>
              <a:t>开题报告：奇异两点边值问</a:t>
            </a:r>
            <a:r>
              <a:rPr sz="500" spc="-50" dirty="0">
                <a:solidFill>
                  <a:srgbClr val="FFFFFF"/>
                </a:solidFill>
                <a:latin typeface="微软雅黑"/>
                <a:cs typeface="微软雅黑"/>
                <a:hlinkClick r:id="rId3" action="ppaction://hlinksldjump"/>
              </a:rPr>
              <a:t>题</a:t>
            </a:r>
            <a:endParaRPr sz="500">
              <a:latin typeface="微软雅黑"/>
              <a:cs typeface="微软雅黑"/>
            </a:endParaRPr>
          </a:p>
        </p:txBody>
      </p:sp>
      <p:sp>
        <p:nvSpPr>
          <p:cNvPr id="9" name="object 9"/>
          <p:cNvSpPr txBox="1"/>
          <p:nvPr/>
        </p:nvSpPr>
        <p:spPr>
          <a:xfrm>
            <a:off x="75395" y="829521"/>
            <a:ext cx="5659755" cy="527067"/>
          </a:xfrm>
          <a:prstGeom prst="rect">
            <a:avLst/>
          </a:prstGeom>
        </p:spPr>
        <p:txBody>
          <a:bodyPr vert="horz" wrap="square" lIns="0" tIns="3810" rIns="0" bIns="0" rtlCol="0">
            <a:spAutoFit/>
          </a:bodyPr>
          <a:lstStyle/>
          <a:p>
            <a:pPr>
              <a:lnSpc>
                <a:spcPct val="100000"/>
              </a:lnSpc>
              <a:spcBef>
                <a:spcPts val="30"/>
              </a:spcBef>
            </a:pPr>
            <a:endParaRPr sz="1400" dirty="0">
              <a:latin typeface="Times New Roman"/>
              <a:cs typeface="Times New Roman"/>
            </a:endParaRPr>
          </a:p>
          <a:p>
            <a:pPr marL="50165" marR="160020">
              <a:lnSpc>
                <a:spcPct val="100000"/>
              </a:lnSpc>
            </a:pPr>
            <a:r>
              <a:rPr sz="1000" spc="-10" dirty="0">
                <a:latin typeface="微软雅黑"/>
                <a:cs typeface="微软雅黑"/>
              </a:rPr>
              <a:t>在最优控制与微分对策理论中，时间不一致性会导致经典的</a:t>
            </a:r>
            <a:r>
              <a:rPr sz="1000" b="1" spc="-10" dirty="0">
                <a:latin typeface="微软雅黑"/>
                <a:cs typeface="微软雅黑"/>
              </a:rPr>
              <a:t>贝尔曼最优性原理失效</a:t>
            </a:r>
            <a:r>
              <a:rPr sz="1000" spc="-10" dirty="0">
                <a:latin typeface="微软雅黑"/>
                <a:cs typeface="微软雅黑"/>
              </a:rPr>
              <a:t>。传统的最优</a:t>
            </a:r>
            <a:r>
              <a:rPr sz="1000" spc="-50" dirty="0">
                <a:latin typeface="微软雅黑"/>
                <a:cs typeface="微软雅黑"/>
              </a:rPr>
              <a:t>控</a:t>
            </a:r>
            <a:r>
              <a:rPr sz="1000" spc="-10" dirty="0">
                <a:latin typeface="微软雅黑"/>
                <a:cs typeface="微软雅黑"/>
              </a:rPr>
              <a:t>制问题必须转化为寻找“子博弈完美纳什均衡策略</a:t>
            </a:r>
            <a:r>
              <a:rPr sz="1000" spc="-280" dirty="0">
                <a:latin typeface="微软雅黑"/>
                <a:cs typeface="微软雅黑"/>
              </a:rPr>
              <a:t>”。</a:t>
            </a:r>
            <a:endParaRPr sz="1000" dirty="0">
              <a:latin typeface="微软雅黑"/>
              <a:cs typeface="微软雅黑"/>
            </a:endParaRPr>
          </a:p>
        </p:txBody>
      </p:sp>
      <p:sp>
        <p:nvSpPr>
          <p:cNvPr id="3" name="object 3"/>
          <p:cNvSpPr/>
          <p:nvPr/>
        </p:nvSpPr>
        <p:spPr>
          <a:xfrm>
            <a:off x="75729" y="790663"/>
            <a:ext cx="5608955" cy="229235"/>
          </a:xfrm>
          <a:custGeom>
            <a:avLst/>
            <a:gdLst/>
            <a:ahLst/>
            <a:cxnLst/>
            <a:rect l="l" t="t" r="r" b="b"/>
            <a:pathLst>
              <a:path w="5608955" h="229234">
                <a:moveTo>
                  <a:pt x="5557820" y="0"/>
                </a:moveTo>
                <a:lnTo>
                  <a:pt x="50800" y="0"/>
                </a:lnTo>
                <a:lnTo>
                  <a:pt x="31075" y="4008"/>
                </a:lnTo>
                <a:lnTo>
                  <a:pt x="14922" y="14922"/>
                </a:lnTo>
                <a:lnTo>
                  <a:pt x="4008" y="31075"/>
                </a:lnTo>
                <a:lnTo>
                  <a:pt x="0" y="50800"/>
                </a:lnTo>
                <a:lnTo>
                  <a:pt x="0" y="228956"/>
                </a:lnTo>
                <a:lnTo>
                  <a:pt x="5608620" y="228956"/>
                </a:lnTo>
                <a:lnTo>
                  <a:pt x="5608620" y="50800"/>
                </a:lnTo>
                <a:lnTo>
                  <a:pt x="5604612" y="31075"/>
                </a:lnTo>
                <a:lnTo>
                  <a:pt x="5593698" y="14922"/>
                </a:lnTo>
                <a:lnTo>
                  <a:pt x="5577545" y="4008"/>
                </a:lnTo>
                <a:lnTo>
                  <a:pt x="5557820" y="0"/>
                </a:lnTo>
                <a:close/>
              </a:path>
            </a:pathLst>
          </a:custGeom>
          <a:solidFill>
            <a:srgbClr val="004A8F"/>
          </a:solidFill>
        </p:spPr>
        <p:txBody>
          <a:bodyPr wrap="square" lIns="0" tIns="0" rIns="0" bIns="0" rtlCol="0"/>
          <a:lstStyle/>
          <a:p>
            <a:endParaRPr/>
          </a:p>
        </p:txBody>
      </p:sp>
      <p:sp>
        <p:nvSpPr>
          <p:cNvPr id="4" name="object 4"/>
          <p:cNvSpPr txBox="1"/>
          <p:nvPr/>
        </p:nvSpPr>
        <p:spPr>
          <a:xfrm>
            <a:off x="126530" y="780995"/>
            <a:ext cx="3709670" cy="222250"/>
          </a:xfrm>
          <a:prstGeom prst="rect">
            <a:avLst/>
          </a:prstGeom>
        </p:spPr>
        <p:txBody>
          <a:bodyPr vert="horz" wrap="square" lIns="0" tIns="22860" rIns="0" bIns="0" rtlCol="0">
            <a:spAutoFit/>
          </a:bodyPr>
          <a:lstStyle/>
          <a:p>
            <a:pPr>
              <a:lnSpc>
                <a:spcPct val="100000"/>
              </a:lnSpc>
              <a:spcBef>
                <a:spcPts val="180"/>
              </a:spcBef>
            </a:pPr>
            <a:r>
              <a:rPr sz="1200" spc="-20" dirty="0">
                <a:solidFill>
                  <a:srgbClr val="FFFFFF"/>
                </a:solidFill>
                <a:latin typeface="微软雅黑"/>
                <a:cs typeface="微软雅黑"/>
              </a:rPr>
              <a:t>核心背景：时间不一致问</a:t>
            </a:r>
            <a:r>
              <a:rPr sz="1200" dirty="0">
                <a:solidFill>
                  <a:srgbClr val="FFFFFF"/>
                </a:solidFill>
                <a:latin typeface="微软雅黑"/>
                <a:cs typeface="微软雅黑"/>
              </a:rPr>
              <a:t>题</a:t>
            </a:r>
            <a:r>
              <a:rPr sz="1200" spc="75" dirty="0">
                <a:solidFill>
                  <a:srgbClr val="FFFFFF"/>
                </a:solidFill>
                <a:latin typeface="微软雅黑"/>
                <a:cs typeface="微软雅黑"/>
              </a:rPr>
              <a:t> </a:t>
            </a:r>
            <a:r>
              <a:rPr sz="1200" spc="-55" dirty="0">
                <a:solidFill>
                  <a:srgbClr val="FFFFFF"/>
                </a:solidFill>
                <a:latin typeface="Arial"/>
                <a:cs typeface="Arial"/>
              </a:rPr>
              <a:t>(Time-</a:t>
            </a:r>
            <a:r>
              <a:rPr sz="1200" spc="-40" dirty="0">
                <a:solidFill>
                  <a:srgbClr val="FFFFFF"/>
                </a:solidFill>
                <a:latin typeface="Arial"/>
                <a:cs typeface="Arial"/>
              </a:rPr>
              <a:t>Inconsistent</a:t>
            </a:r>
            <a:r>
              <a:rPr sz="1200" spc="105" dirty="0">
                <a:solidFill>
                  <a:srgbClr val="FFFFFF"/>
                </a:solidFill>
                <a:latin typeface="Arial"/>
                <a:cs typeface="Arial"/>
              </a:rPr>
              <a:t> </a:t>
            </a:r>
            <a:r>
              <a:rPr sz="1200" spc="-55" dirty="0">
                <a:solidFill>
                  <a:srgbClr val="FFFFFF"/>
                </a:solidFill>
                <a:latin typeface="Arial"/>
                <a:cs typeface="Arial"/>
              </a:rPr>
              <a:t>Problems)</a:t>
            </a:r>
            <a:endParaRPr sz="1200" dirty="0">
              <a:latin typeface="Arial"/>
              <a:cs typeface="Arial"/>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研究意</a:t>
            </a:r>
            <a:r>
              <a:rPr spc="-50" dirty="0"/>
              <a:t>义</a:t>
            </a:r>
          </a:p>
        </p:txBody>
      </p:sp>
      <p:grpSp>
        <p:nvGrpSpPr>
          <p:cNvPr id="5" name="object 5"/>
          <p:cNvGrpSpPr/>
          <p:nvPr/>
        </p:nvGrpSpPr>
        <p:grpSpPr>
          <a:xfrm>
            <a:off x="33068" y="1153312"/>
            <a:ext cx="2906396" cy="1094740"/>
            <a:chOff x="33552" y="1148259"/>
            <a:chExt cx="2906396" cy="1094740"/>
          </a:xfrm>
        </p:grpSpPr>
        <p:sp>
          <p:nvSpPr>
            <p:cNvPr id="7" name="object 7"/>
            <p:cNvSpPr/>
            <p:nvPr/>
          </p:nvSpPr>
          <p:spPr>
            <a:xfrm>
              <a:off x="84353" y="1148259"/>
              <a:ext cx="2855595" cy="1094740"/>
            </a:xfrm>
            <a:custGeom>
              <a:avLst/>
              <a:gdLst/>
              <a:ahLst/>
              <a:cxnLst/>
              <a:rect l="l" t="t" r="r" b="b"/>
              <a:pathLst>
                <a:path w="2855595" h="1094739">
                  <a:moveTo>
                    <a:pt x="2855111" y="0"/>
                  </a:moveTo>
                  <a:lnTo>
                    <a:pt x="0" y="0"/>
                  </a:lnTo>
                  <a:lnTo>
                    <a:pt x="0" y="1094739"/>
                  </a:lnTo>
                  <a:lnTo>
                    <a:pt x="2855111" y="1094739"/>
                  </a:lnTo>
                  <a:lnTo>
                    <a:pt x="2855111" y="0"/>
                  </a:lnTo>
                  <a:close/>
                </a:path>
              </a:pathLst>
            </a:custGeom>
            <a:solidFill>
              <a:schemeClr val="bg1"/>
            </a:solidFill>
          </p:spPr>
          <p:txBody>
            <a:bodyPr wrap="square" lIns="0" tIns="0" rIns="0" bIns="0" rtlCol="0"/>
            <a:lstStyle/>
            <a:p>
              <a:endParaRPr/>
            </a:p>
          </p:txBody>
        </p:sp>
        <p:sp>
          <p:nvSpPr>
            <p:cNvPr id="8" name="object 8"/>
            <p:cNvSpPr/>
            <p:nvPr/>
          </p:nvSpPr>
          <p:spPr>
            <a:xfrm>
              <a:off x="33552" y="1352504"/>
              <a:ext cx="2855595" cy="840105"/>
            </a:xfrm>
            <a:custGeom>
              <a:avLst/>
              <a:gdLst/>
              <a:ahLst/>
              <a:cxnLst/>
              <a:rect l="l" t="t" r="r" b="b"/>
              <a:pathLst>
                <a:path w="2855595" h="840105">
                  <a:moveTo>
                    <a:pt x="2855111" y="0"/>
                  </a:moveTo>
                  <a:lnTo>
                    <a:pt x="0" y="0"/>
                  </a:lnTo>
                  <a:lnTo>
                    <a:pt x="0" y="788893"/>
                  </a:lnTo>
                  <a:lnTo>
                    <a:pt x="4008" y="808618"/>
                  </a:lnTo>
                  <a:lnTo>
                    <a:pt x="14922" y="824771"/>
                  </a:lnTo>
                  <a:lnTo>
                    <a:pt x="31075" y="835685"/>
                  </a:lnTo>
                  <a:lnTo>
                    <a:pt x="50800" y="839694"/>
                  </a:lnTo>
                  <a:lnTo>
                    <a:pt x="2804310" y="839694"/>
                  </a:lnTo>
                  <a:lnTo>
                    <a:pt x="2824035" y="835685"/>
                  </a:lnTo>
                  <a:lnTo>
                    <a:pt x="2840188" y="824771"/>
                  </a:lnTo>
                  <a:lnTo>
                    <a:pt x="2851102" y="808618"/>
                  </a:lnTo>
                  <a:lnTo>
                    <a:pt x="2855111" y="788893"/>
                  </a:lnTo>
                  <a:lnTo>
                    <a:pt x="2855111" y="0"/>
                  </a:lnTo>
                  <a:close/>
                </a:path>
              </a:pathLst>
            </a:custGeom>
            <a:solidFill>
              <a:srgbClr val="EBF2FA"/>
            </a:solidFill>
          </p:spPr>
          <p:txBody>
            <a:bodyPr wrap="square" lIns="0" tIns="0" rIns="0" bIns="0" rtlCol="0"/>
            <a:lstStyle/>
            <a:p>
              <a:endParaRPr/>
            </a:p>
          </p:txBody>
        </p:sp>
        <p:pic>
          <p:nvPicPr>
            <p:cNvPr id="6" name="object 6"/>
            <p:cNvPicPr/>
            <p:nvPr/>
          </p:nvPicPr>
          <p:blipFill>
            <a:blip r:embed="rId2" cstate="print"/>
            <a:stretch>
              <a:fillRect/>
            </a:stretch>
          </p:blipFill>
          <p:spPr>
            <a:xfrm>
              <a:off x="33553" y="1308239"/>
              <a:ext cx="2855110" cy="50609"/>
            </a:xfrm>
            <a:prstGeom prst="rect">
              <a:avLst/>
            </a:prstGeom>
          </p:spPr>
        </p:pic>
      </p:grpSp>
      <p:sp>
        <p:nvSpPr>
          <p:cNvPr id="3" name="object 3"/>
          <p:cNvSpPr/>
          <p:nvPr/>
        </p:nvSpPr>
        <p:spPr>
          <a:xfrm>
            <a:off x="33552" y="1091336"/>
            <a:ext cx="2855595" cy="229870"/>
          </a:xfrm>
          <a:custGeom>
            <a:avLst/>
            <a:gdLst/>
            <a:ahLst/>
            <a:cxnLst/>
            <a:rect l="l" t="t" r="r" b="b"/>
            <a:pathLst>
              <a:path w="2855595" h="229869">
                <a:moveTo>
                  <a:pt x="2804310" y="0"/>
                </a:moveTo>
                <a:lnTo>
                  <a:pt x="50800" y="0"/>
                </a:lnTo>
                <a:lnTo>
                  <a:pt x="31075" y="4008"/>
                </a:lnTo>
                <a:lnTo>
                  <a:pt x="14922" y="14922"/>
                </a:lnTo>
                <a:lnTo>
                  <a:pt x="4008" y="31075"/>
                </a:lnTo>
                <a:lnTo>
                  <a:pt x="0" y="50800"/>
                </a:lnTo>
                <a:lnTo>
                  <a:pt x="0" y="229550"/>
                </a:lnTo>
                <a:lnTo>
                  <a:pt x="2855111" y="229550"/>
                </a:lnTo>
                <a:lnTo>
                  <a:pt x="2855111" y="50800"/>
                </a:lnTo>
                <a:lnTo>
                  <a:pt x="2851102" y="31075"/>
                </a:lnTo>
                <a:lnTo>
                  <a:pt x="2840188" y="14922"/>
                </a:lnTo>
                <a:lnTo>
                  <a:pt x="2824035" y="4008"/>
                </a:lnTo>
                <a:lnTo>
                  <a:pt x="2804310" y="0"/>
                </a:lnTo>
                <a:close/>
              </a:path>
            </a:pathLst>
          </a:custGeom>
          <a:solidFill>
            <a:srgbClr val="003B72"/>
          </a:solidFill>
        </p:spPr>
        <p:txBody>
          <a:bodyPr wrap="square" lIns="0" tIns="0" rIns="0" bIns="0" rtlCol="0"/>
          <a:lstStyle/>
          <a:p>
            <a:endParaRPr/>
          </a:p>
        </p:txBody>
      </p:sp>
      <p:sp>
        <p:nvSpPr>
          <p:cNvPr id="9" name="object 9"/>
          <p:cNvSpPr txBox="1"/>
          <p:nvPr/>
        </p:nvSpPr>
        <p:spPr>
          <a:xfrm>
            <a:off x="172770" y="1345417"/>
            <a:ext cx="2733675" cy="822960"/>
          </a:xfrm>
          <a:prstGeom prst="rect">
            <a:avLst/>
          </a:prstGeom>
        </p:spPr>
        <p:txBody>
          <a:bodyPr vert="horz" wrap="square" lIns="0" tIns="12065" rIns="0" bIns="0" rtlCol="0">
            <a:spAutoFit/>
          </a:bodyPr>
          <a:lstStyle/>
          <a:p>
            <a:pPr marL="164465" marR="156845" indent="-127000">
              <a:lnSpc>
                <a:spcPct val="100000"/>
              </a:lnSpc>
              <a:spcBef>
                <a:spcPts val="95"/>
              </a:spcBef>
              <a:buClr>
                <a:srgbClr val="004A8F"/>
              </a:buClr>
              <a:buFont typeface="Times New Roman"/>
              <a:buChar char="•"/>
              <a:tabLst>
                <a:tab pos="165100" algn="l"/>
              </a:tabLst>
            </a:pPr>
            <a:r>
              <a:rPr sz="1000" spc="-10" dirty="0">
                <a:latin typeface="微软雅黑"/>
                <a:cs typeface="微软雅黑"/>
              </a:rPr>
              <a:t>学术界对两点边值问题高度关注，但在时</a:t>
            </a:r>
            <a:r>
              <a:rPr sz="1000" spc="-50" dirty="0">
                <a:latin typeface="微软雅黑"/>
                <a:cs typeface="微软雅黑"/>
              </a:rPr>
              <a:t>间</a:t>
            </a:r>
            <a:r>
              <a:rPr sz="1000" spc="-10" dirty="0">
                <a:latin typeface="微软雅黑"/>
                <a:cs typeface="微软雅黑"/>
              </a:rPr>
              <a:t>不一致问题下的研究深度仍有局限</a:t>
            </a:r>
            <a:r>
              <a:rPr sz="1000" spc="-50" dirty="0">
                <a:latin typeface="微软雅黑"/>
                <a:cs typeface="微软雅黑"/>
              </a:rPr>
              <a:t>。</a:t>
            </a:r>
            <a:endParaRPr sz="1000" dirty="0">
              <a:latin typeface="微软雅黑"/>
              <a:cs typeface="微软雅黑"/>
            </a:endParaRPr>
          </a:p>
          <a:p>
            <a:pPr marL="164465" marR="30480" indent="-127000">
              <a:lnSpc>
                <a:spcPct val="100000"/>
              </a:lnSpc>
              <a:spcBef>
                <a:spcPts val="290"/>
              </a:spcBef>
              <a:buClr>
                <a:srgbClr val="004A8F"/>
              </a:buClr>
              <a:buFont typeface="Times New Roman"/>
              <a:buChar char="•"/>
              <a:tabLst>
                <a:tab pos="165100" algn="l"/>
              </a:tabLst>
            </a:pPr>
            <a:r>
              <a:rPr sz="1000" spc="-10" dirty="0">
                <a:latin typeface="微软雅黑"/>
                <a:cs typeface="微软雅黑"/>
              </a:rPr>
              <a:t>本文聚焦该特定框架，系统探讨存在唯一性</a:t>
            </a:r>
            <a:r>
              <a:rPr sz="1000" spc="-50" dirty="0">
                <a:latin typeface="微软雅黑"/>
                <a:cs typeface="微软雅黑"/>
              </a:rPr>
              <a:t>，</a:t>
            </a:r>
            <a:r>
              <a:rPr sz="1000" spc="-10" dirty="0">
                <a:latin typeface="微软雅黑"/>
                <a:cs typeface="微软雅黑"/>
              </a:rPr>
              <a:t>旨在弥补当前非标准边界条件研究的不足</a:t>
            </a:r>
            <a:r>
              <a:rPr sz="1000" spc="-50" dirty="0">
                <a:latin typeface="微软雅黑"/>
                <a:cs typeface="微软雅黑"/>
              </a:rPr>
              <a:t>，</a:t>
            </a:r>
            <a:r>
              <a:rPr sz="1000" spc="500" dirty="0">
                <a:latin typeface="微软雅黑"/>
                <a:cs typeface="微软雅黑"/>
              </a:rPr>
              <a:t> </a:t>
            </a:r>
            <a:r>
              <a:rPr sz="1000" spc="-10" dirty="0">
                <a:latin typeface="微软雅黑"/>
                <a:cs typeface="微软雅黑"/>
              </a:rPr>
              <a:t>为控制论与常微分方程理论提供参考</a:t>
            </a:r>
            <a:r>
              <a:rPr sz="1000" spc="-50" dirty="0">
                <a:latin typeface="微软雅黑"/>
                <a:cs typeface="微软雅黑"/>
              </a:rPr>
              <a:t>。</a:t>
            </a:r>
            <a:endParaRPr sz="1000" dirty="0">
              <a:latin typeface="微软雅黑"/>
              <a:cs typeface="微软雅黑"/>
            </a:endParaRPr>
          </a:p>
        </p:txBody>
      </p:sp>
      <p:grpSp>
        <p:nvGrpSpPr>
          <p:cNvPr id="12" name="object 12"/>
          <p:cNvGrpSpPr/>
          <p:nvPr/>
        </p:nvGrpSpPr>
        <p:grpSpPr>
          <a:xfrm>
            <a:off x="2871380" y="1148392"/>
            <a:ext cx="2888615" cy="1094740"/>
            <a:chOff x="2871380" y="1148392"/>
            <a:chExt cx="2888615" cy="1094740"/>
          </a:xfrm>
        </p:grpSpPr>
        <p:sp>
          <p:nvSpPr>
            <p:cNvPr id="14" name="object 14"/>
            <p:cNvSpPr/>
            <p:nvPr/>
          </p:nvSpPr>
          <p:spPr>
            <a:xfrm>
              <a:off x="2922181" y="1148392"/>
              <a:ext cx="2837815" cy="1094740"/>
            </a:xfrm>
            <a:custGeom>
              <a:avLst/>
              <a:gdLst/>
              <a:ahLst/>
              <a:cxnLst/>
              <a:rect l="l" t="t" r="r" b="b"/>
              <a:pathLst>
                <a:path w="2837815" h="1094739">
                  <a:moveTo>
                    <a:pt x="0" y="1094492"/>
                  </a:moveTo>
                  <a:lnTo>
                    <a:pt x="2837776" y="1094492"/>
                  </a:lnTo>
                  <a:lnTo>
                    <a:pt x="2837776" y="0"/>
                  </a:lnTo>
                  <a:lnTo>
                    <a:pt x="0" y="0"/>
                  </a:lnTo>
                  <a:lnTo>
                    <a:pt x="0" y="1094492"/>
                  </a:lnTo>
                  <a:close/>
                </a:path>
              </a:pathLst>
            </a:custGeom>
            <a:solidFill>
              <a:schemeClr val="bg1"/>
            </a:solidFill>
          </p:spPr>
          <p:txBody>
            <a:bodyPr wrap="square" lIns="0" tIns="0" rIns="0" bIns="0" rtlCol="0"/>
            <a:lstStyle/>
            <a:p>
              <a:endParaRPr dirty="0"/>
            </a:p>
          </p:txBody>
        </p:sp>
        <p:pic>
          <p:nvPicPr>
            <p:cNvPr id="13" name="object 13"/>
            <p:cNvPicPr/>
            <p:nvPr/>
          </p:nvPicPr>
          <p:blipFill>
            <a:blip r:embed="rId3" cstate="print"/>
            <a:stretch>
              <a:fillRect/>
            </a:stretch>
          </p:blipFill>
          <p:spPr>
            <a:xfrm>
              <a:off x="2871381" y="1308366"/>
              <a:ext cx="2855110" cy="50609"/>
            </a:xfrm>
            <a:prstGeom prst="rect">
              <a:avLst/>
            </a:prstGeom>
          </p:spPr>
        </p:pic>
        <p:sp>
          <p:nvSpPr>
            <p:cNvPr id="15" name="object 15"/>
            <p:cNvSpPr/>
            <p:nvPr/>
          </p:nvSpPr>
          <p:spPr>
            <a:xfrm>
              <a:off x="2871380" y="1352636"/>
              <a:ext cx="2855595" cy="839469"/>
            </a:xfrm>
            <a:custGeom>
              <a:avLst/>
              <a:gdLst/>
              <a:ahLst/>
              <a:cxnLst/>
              <a:rect l="l" t="t" r="r" b="b"/>
              <a:pathLst>
                <a:path w="2855595" h="839469">
                  <a:moveTo>
                    <a:pt x="2855111" y="0"/>
                  </a:moveTo>
                  <a:lnTo>
                    <a:pt x="0" y="0"/>
                  </a:lnTo>
                  <a:lnTo>
                    <a:pt x="0" y="788646"/>
                  </a:lnTo>
                  <a:lnTo>
                    <a:pt x="4008" y="808371"/>
                  </a:lnTo>
                  <a:lnTo>
                    <a:pt x="14922" y="824524"/>
                  </a:lnTo>
                  <a:lnTo>
                    <a:pt x="31075" y="835438"/>
                  </a:lnTo>
                  <a:lnTo>
                    <a:pt x="50800" y="839447"/>
                  </a:lnTo>
                  <a:lnTo>
                    <a:pt x="2804310" y="839447"/>
                  </a:lnTo>
                  <a:lnTo>
                    <a:pt x="2824035" y="835438"/>
                  </a:lnTo>
                  <a:lnTo>
                    <a:pt x="2840188" y="824524"/>
                  </a:lnTo>
                  <a:lnTo>
                    <a:pt x="2851102" y="808371"/>
                  </a:lnTo>
                  <a:lnTo>
                    <a:pt x="2855111" y="788646"/>
                  </a:lnTo>
                  <a:lnTo>
                    <a:pt x="2855111" y="0"/>
                  </a:lnTo>
                  <a:close/>
                </a:path>
              </a:pathLst>
            </a:custGeom>
            <a:solidFill>
              <a:srgbClr val="EBF2FA"/>
            </a:solidFill>
          </p:spPr>
          <p:txBody>
            <a:bodyPr wrap="square" lIns="0" tIns="0" rIns="0" bIns="0" rtlCol="0"/>
            <a:lstStyle/>
            <a:p>
              <a:endParaRPr/>
            </a:p>
          </p:txBody>
        </p:sp>
      </p:grpSp>
      <p:sp>
        <p:nvSpPr>
          <p:cNvPr id="10" name="object 10"/>
          <p:cNvSpPr/>
          <p:nvPr/>
        </p:nvSpPr>
        <p:spPr>
          <a:xfrm>
            <a:off x="2871380" y="1091462"/>
            <a:ext cx="2855595" cy="229870"/>
          </a:xfrm>
          <a:custGeom>
            <a:avLst/>
            <a:gdLst/>
            <a:ahLst/>
            <a:cxnLst/>
            <a:rect l="l" t="t" r="r" b="b"/>
            <a:pathLst>
              <a:path w="2855595" h="229869">
                <a:moveTo>
                  <a:pt x="2804310" y="0"/>
                </a:moveTo>
                <a:lnTo>
                  <a:pt x="50800" y="0"/>
                </a:lnTo>
                <a:lnTo>
                  <a:pt x="31075" y="4008"/>
                </a:lnTo>
                <a:lnTo>
                  <a:pt x="14922" y="14922"/>
                </a:lnTo>
                <a:lnTo>
                  <a:pt x="4008" y="31075"/>
                </a:lnTo>
                <a:lnTo>
                  <a:pt x="0" y="50800"/>
                </a:lnTo>
                <a:lnTo>
                  <a:pt x="0" y="229550"/>
                </a:lnTo>
                <a:lnTo>
                  <a:pt x="2855111" y="229550"/>
                </a:lnTo>
                <a:lnTo>
                  <a:pt x="2855111" y="50800"/>
                </a:lnTo>
                <a:lnTo>
                  <a:pt x="2851102" y="31075"/>
                </a:lnTo>
                <a:lnTo>
                  <a:pt x="2840188" y="14922"/>
                </a:lnTo>
                <a:lnTo>
                  <a:pt x="2824035" y="4008"/>
                </a:lnTo>
                <a:lnTo>
                  <a:pt x="2804310" y="0"/>
                </a:lnTo>
                <a:close/>
              </a:path>
            </a:pathLst>
          </a:custGeom>
          <a:solidFill>
            <a:srgbClr val="004A8F"/>
          </a:solidFill>
        </p:spPr>
        <p:txBody>
          <a:bodyPr wrap="square" lIns="0" tIns="0" rIns="0" bIns="0" rtlCol="0"/>
          <a:lstStyle/>
          <a:p>
            <a:endParaRPr dirty="0"/>
          </a:p>
        </p:txBody>
      </p:sp>
      <p:sp>
        <p:nvSpPr>
          <p:cNvPr id="11" name="object 11"/>
          <p:cNvSpPr txBox="1"/>
          <p:nvPr/>
        </p:nvSpPr>
        <p:spPr>
          <a:xfrm>
            <a:off x="2922181" y="1082378"/>
            <a:ext cx="1316355" cy="222250"/>
          </a:xfrm>
          <a:prstGeom prst="rect">
            <a:avLst/>
          </a:prstGeom>
        </p:spPr>
        <p:txBody>
          <a:bodyPr vert="horz" wrap="square" lIns="0" tIns="22860" rIns="0" bIns="0" rtlCol="0">
            <a:spAutoFit/>
          </a:bodyPr>
          <a:lstStyle/>
          <a:p>
            <a:pPr>
              <a:lnSpc>
                <a:spcPct val="100000"/>
              </a:lnSpc>
              <a:spcBef>
                <a:spcPts val="180"/>
              </a:spcBef>
            </a:pPr>
            <a:r>
              <a:rPr sz="1200" spc="-20" dirty="0">
                <a:solidFill>
                  <a:srgbClr val="FFFFFF"/>
                </a:solidFill>
                <a:latin typeface="微软雅黑"/>
                <a:cs typeface="微软雅黑"/>
              </a:rPr>
              <a:t>实际意</a:t>
            </a:r>
            <a:r>
              <a:rPr sz="1200" dirty="0">
                <a:solidFill>
                  <a:srgbClr val="FFFFFF"/>
                </a:solidFill>
                <a:latin typeface="微软雅黑"/>
                <a:cs typeface="微软雅黑"/>
              </a:rPr>
              <a:t>义</a:t>
            </a:r>
            <a:r>
              <a:rPr sz="1200" spc="40" dirty="0">
                <a:solidFill>
                  <a:srgbClr val="FFFFFF"/>
                </a:solidFill>
                <a:latin typeface="微软雅黑"/>
                <a:cs typeface="微软雅黑"/>
              </a:rPr>
              <a:t> </a:t>
            </a:r>
            <a:r>
              <a:rPr sz="1200" spc="-30" dirty="0">
                <a:solidFill>
                  <a:srgbClr val="FFFFFF"/>
                </a:solidFill>
                <a:latin typeface="Arial"/>
                <a:cs typeface="Arial"/>
              </a:rPr>
              <a:t>(Practical)</a:t>
            </a:r>
            <a:endParaRPr sz="1200" dirty="0">
              <a:latin typeface="Arial"/>
              <a:cs typeface="Arial"/>
            </a:endParaRPr>
          </a:p>
        </p:txBody>
      </p:sp>
      <p:sp>
        <p:nvSpPr>
          <p:cNvPr id="16" name="object 16"/>
          <p:cNvSpPr txBox="1"/>
          <p:nvPr/>
        </p:nvSpPr>
        <p:spPr>
          <a:xfrm>
            <a:off x="3010598" y="1344795"/>
            <a:ext cx="2607310" cy="822960"/>
          </a:xfrm>
          <a:prstGeom prst="rect">
            <a:avLst/>
          </a:prstGeom>
        </p:spPr>
        <p:txBody>
          <a:bodyPr vert="horz" wrap="square" lIns="0" tIns="12065" rIns="0" bIns="0" rtlCol="0">
            <a:spAutoFit/>
          </a:bodyPr>
          <a:lstStyle/>
          <a:p>
            <a:pPr marL="164465" marR="30480" indent="-127000" algn="just">
              <a:lnSpc>
                <a:spcPct val="100000"/>
              </a:lnSpc>
              <a:spcBef>
                <a:spcPts val="95"/>
              </a:spcBef>
              <a:buClr>
                <a:srgbClr val="004A8F"/>
              </a:buClr>
              <a:buFont typeface="Times New Roman"/>
              <a:buChar char="•"/>
              <a:tabLst>
                <a:tab pos="165100" algn="l"/>
              </a:tabLst>
            </a:pPr>
            <a:r>
              <a:rPr sz="1000" spc="-10" dirty="0">
                <a:latin typeface="微软雅黑"/>
                <a:cs typeface="微软雅黑"/>
              </a:rPr>
              <a:t>时间不一致性是金融与经济学（如政策承</a:t>
            </a:r>
            <a:r>
              <a:rPr sz="1000" spc="-50" dirty="0">
                <a:latin typeface="微软雅黑"/>
                <a:cs typeface="微软雅黑"/>
              </a:rPr>
              <a:t>诺</a:t>
            </a:r>
            <a:r>
              <a:rPr sz="1000" spc="-10" dirty="0">
                <a:latin typeface="微软雅黑"/>
                <a:cs typeface="微软雅黑"/>
              </a:rPr>
              <a:t>与执行的矛盾）中的经典难题</a:t>
            </a:r>
            <a:r>
              <a:rPr sz="1000" spc="-50" dirty="0">
                <a:latin typeface="微软雅黑"/>
                <a:cs typeface="微软雅黑"/>
              </a:rPr>
              <a:t>。</a:t>
            </a:r>
            <a:endParaRPr sz="1000">
              <a:latin typeface="微软雅黑"/>
              <a:cs typeface="微软雅黑"/>
            </a:endParaRPr>
          </a:p>
          <a:p>
            <a:pPr marL="164465" marR="30480" indent="-127000" algn="just">
              <a:lnSpc>
                <a:spcPct val="100000"/>
              </a:lnSpc>
              <a:spcBef>
                <a:spcPts val="290"/>
              </a:spcBef>
              <a:buClr>
                <a:srgbClr val="004A8F"/>
              </a:buClr>
              <a:buFont typeface="Times New Roman"/>
              <a:buChar char="•"/>
              <a:tabLst>
                <a:tab pos="165100" algn="l"/>
              </a:tabLst>
            </a:pPr>
            <a:r>
              <a:rPr sz="1000" spc="-10" dirty="0">
                <a:latin typeface="微软雅黑"/>
                <a:cs typeface="微软雅黑"/>
              </a:rPr>
              <a:t>通过建立系统的数学分析框架并给出数值</a:t>
            </a:r>
            <a:r>
              <a:rPr sz="1000" spc="-50" dirty="0">
                <a:latin typeface="微软雅黑"/>
                <a:cs typeface="微软雅黑"/>
              </a:rPr>
              <a:t>解</a:t>
            </a:r>
            <a:r>
              <a:rPr sz="1000" spc="-10" dirty="0">
                <a:latin typeface="微软雅黑"/>
                <a:cs typeface="微软雅黑"/>
              </a:rPr>
              <a:t>法，为金融经济学中的动态决策和均衡策</a:t>
            </a:r>
            <a:r>
              <a:rPr sz="1000" spc="-50" dirty="0">
                <a:latin typeface="微软雅黑"/>
                <a:cs typeface="微软雅黑"/>
              </a:rPr>
              <a:t>略</a:t>
            </a:r>
            <a:r>
              <a:rPr sz="1000" spc="-10" dirty="0">
                <a:latin typeface="微软雅黑"/>
                <a:cs typeface="微软雅黑"/>
              </a:rPr>
              <a:t>制定提供坚实的数学工具</a:t>
            </a:r>
            <a:r>
              <a:rPr sz="1000" spc="-50" dirty="0">
                <a:latin typeface="微软雅黑"/>
                <a:cs typeface="微软雅黑"/>
              </a:rPr>
              <a:t>。</a:t>
            </a:r>
            <a:endParaRPr sz="1000">
              <a:latin typeface="微软雅黑"/>
              <a:cs typeface="微软雅黑"/>
            </a:endParaRPr>
          </a:p>
        </p:txBody>
      </p:sp>
      <p:grpSp>
        <p:nvGrpSpPr>
          <p:cNvPr id="17" name="object 17"/>
          <p:cNvGrpSpPr/>
          <p:nvPr/>
        </p:nvGrpSpPr>
        <p:grpSpPr>
          <a:xfrm>
            <a:off x="0" y="3148736"/>
            <a:ext cx="5760085" cy="91440"/>
            <a:chOff x="0" y="3148736"/>
            <a:chExt cx="5760085" cy="91440"/>
          </a:xfrm>
        </p:grpSpPr>
        <p:sp>
          <p:nvSpPr>
            <p:cNvPr id="18" name="object 18"/>
            <p:cNvSpPr/>
            <p:nvPr/>
          </p:nvSpPr>
          <p:spPr>
            <a:xfrm>
              <a:off x="0"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2547"/>
            </a:solidFill>
          </p:spPr>
          <p:txBody>
            <a:bodyPr wrap="square" lIns="0" tIns="0" rIns="0" bIns="0" rtlCol="0"/>
            <a:lstStyle/>
            <a:p>
              <a:endParaRPr/>
            </a:p>
          </p:txBody>
        </p:sp>
        <p:sp>
          <p:nvSpPr>
            <p:cNvPr id="19" name="object 19"/>
            <p:cNvSpPr/>
            <p:nvPr/>
          </p:nvSpPr>
          <p:spPr>
            <a:xfrm>
              <a:off x="1919973"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386B"/>
            </a:solidFill>
          </p:spPr>
          <p:txBody>
            <a:bodyPr wrap="square" lIns="0" tIns="0" rIns="0" bIns="0" rtlCol="0"/>
            <a:lstStyle/>
            <a:p>
              <a:endParaRPr/>
            </a:p>
          </p:txBody>
        </p:sp>
        <p:sp>
          <p:nvSpPr>
            <p:cNvPr id="20" name="object 20"/>
            <p:cNvSpPr/>
            <p:nvPr/>
          </p:nvSpPr>
          <p:spPr>
            <a:xfrm>
              <a:off x="3839946"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4A8F"/>
            </a:solidFill>
          </p:spPr>
          <p:txBody>
            <a:bodyPr wrap="square" lIns="0" tIns="0" rIns="0" bIns="0" rtlCol="0"/>
            <a:lstStyle/>
            <a:p>
              <a:endParaRPr/>
            </a:p>
          </p:txBody>
        </p:sp>
      </p:grpSp>
      <p:sp>
        <p:nvSpPr>
          <p:cNvPr id="21" name="object 21"/>
          <p:cNvSpPr txBox="1">
            <a:spLocks noGrp="1"/>
          </p:cNvSpPr>
          <p:nvPr>
            <p:ph type="dt" sz="half" idx="6"/>
          </p:nvPr>
        </p:nvSpPr>
        <p:spPr>
          <a:prstGeom prst="rect">
            <a:avLst/>
          </a:prstGeom>
        </p:spPr>
        <p:txBody>
          <a:bodyPr vert="horz" wrap="square" lIns="0" tIns="22225" rIns="0" bIns="0" rtlCol="0">
            <a:spAutoFit/>
          </a:bodyPr>
          <a:lstStyle/>
          <a:p>
            <a:pPr marL="12700">
              <a:lnSpc>
                <a:spcPct val="100000"/>
              </a:lnSpc>
              <a:spcBef>
                <a:spcPts val="175"/>
              </a:spcBef>
            </a:pPr>
            <a:r>
              <a:rPr spc="-10" dirty="0"/>
              <a:t>邓</a:t>
            </a:r>
            <a:r>
              <a:rPr dirty="0"/>
              <a:t>垚</a:t>
            </a:r>
            <a:r>
              <a:rPr spc="240" dirty="0"/>
              <a:t> </a:t>
            </a:r>
            <a:r>
              <a:rPr dirty="0">
                <a:latin typeface="Century Gothic"/>
                <a:cs typeface="Century Gothic"/>
              </a:rPr>
              <a:t>(</a:t>
            </a:r>
            <a:r>
              <a:rPr spc="-10" dirty="0"/>
              <a:t>贵州大学</a:t>
            </a:r>
            <a:r>
              <a:rPr spc="-50" dirty="0">
                <a:latin typeface="Century Gothic"/>
                <a:cs typeface="Century Gothic"/>
              </a:rPr>
              <a:t>)</a:t>
            </a:r>
          </a:p>
        </p:txBody>
      </p:sp>
      <p:sp>
        <p:nvSpPr>
          <p:cNvPr id="22" name="object 22"/>
          <p:cNvSpPr txBox="1">
            <a:spLocks noGrp="1"/>
          </p:cNvSpPr>
          <p:nvPr>
            <p:ph type="ftr" sz="quarter" idx="5"/>
          </p:nvPr>
        </p:nvSpPr>
        <p:spPr>
          <a:prstGeom prst="rect">
            <a:avLst/>
          </a:prstGeom>
        </p:spPr>
        <p:txBody>
          <a:bodyPr vert="horz" wrap="square" lIns="0" tIns="22225" rIns="0" bIns="0" rtlCol="0">
            <a:spAutoFit/>
          </a:bodyPr>
          <a:lstStyle/>
          <a:p>
            <a:pPr marL="12700">
              <a:lnSpc>
                <a:spcPct val="100000"/>
              </a:lnSpc>
              <a:spcBef>
                <a:spcPts val="175"/>
              </a:spcBef>
            </a:pPr>
            <a:r>
              <a:rPr dirty="0"/>
              <a:t>2026</a:t>
            </a:r>
            <a:r>
              <a:rPr spc="15" dirty="0"/>
              <a:t> </a:t>
            </a:r>
            <a:r>
              <a:rPr dirty="0">
                <a:latin typeface="微软雅黑"/>
                <a:cs typeface="微软雅黑"/>
              </a:rPr>
              <a:t>年 </a:t>
            </a:r>
            <a:r>
              <a:rPr dirty="0"/>
              <a:t>3</a:t>
            </a:r>
            <a:r>
              <a:rPr spc="15" dirty="0"/>
              <a:t> </a:t>
            </a:r>
            <a:r>
              <a:rPr spc="5" dirty="0">
                <a:latin typeface="微软雅黑"/>
                <a:cs typeface="微软雅黑"/>
              </a:rPr>
              <a:t>月 </a:t>
            </a:r>
            <a:r>
              <a:rPr dirty="0"/>
              <a:t>9</a:t>
            </a:r>
            <a:r>
              <a:rPr spc="15" dirty="0"/>
              <a:t> </a:t>
            </a:r>
            <a:r>
              <a:rPr spc="-50" dirty="0">
                <a:latin typeface="微软雅黑"/>
                <a:cs typeface="微软雅黑"/>
              </a:rPr>
              <a:t>日</a:t>
            </a:r>
          </a:p>
        </p:txBody>
      </p:sp>
      <p:sp>
        <p:nvSpPr>
          <p:cNvPr id="23" name="object 23"/>
          <p:cNvSpPr txBox="1">
            <a:spLocks noGrp="1"/>
          </p:cNvSpPr>
          <p:nvPr>
            <p:ph type="sldNum" sz="quarter" idx="7"/>
          </p:nvPr>
        </p:nvSpPr>
        <p:spPr>
          <a:prstGeom prst="rect">
            <a:avLst/>
          </a:prstGeom>
        </p:spPr>
        <p:txBody>
          <a:bodyPr vert="horz" wrap="square" lIns="0" tIns="22225" rIns="0" bIns="0" rtlCol="0">
            <a:spAutoFit/>
          </a:bodyPr>
          <a:lstStyle/>
          <a:p>
            <a:pPr marL="38100">
              <a:lnSpc>
                <a:spcPct val="100000"/>
              </a:lnSpc>
              <a:spcBef>
                <a:spcPts val="175"/>
              </a:spcBef>
            </a:pPr>
            <a:fld id="{81D60167-4931-47E6-BA6A-407CBD079E47}" type="slidenum">
              <a:rPr spc="-20" dirty="0"/>
              <a:t>4</a:t>
            </a:fld>
            <a:r>
              <a:rPr spc="-35" dirty="0"/>
              <a:t> </a:t>
            </a:r>
            <a:r>
              <a:rPr dirty="0"/>
              <a:t>/</a:t>
            </a:r>
            <a:r>
              <a:rPr spc="-30" dirty="0"/>
              <a:t> </a:t>
            </a:r>
            <a:r>
              <a:rPr spc="-50" dirty="0"/>
              <a:t>7</a:t>
            </a:r>
          </a:p>
        </p:txBody>
      </p:sp>
      <p:sp>
        <p:nvSpPr>
          <p:cNvPr id="24" name="object 24"/>
          <p:cNvSpPr txBox="1"/>
          <p:nvPr/>
        </p:nvSpPr>
        <p:spPr>
          <a:xfrm>
            <a:off x="2456052" y="3132293"/>
            <a:ext cx="848360" cy="109220"/>
          </a:xfrm>
          <a:prstGeom prst="rect">
            <a:avLst/>
          </a:prstGeom>
        </p:spPr>
        <p:txBody>
          <a:bodyPr vert="horz" wrap="square" lIns="0" tIns="15875" rIns="0" bIns="0" rtlCol="0">
            <a:spAutoFit/>
          </a:bodyPr>
          <a:lstStyle/>
          <a:p>
            <a:pPr marL="12700">
              <a:lnSpc>
                <a:spcPct val="100000"/>
              </a:lnSpc>
              <a:spcBef>
                <a:spcPts val="125"/>
              </a:spcBef>
            </a:pPr>
            <a:r>
              <a:rPr sz="500" spc="-10" dirty="0">
                <a:solidFill>
                  <a:srgbClr val="FFFFFF"/>
                </a:solidFill>
                <a:latin typeface="微软雅黑"/>
                <a:cs typeface="微软雅黑"/>
                <a:hlinkClick r:id="rId4" action="ppaction://hlinksldjump"/>
              </a:rPr>
              <a:t>开题报告：奇异两点边值问</a:t>
            </a:r>
            <a:r>
              <a:rPr sz="500" spc="-50" dirty="0">
                <a:solidFill>
                  <a:srgbClr val="FFFFFF"/>
                </a:solidFill>
                <a:latin typeface="微软雅黑"/>
                <a:cs typeface="微软雅黑"/>
                <a:hlinkClick r:id="rId4" action="ppaction://hlinksldjump"/>
              </a:rPr>
              <a:t>题</a:t>
            </a:r>
            <a:endParaRPr sz="500">
              <a:latin typeface="微软雅黑"/>
              <a:cs typeface="微软雅黑"/>
            </a:endParaRPr>
          </a:p>
        </p:txBody>
      </p:sp>
      <p:sp>
        <p:nvSpPr>
          <p:cNvPr id="4" name="object 4"/>
          <p:cNvSpPr txBox="1"/>
          <p:nvPr/>
        </p:nvSpPr>
        <p:spPr>
          <a:xfrm>
            <a:off x="84353" y="1082264"/>
            <a:ext cx="1464310" cy="222250"/>
          </a:xfrm>
          <a:prstGeom prst="rect">
            <a:avLst/>
          </a:prstGeom>
        </p:spPr>
        <p:txBody>
          <a:bodyPr vert="horz" wrap="square" lIns="0" tIns="22860" rIns="0" bIns="0" rtlCol="0">
            <a:spAutoFit/>
          </a:bodyPr>
          <a:lstStyle/>
          <a:p>
            <a:pPr>
              <a:lnSpc>
                <a:spcPct val="100000"/>
              </a:lnSpc>
              <a:spcBef>
                <a:spcPts val="180"/>
              </a:spcBef>
            </a:pPr>
            <a:r>
              <a:rPr sz="1200" spc="-20" dirty="0">
                <a:solidFill>
                  <a:srgbClr val="FFFFFF"/>
                </a:solidFill>
                <a:latin typeface="微软雅黑"/>
                <a:cs typeface="微软雅黑"/>
              </a:rPr>
              <a:t>理论意</a:t>
            </a:r>
            <a:r>
              <a:rPr sz="1200" dirty="0">
                <a:solidFill>
                  <a:srgbClr val="FFFFFF"/>
                </a:solidFill>
                <a:latin typeface="微软雅黑"/>
                <a:cs typeface="微软雅黑"/>
              </a:rPr>
              <a:t>义</a:t>
            </a:r>
            <a:r>
              <a:rPr sz="1200" spc="40" dirty="0">
                <a:solidFill>
                  <a:srgbClr val="FFFFFF"/>
                </a:solidFill>
                <a:latin typeface="微软雅黑"/>
                <a:cs typeface="微软雅黑"/>
              </a:rPr>
              <a:t> </a:t>
            </a:r>
            <a:r>
              <a:rPr sz="1200" spc="-40" dirty="0">
                <a:solidFill>
                  <a:srgbClr val="FFFFFF"/>
                </a:solidFill>
                <a:latin typeface="Arial"/>
                <a:cs typeface="Arial"/>
              </a:rPr>
              <a:t>(Theoretical)</a:t>
            </a:r>
            <a:endParaRPr sz="1200" dirty="0">
              <a:latin typeface="Arial"/>
              <a:cs typeface="Arial"/>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979"/>
            <a:ext cx="1301115" cy="244475"/>
          </a:xfrm>
          <a:prstGeom prst="rect">
            <a:avLst/>
          </a:prstGeom>
        </p:spPr>
        <p:txBody>
          <a:bodyPr vert="horz" wrap="square" lIns="0" tIns="17145" rIns="0" bIns="0" rtlCol="0">
            <a:spAutoFit/>
          </a:bodyPr>
          <a:lstStyle/>
          <a:p>
            <a:pPr marL="12700">
              <a:lnSpc>
                <a:spcPct val="100000"/>
              </a:lnSpc>
              <a:spcBef>
                <a:spcPts val="135"/>
              </a:spcBef>
            </a:pPr>
            <a:r>
              <a:rPr dirty="0"/>
              <a:t>国内外研究现</a:t>
            </a:r>
            <a:r>
              <a:rPr spc="-50" dirty="0"/>
              <a:t>状</a:t>
            </a:r>
          </a:p>
        </p:txBody>
      </p:sp>
      <p:sp>
        <p:nvSpPr>
          <p:cNvPr id="3" name="object 3"/>
          <p:cNvSpPr txBox="1"/>
          <p:nvPr/>
        </p:nvSpPr>
        <p:spPr>
          <a:xfrm>
            <a:off x="88430" y="835411"/>
            <a:ext cx="5583555" cy="1586230"/>
          </a:xfrm>
          <a:prstGeom prst="rect">
            <a:avLst/>
          </a:prstGeom>
        </p:spPr>
        <p:txBody>
          <a:bodyPr vert="horz" wrap="square" lIns="0" tIns="12065" rIns="0" bIns="0" rtlCol="0">
            <a:spAutoFit/>
          </a:bodyPr>
          <a:lstStyle/>
          <a:p>
            <a:pPr marL="38100">
              <a:lnSpc>
                <a:spcPct val="100000"/>
              </a:lnSpc>
              <a:spcBef>
                <a:spcPts val="95"/>
              </a:spcBef>
            </a:pPr>
            <a:r>
              <a:rPr sz="1000" spc="-10" dirty="0">
                <a:latin typeface="微软雅黑"/>
                <a:cs typeface="微软雅黑"/>
              </a:rPr>
              <a:t>该领域属于当前国际控制论与应用数学界最前沿且极具挑战的核心难题</a:t>
            </a:r>
            <a:r>
              <a:rPr sz="1000" spc="-50" dirty="0">
                <a:latin typeface="微软雅黑"/>
                <a:cs typeface="微软雅黑"/>
              </a:rPr>
              <a:t>：</a:t>
            </a:r>
            <a:endParaRPr sz="1000">
              <a:latin typeface="微软雅黑"/>
              <a:cs typeface="微软雅黑"/>
            </a:endParaRPr>
          </a:p>
          <a:p>
            <a:pPr marL="290830" marR="30480" indent="-127000">
              <a:lnSpc>
                <a:spcPct val="100000"/>
              </a:lnSpc>
              <a:spcBef>
                <a:spcPts val="1145"/>
              </a:spcBef>
              <a:buFont typeface="Times New Roman"/>
              <a:buChar char="•"/>
              <a:tabLst>
                <a:tab pos="291465" algn="l"/>
              </a:tabLst>
            </a:pPr>
            <a:r>
              <a:rPr sz="1000" b="1" spc="-10" dirty="0">
                <a:solidFill>
                  <a:srgbClr val="004A8F"/>
                </a:solidFill>
                <a:latin typeface="微软雅黑"/>
                <a:cs typeface="微软雅黑"/>
              </a:rPr>
              <a:t>历史启蒙</a:t>
            </a:r>
            <a:r>
              <a:rPr sz="1000" b="1" spc="-30" dirty="0">
                <a:solidFill>
                  <a:srgbClr val="004A8F"/>
                </a:solidFill>
                <a:latin typeface="微软雅黑"/>
                <a:cs typeface="微软雅黑"/>
              </a:rPr>
              <a:t>： </a:t>
            </a:r>
            <a:r>
              <a:rPr sz="1000" dirty="0">
                <a:latin typeface="Tahoma"/>
                <a:cs typeface="Tahoma"/>
              </a:rPr>
              <a:t>Strotz</a:t>
            </a:r>
            <a:r>
              <a:rPr sz="1000" spc="-35" dirty="0">
                <a:latin typeface="Tahoma"/>
                <a:cs typeface="Tahoma"/>
              </a:rPr>
              <a:t> </a:t>
            </a:r>
            <a:r>
              <a:rPr sz="1000" spc="-25" dirty="0">
                <a:latin typeface="Tahoma"/>
                <a:cs typeface="Tahoma"/>
              </a:rPr>
              <a:t>(1955)</a:t>
            </a:r>
            <a:r>
              <a:rPr sz="1000" spc="-30" dirty="0">
                <a:latin typeface="Tahoma"/>
                <a:cs typeface="Tahoma"/>
              </a:rPr>
              <a:t> </a:t>
            </a:r>
            <a:r>
              <a:rPr sz="1000" spc="-10" dirty="0">
                <a:latin typeface="微软雅黑"/>
                <a:cs typeface="微软雅黑"/>
              </a:rPr>
              <a:t>在经济学中提出时间不一致概念</a:t>
            </a:r>
            <a:r>
              <a:rPr sz="1000" spc="-30" dirty="0">
                <a:latin typeface="微软雅黑"/>
                <a:cs typeface="微软雅黑"/>
              </a:rPr>
              <a:t>；</a:t>
            </a:r>
            <a:r>
              <a:rPr sz="1000" spc="-30" dirty="0">
                <a:latin typeface="Tahoma"/>
                <a:cs typeface="Tahoma"/>
              </a:rPr>
              <a:t>Pardoux</a:t>
            </a:r>
            <a:r>
              <a:rPr sz="1000" spc="-35" dirty="0">
                <a:latin typeface="Tahoma"/>
                <a:cs typeface="Tahoma"/>
              </a:rPr>
              <a:t> </a:t>
            </a:r>
            <a:r>
              <a:rPr sz="1000" spc="80" dirty="0">
                <a:latin typeface="Tahoma"/>
                <a:cs typeface="Tahoma"/>
              </a:rPr>
              <a:t>&amp;</a:t>
            </a:r>
            <a:r>
              <a:rPr sz="1000" spc="-30" dirty="0">
                <a:latin typeface="Tahoma"/>
                <a:cs typeface="Tahoma"/>
              </a:rPr>
              <a:t> </a:t>
            </a:r>
            <a:r>
              <a:rPr sz="1000" spc="-25" dirty="0">
                <a:latin typeface="Tahoma"/>
                <a:cs typeface="Tahoma"/>
              </a:rPr>
              <a:t>Peng</a:t>
            </a:r>
            <a:r>
              <a:rPr sz="1000" spc="-35" dirty="0">
                <a:latin typeface="Tahoma"/>
                <a:cs typeface="Tahoma"/>
              </a:rPr>
              <a:t> </a:t>
            </a:r>
            <a:r>
              <a:rPr sz="1000" spc="-25" dirty="0">
                <a:latin typeface="Tahoma"/>
                <a:cs typeface="Tahoma"/>
              </a:rPr>
              <a:t>(1990)</a:t>
            </a:r>
            <a:r>
              <a:rPr sz="1000" spc="-30" dirty="0">
                <a:latin typeface="Tahoma"/>
                <a:cs typeface="Tahoma"/>
              </a:rPr>
              <a:t> </a:t>
            </a:r>
            <a:r>
              <a:rPr sz="1000" spc="-10" dirty="0">
                <a:latin typeface="微软雅黑"/>
                <a:cs typeface="微软雅黑"/>
              </a:rPr>
              <a:t>的倒向随</a:t>
            </a:r>
            <a:r>
              <a:rPr sz="1000" spc="-50" dirty="0">
                <a:latin typeface="微软雅黑"/>
                <a:cs typeface="微软雅黑"/>
              </a:rPr>
              <a:t>机</a:t>
            </a:r>
            <a:r>
              <a:rPr sz="1000" spc="-10" dirty="0">
                <a:latin typeface="微软雅黑"/>
                <a:cs typeface="微软雅黑"/>
              </a:rPr>
              <a:t>微分方</a:t>
            </a:r>
            <a:r>
              <a:rPr sz="1000" dirty="0">
                <a:latin typeface="微软雅黑"/>
                <a:cs typeface="微软雅黑"/>
              </a:rPr>
              <a:t>程</a:t>
            </a:r>
            <a:r>
              <a:rPr sz="1000" spc="90" dirty="0">
                <a:latin typeface="微软雅黑"/>
                <a:cs typeface="微软雅黑"/>
              </a:rPr>
              <a:t> </a:t>
            </a:r>
            <a:r>
              <a:rPr sz="1000" dirty="0">
                <a:latin typeface="Tahoma"/>
                <a:cs typeface="Tahoma"/>
              </a:rPr>
              <a:t>(BSDE)</a:t>
            </a:r>
            <a:r>
              <a:rPr sz="1000" spc="75" dirty="0">
                <a:latin typeface="Tahoma"/>
                <a:cs typeface="Tahoma"/>
              </a:rPr>
              <a:t> </a:t>
            </a:r>
            <a:r>
              <a:rPr sz="1000" spc="-10" dirty="0">
                <a:latin typeface="微软雅黑"/>
                <a:cs typeface="微软雅黑"/>
              </a:rPr>
              <a:t>理论奠定基础</a:t>
            </a:r>
            <a:r>
              <a:rPr sz="1000" spc="-50" dirty="0">
                <a:latin typeface="微软雅黑"/>
                <a:cs typeface="微软雅黑"/>
              </a:rPr>
              <a:t>。</a:t>
            </a:r>
            <a:endParaRPr sz="1000">
              <a:latin typeface="微软雅黑"/>
              <a:cs typeface="微软雅黑"/>
            </a:endParaRPr>
          </a:p>
          <a:p>
            <a:pPr marL="290830" indent="-127000">
              <a:lnSpc>
                <a:spcPts val="1200"/>
              </a:lnSpc>
              <a:spcBef>
                <a:spcPts val="290"/>
              </a:spcBef>
              <a:buFont typeface="Times New Roman"/>
              <a:buChar char="•"/>
              <a:tabLst>
                <a:tab pos="291465" algn="l"/>
              </a:tabLst>
            </a:pPr>
            <a:r>
              <a:rPr sz="1000" b="1" spc="-10" dirty="0">
                <a:solidFill>
                  <a:srgbClr val="004A8F"/>
                </a:solidFill>
                <a:latin typeface="微软雅黑"/>
                <a:cs typeface="微软雅黑"/>
              </a:rPr>
              <a:t>划时代突破</a:t>
            </a:r>
            <a:r>
              <a:rPr sz="1000" b="1" spc="10" dirty="0">
                <a:solidFill>
                  <a:srgbClr val="004A8F"/>
                </a:solidFill>
                <a:latin typeface="微软雅黑"/>
                <a:cs typeface="微软雅黑"/>
              </a:rPr>
              <a:t>： </a:t>
            </a:r>
            <a:r>
              <a:rPr sz="1000" spc="-10" dirty="0">
                <a:latin typeface="微软雅黑"/>
                <a:cs typeface="微软雅黑"/>
              </a:rPr>
              <a:t>雍炯</a:t>
            </a:r>
            <a:r>
              <a:rPr sz="1000" dirty="0">
                <a:latin typeface="微软雅黑"/>
                <a:cs typeface="微软雅黑"/>
              </a:rPr>
              <a:t>敏</a:t>
            </a:r>
            <a:r>
              <a:rPr sz="1000" spc="30" dirty="0">
                <a:latin typeface="微软雅黑"/>
                <a:cs typeface="微软雅黑"/>
              </a:rPr>
              <a:t> </a:t>
            </a:r>
            <a:r>
              <a:rPr sz="1000" spc="-25" dirty="0">
                <a:latin typeface="Tahoma"/>
                <a:cs typeface="Tahoma"/>
              </a:rPr>
              <a:t>(2012)</a:t>
            </a:r>
            <a:r>
              <a:rPr sz="1000" spc="10" dirty="0">
                <a:latin typeface="Tahoma"/>
                <a:cs typeface="Tahoma"/>
              </a:rPr>
              <a:t> </a:t>
            </a:r>
            <a:r>
              <a:rPr sz="1000" spc="-10" dirty="0">
                <a:latin typeface="微软雅黑"/>
                <a:cs typeface="微软雅黑"/>
              </a:rPr>
              <a:t>揭示了时间不一</a:t>
            </a:r>
            <a:r>
              <a:rPr sz="1000" dirty="0">
                <a:latin typeface="微软雅黑"/>
                <a:cs typeface="微软雅黑"/>
              </a:rPr>
              <a:t>致</a:t>
            </a:r>
            <a:r>
              <a:rPr sz="1000" spc="30" dirty="0">
                <a:latin typeface="微软雅黑"/>
                <a:cs typeface="微软雅黑"/>
              </a:rPr>
              <a:t> </a:t>
            </a:r>
            <a:r>
              <a:rPr sz="1000" dirty="0">
                <a:latin typeface="Tahoma"/>
                <a:cs typeface="Tahoma"/>
              </a:rPr>
              <a:t>LQ</a:t>
            </a:r>
            <a:r>
              <a:rPr sz="1000" spc="10" dirty="0">
                <a:latin typeface="Tahoma"/>
                <a:cs typeface="Tahoma"/>
              </a:rPr>
              <a:t> </a:t>
            </a:r>
            <a:r>
              <a:rPr sz="1000" spc="-10" dirty="0">
                <a:latin typeface="微软雅黑"/>
                <a:cs typeface="微软雅黑"/>
              </a:rPr>
              <a:t>问题的均衡条件导出的是</a:t>
            </a:r>
            <a:r>
              <a:rPr sz="1000" b="1" spc="-10" dirty="0">
                <a:latin typeface="微软雅黑"/>
                <a:cs typeface="微软雅黑"/>
              </a:rPr>
              <a:t>非标准</a:t>
            </a:r>
            <a:r>
              <a:rPr sz="1000" b="1" dirty="0">
                <a:latin typeface="微软雅黑"/>
                <a:cs typeface="微软雅黑"/>
              </a:rPr>
              <a:t>的</a:t>
            </a:r>
            <a:r>
              <a:rPr sz="1000" b="1" spc="55" dirty="0">
                <a:latin typeface="微软雅黑"/>
                <a:cs typeface="微软雅黑"/>
              </a:rPr>
              <a:t> </a:t>
            </a:r>
            <a:r>
              <a:rPr sz="1000" spc="-10" dirty="0">
                <a:latin typeface="Arial Black"/>
                <a:cs typeface="Arial Black"/>
              </a:rPr>
              <a:t>Riccati</a:t>
            </a:r>
            <a:endParaRPr sz="1000">
              <a:latin typeface="Arial Black"/>
              <a:cs typeface="Arial Black"/>
            </a:endParaRPr>
          </a:p>
          <a:p>
            <a:pPr marL="290830">
              <a:lnSpc>
                <a:spcPts val="1200"/>
              </a:lnSpc>
            </a:pPr>
            <a:r>
              <a:rPr sz="1000" b="1" spc="-10" dirty="0">
                <a:latin typeface="微软雅黑"/>
                <a:cs typeface="微软雅黑"/>
              </a:rPr>
              <a:t>微分方程</a:t>
            </a:r>
            <a:r>
              <a:rPr sz="1000" spc="-50" dirty="0">
                <a:latin typeface="微软雅黑"/>
                <a:cs typeface="微软雅黑"/>
              </a:rPr>
              <a:t>。</a:t>
            </a:r>
            <a:endParaRPr sz="1000">
              <a:latin typeface="微软雅黑"/>
              <a:cs typeface="微软雅黑"/>
            </a:endParaRPr>
          </a:p>
          <a:p>
            <a:pPr marL="290830" indent="-127000">
              <a:lnSpc>
                <a:spcPct val="100000"/>
              </a:lnSpc>
              <a:spcBef>
                <a:spcPts val="195"/>
              </a:spcBef>
              <a:buFont typeface="Times New Roman"/>
              <a:buChar char="•"/>
              <a:tabLst>
                <a:tab pos="291465" algn="l"/>
              </a:tabLst>
            </a:pPr>
            <a:r>
              <a:rPr sz="1000" b="1" spc="-10" dirty="0">
                <a:solidFill>
                  <a:srgbClr val="004A8F"/>
                </a:solidFill>
                <a:latin typeface="微软雅黑"/>
                <a:cs typeface="微软雅黑"/>
              </a:rPr>
              <a:t>近期进</a:t>
            </a:r>
            <a:r>
              <a:rPr sz="1000" b="1" dirty="0">
                <a:solidFill>
                  <a:srgbClr val="004A8F"/>
                </a:solidFill>
                <a:latin typeface="微软雅黑"/>
                <a:cs typeface="微软雅黑"/>
              </a:rPr>
              <a:t>展</a:t>
            </a:r>
            <a:r>
              <a:rPr sz="1000" b="1" spc="90" dirty="0">
                <a:solidFill>
                  <a:srgbClr val="004A8F"/>
                </a:solidFill>
                <a:latin typeface="微软雅黑"/>
                <a:cs typeface="微软雅黑"/>
              </a:rPr>
              <a:t> </a:t>
            </a:r>
            <a:r>
              <a:rPr sz="1000" spc="-85" dirty="0">
                <a:solidFill>
                  <a:srgbClr val="004A8F"/>
                </a:solidFill>
                <a:latin typeface="Arial Black"/>
                <a:cs typeface="Arial Black"/>
              </a:rPr>
              <a:t>(2017-</a:t>
            </a:r>
            <a:r>
              <a:rPr sz="1000" spc="-10" dirty="0">
                <a:solidFill>
                  <a:srgbClr val="004A8F"/>
                </a:solidFill>
                <a:latin typeface="Arial Black"/>
                <a:cs typeface="Arial Black"/>
              </a:rPr>
              <a:t>2023)</a:t>
            </a:r>
            <a:r>
              <a:rPr sz="1000" b="1" spc="-10" dirty="0">
                <a:solidFill>
                  <a:srgbClr val="004A8F"/>
                </a:solidFill>
                <a:latin typeface="微软雅黑"/>
                <a:cs typeface="微软雅黑"/>
              </a:rPr>
              <a:t>：</a:t>
            </a:r>
            <a:endParaRPr sz="1000">
              <a:latin typeface="微软雅黑"/>
              <a:cs typeface="微软雅黑"/>
            </a:endParaRPr>
          </a:p>
          <a:p>
            <a:pPr marL="544195" lvl="1" indent="-121920">
              <a:lnSpc>
                <a:spcPct val="100000"/>
              </a:lnSpc>
              <a:spcBef>
                <a:spcPts val="195"/>
              </a:spcBef>
              <a:buClr>
                <a:srgbClr val="004A8F"/>
              </a:buClr>
              <a:buFont typeface="DejaVu Serif"/>
              <a:buChar char="•"/>
              <a:tabLst>
                <a:tab pos="544195" algn="l"/>
              </a:tabLst>
            </a:pPr>
            <a:r>
              <a:rPr sz="900" dirty="0">
                <a:latin typeface="Arial"/>
                <a:cs typeface="Arial"/>
              </a:rPr>
              <a:t>Wei,</a:t>
            </a:r>
            <a:r>
              <a:rPr sz="900" spc="-10" dirty="0">
                <a:latin typeface="Arial"/>
                <a:cs typeface="Arial"/>
              </a:rPr>
              <a:t> </a:t>
            </a:r>
            <a:r>
              <a:rPr sz="900" spc="-20" dirty="0">
                <a:latin typeface="Arial"/>
                <a:cs typeface="Arial"/>
              </a:rPr>
              <a:t>Yong,</a:t>
            </a:r>
            <a:r>
              <a:rPr sz="900" spc="-5" dirty="0">
                <a:latin typeface="Arial"/>
                <a:cs typeface="Arial"/>
              </a:rPr>
              <a:t> </a:t>
            </a:r>
            <a:r>
              <a:rPr sz="900" dirty="0">
                <a:latin typeface="Arial"/>
                <a:cs typeface="Arial"/>
              </a:rPr>
              <a:t>Yu</a:t>
            </a:r>
            <a:r>
              <a:rPr sz="900" spc="-10" dirty="0">
                <a:latin typeface="Arial"/>
                <a:cs typeface="Arial"/>
              </a:rPr>
              <a:t> </a:t>
            </a:r>
            <a:r>
              <a:rPr sz="900" dirty="0">
                <a:latin typeface="Arial"/>
                <a:cs typeface="Arial"/>
              </a:rPr>
              <a:t>(2017)</a:t>
            </a:r>
            <a:r>
              <a:rPr sz="900" spc="-5" dirty="0">
                <a:latin typeface="Arial"/>
                <a:cs typeface="Arial"/>
              </a:rPr>
              <a:t> </a:t>
            </a:r>
            <a:r>
              <a:rPr sz="900" spc="-10" dirty="0">
                <a:latin typeface="微软雅黑"/>
                <a:cs typeface="微软雅黑"/>
              </a:rPr>
              <a:t>证明了广</a:t>
            </a:r>
            <a:r>
              <a:rPr sz="900" dirty="0">
                <a:latin typeface="微软雅黑"/>
                <a:cs typeface="微软雅黑"/>
              </a:rPr>
              <a:t>义</a:t>
            </a:r>
            <a:r>
              <a:rPr sz="900" spc="-20" dirty="0">
                <a:latin typeface="微软雅黑"/>
                <a:cs typeface="微软雅黑"/>
              </a:rPr>
              <a:t> </a:t>
            </a:r>
            <a:r>
              <a:rPr sz="900" dirty="0">
                <a:latin typeface="Arial"/>
                <a:cs typeface="Arial"/>
              </a:rPr>
              <a:t>Riccati</a:t>
            </a:r>
            <a:r>
              <a:rPr sz="900" spc="-10" dirty="0">
                <a:latin typeface="Arial"/>
                <a:cs typeface="Arial"/>
              </a:rPr>
              <a:t> </a:t>
            </a:r>
            <a:r>
              <a:rPr sz="900" spc="-10" dirty="0">
                <a:latin typeface="微软雅黑"/>
                <a:cs typeface="微软雅黑"/>
              </a:rPr>
              <a:t>边值方程全局解的存在唯一性</a:t>
            </a:r>
            <a:r>
              <a:rPr sz="900" spc="-50" dirty="0">
                <a:latin typeface="微软雅黑"/>
                <a:cs typeface="微软雅黑"/>
              </a:rPr>
              <a:t>。</a:t>
            </a:r>
            <a:endParaRPr sz="900">
              <a:latin typeface="微软雅黑"/>
              <a:cs typeface="微软雅黑"/>
            </a:endParaRPr>
          </a:p>
          <a:p>
            <a:pPr marL="544195" lvl="1" indent="-121920">
              <a:lnSpc>
                <a:spcPct val="100000"/>
              </a:lnSpc>
              <a:spcBef>
                <a:spcPts val="15"/>
              </a:spcBef>
              <a:buClr>
                <a:srgbClr val="004A8F"/>
              </a:buClr>
              <a:buFont typeface="DejaVu Serif"/>
              <a:buChar char="•"/>
              <a:tabLst>
                <a:tab pos="544195" algn="l"/>
              </a:tabLst>
            </a:pPr>
            <a:r>
              <a:rPr sz="900" spc="-10" dirty="0">
                <a:latin typeface="微软雅黑"/>
                <a:cs typeface="微软雅黑"/>
              </a:rPr>
              <a:t>吴臻团队、李娟团队推广了“解耦场”理论，利用“弱单调性条件”处理非局部生成元的非标</a:t>
            </a:r>
            <a:r>
              <a:rPr sz="900" spc="-50" dirty="0">
                <a:latin typeface="微软雅黑"/>
                <a:cs typeface="微软雅黑"/>
              </a:rPr>
              <a:t>准</a:t>
            </a:r>
            <a:endParaRPr sz="900">
              <a:latin typeface="微软雅黑"/>
              <a:cs typeface="微软雅黑"/>
            </a:endParaRPr>
          </a:p>
          <a:p>
            <a:pPr marL="544195">
              <a:lnSpc>
                <a:spcPct val="100000"/>
              </a:lnSpc>
              <a:spcBef>
                <a:spcPts val="15"/>
              </a:spcBef>
            </a:pPr>
            <a:r>
              <a:rPr sz="900" spc="-50" dirty="0">
                <a:latin typeface="Arial"/>
                <a:cs typeface="Arial"/>
              </a:rPr>
              <a:t>FBSDEs</a:t>
            </a:r>
            <a:r>
              <a:rPr sz="900" spc="-50" dirty="0">
                <a:latin typeface="微软雅黑"/>
                <a:cs typeface="微软雅黑"/>
              </a:rPr>
              <a:t>。</a:t>
            </a:r>
            <a:endParaRPr sz="900">
              <a:latin typeface="微软雅黑"/>
              <a:cs typeface="微软雅黑"/>
            </a:endParaRPr>
          </a:p>
        </p:txBody>
      </p:sp>
      <p:grpSp>
        <p:nvGrpSpPr>
          <p:cNvPr id="4" name="object 4"/>
          <p:cNvGrpSpPr/>
          <p:nvPr/>
        </p:nvGrpSpPr>
        <p:grpSpPr>
          <a:xfrm>
            <a:off x="0" y="3148736"/>
            <a:ext cx="5760085" cy="91440"/>
            <a:chOff x="0" y="3148736"/>
            <a:chExt cx="5760085" cy="91440"/>
          </a:xfrm>
        </p:grpSpPr>
        <p:sp>
          <p:nvSpPr>
            <p:cNvPr id="5" name="object 5"/>
            <p:cNvSpPr/>
            <p:nvPr/>
          </p:nvSpPr>
          <p:spPr>
            <a:xfrm>
              <a:off x="0"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2547"/>
            </a:solidFill>
          </p:spPr>
          <p:txBody>
            <a:bodyPr wrap="square" lIns="0" tIns="0" rIns="0" bIns="0" rtlCol="0"/>
            <a:lstStyle/>
            <a:p>
              <a:endParaRPr/>
            </a:p>
          </p:txBody>
        </p:sp>
        <p:sp>
          <p:nvSpPr>
            <p:cNvPr id="6" name="object 6"/>
            <p:cNvSpPr/>
            <p:nvPr/>
          </p:nvSpPr>
          <p:spPr>
            <a:xfrm>
              <a:off x="1919973"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386B"/>
            </a:solidFill>
          </p:spPr>
          <p:txBody>
            <a:bodyPr wrap="square" lIns="0" tIns="0" rIns="0" bIns="0" rtlCol="0"/>
            <a:lstStyle/>
            <a:p>
              <a:endParaRPr/>
            </a:p>
          </p:txBody>
        </p:sp>
        <p:sp>
          <p:nvSpPr>
            <p:cNvPr id="7" name="object 7"/>
            <p:cNvSpPr/>
            <p:nvPr/>
          </p:nvSpPr>
          <p:spPr>
            <a:xfrm>
              <a:off x="3839946"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4A8F"/>
            </a:solidFill>
          </p:spPr>
          <p:txBody>
            <a:bodyPr wrap="square" lIns="0" tIns="0" rIns="0" bIns="0" rtlCol="0"/>
            <a:lstStyle/>
            <a:p>
              <a:endParaRPr/>
            </a:p>
          </p:txBody>
        </p:sp>
      </p:grpSp>
      <p:sp>
        <p:nvSpPr>
          <p:cNvPr id="8" name="object 8"/>
          <p:cNvSpPr txBox="1">
            <a:spLocks noGrp="1"/>
          </p:cNvSpPr>
          <p:nvPr>
            <p:ph type="dt" sz="half" idx="6"/>
          </p:nvPr>
        </p:nvSpPr>
        <p:spPr>
          <a:prstGeom prst="rect">
            <a:avLst/>
          </a:prstGeom>
        </p:spPr>
        <p:txBody>
          <a:bodyPr vert="horz" wrap="square" lIns="0" tIns="22225" rIns="0" bIns="0" rtlCol="0">
            <a:spAutoFit/>
          </a:bodyPr>
          <a:lstStyle/>
          <a:p>
            <a:pPr marL="12700">
              <a:lnSpc>
                <a:spcPct val="100000"/>
              </a:lnSpc>
              <a:spcBef>
                <a:spcPts val="175"/>
              </a:spcBef>
            </a:pPr>
            <a:r>
              <a:rPr spc="-10" dirty="0"/>
              <a:t>邓</a:t>
            </a:r>
            <a:r>
              <a:rPr dirty="0"/>
              <a:t>垚</a:t>
            </a:r>
            <a:r>
              <a:rPr spc="240" dirty="0"/>
              <a:t> </a:t>
            </a:r>
            <a:r>
              <a:rPr dirty="0">
                <a:latin typeface="Century Gothic"/>
                <a:cs typeface="Century Gothic"/>
              </a:rPr>
              <a:t>(</a:t>
            </a:r>
            <a:r>
              <a:rPr spc="-10" dirty="0"/>
              <a:t>贵州大学</a:t>
            </a:r>
            <a:r>
              <a:rPr spc="-50" dirty="0">
                <a:latin typeface="Century Gothic"/>
                <a:cs typeface="Century Gothic"/>
              </a:rPr>
              <a:t>)</a:t>
            </a:r>
          </a:p>
        </p:txBody>
      </p:sp>
      <p:sp>
        <p:nvSpPr>
          <p:cNvPr id="9" name="object 9"/>
          <p:cNvSpPr txBox="1">
            <a:spLocks noGrp="1"/>
          </p:cNvSpPr>
          <p:nvPr>
            <p:ph type="ftr" sz="quarter" idx="5"/>
          </p:nvPr>
        </p:nvSpPr>
        <p:spPr>
          <a:prstGeom prst="rect">
            <a:avLst/>
          </a:prstGeom>
        </p:spPr>
        <p:txBody>
          <a:bodyPr vert="horz" wrap="square" lIns="0" tIns="22225" rIns="0" bIns="0" rtlCol="0">
            <a:spAutoFit/>
          </a:bodyPr>
          <a:lstStyle/>
          <a:p>
            <a:pPr marL="12700">
              <a:lnSpc>
                <a:spcPct val="100000"/>
              </a:lnSpc>
              <a:spcBef>
                <a:spcPts val="175"/>
              </a:spcBef>
            </a:pPr>
            <a:r>
              <a:rPr dirty="0"/>
              <a:t>2026</a:t>
            </a:r>
            <a:r>
              <a:rPr spc="15" dirty="0"/>
              <a:t> </a:t>
            </a:r>
            <a:r>
              <a:rPr dirty="0">
                <a:latin typeface="微软雅黑"/>
                <a:cs typeface="微软雅黑"/>
              </a:rPr>
              <a:t>年 </a:t>
            </a:r>
            <a:r>
              <a:rPr dirty="0"/>
              <a:t>3</a:t>
            </a:r>
            <a:r>
              <a:rPr spc="15" dirty="0"/>
              <a:t> </a:t>
            </a:r>
            <a:r>
              <a:rPr spc="5" dirty="0">
                <a:latin typeface="微软雅黑"/>
                <a:cs typeface="微软雅黑"/>
              </a:rPr>
              <a:t>月 </a:t>
            </a:r>
            <a:r>
              <a:rPr dirty="0"/>
              <a:t>9</a:t>
            </a:r>
            <a:r>
              <a:rPr spc="15" dirty="0"/>
              <a:t> </a:t>
            </a:r>
            <a:r>
              <a:rPr spc="-50" dirty="0">
                <a:latin typeface="微软雅黑"/>
                <a:cs typeface="微软雅黑"/>
              </a:rPr>
              <a:t>日</a:t>
            </a:r>
          </a:p>
        </p:txBody>
      </p:sp>
      <p:sp>
        <p:nvSpPr>
          <p:cNvPr id="10" name="object 10"/>
          <p:cNvSpPr txBox="1">
            <a:spLocks noGrp="1"/>
          </p:cNvSpPr>
          <p:nvPr>
            <p:ph type="sldNum" sz="quarter" idx="7"/>
          </p:nvPr>
        </p:nvSpPr>
        <p:spPr>
          <a:prstGeom prst="rect">
            <a:avLst/>
          </a:prstGeom>
        </p:spPr>
        <p:txBody>
          <a:bodyPr vert="horz" wrap="square" lIns="0" tIns="22225" rIns="0" bIns="0" rtlCol="0">
            <a:spAutoFit/>
          </a:bodyPr>
          <a:lstStyle/>
          <a:p>
            <a:pPr marL="38100">
              <a:lnSpc>
                <a:spcPct val="100000"/>
              </a:lnSpc>
              <a:spcBef>
                <a:spcPts val="175"/>
              </a:spcBef>
            </a:pPr>
            <a:fld id="{81D60167-4931-47E6-BA6A-407CBD079E47}" type="slidenum">
              <a:rPr spc="-20" dirty="0"/>
              <a:t>5</a:t>
            </a:fld>
            <a:r>
              <a:rPr spc="-35" dirty="0"/>
              <a:t> </a:t>
            </a:r>
            <a:r>
              <a:rPr dirty="0"/>
              <a:t>/</a:t>
            </a:r>
            <a:r>
              <a:rPr spc="-30" dirty="0"/>
              <a:t> </a:t>
            </a:r>
            <a:r>
              <a:rPr spc="-50" dirty="0"/>
              <a:t>7</a:t>
            </a:r>
          </a:p>
        </p:txBody>
      </p:sp>
      <p:sp>
        <p:nvSpPr>
          <p:cNvPr id="11" name="object 11"/>
          <p:cNvSpPr txBox="1"/>
          <p:nvPr/>
        </p:nvSpPr>
        <p:spPr>
          <a:xfrm>
            <a:off x="2456052" y="3132293"/>
            <a:ext cx="848360" cy="109220"/>
          </a:xfrm>
          <a:prstGeom prst="rect">
            <a:avLst/>
          </a:prstGeom>
        </p:spPr>
        <p:txBody>
          <a:bodyPr vert="horz" wrap="square" lIns="0" tIns="15875" rIns="0" bIns="0" rtlCol="0">
            <a:spAutoFit/>
          </a:bodyPr>
          <a:lstStyle/>
          <a:p>
            <a:pPr marL="12700">
              <a:lnSpc>
                <a:spcPct val="100000"/>
              </a:lnSpc>
              <a:spcBef>
                <a:spcPts val="125"/>
              </a:spcBef>
            </a:pPr>
            <a:r>
              <a:rPr sz="500" spc="-10" dirty="0">
                <a:solidFill>
                  <a:srgbClr val="FFFFFF"/>
                </a:solidFill>
                <a:latin typeface="微软雅黑"/>
                <a:cs typeface="微软雅黑"/>
                <a:hlinkClick r:id="rId2" action="ppaction://hlinksldjump"/>
              </a:rPr>
              <a:t>开题报告：奇异两点边值问</a:t>
            </a:r>
            <a:r>
              <a:rPr sz="500" spc="-50" dirty="0">
                <a:solidFill>
                  <a:srgbClr val="FFFFFF"/>
                </a:solidFill>
                <a:latin typeface="微软雅黑"/>
                <a:cs typeface="微软雅黑"/>
                <a:hlinkClick r:id="rId2" action="ppaction://hlinksldjump"/>
              </a:rPr>
              <a:t>题</a:t>
            </a:r>
            <a:endParaRPr sz="500">
              <a:latin typeface="微软雅黑"/>
              <a:cs typeface="微软雅黑"/>
            </a:endParaRP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979"/>
            <a:ext cx="1118870" cy="244475"/>
          </a:xfrm>
          <a:prstGeom prst="rect">
            <a:avLst/>
          </a:prstGeom>
        </p:spPr>
        <p:txBody>
          <a:bodyPr vert="horz" wrap="square" lIns="0" tIns="17145" rIns="0" bIns="0" rtlCol="0">
            <a:spAutoFit/>
          </a:bodyPr>
          <a:lstStyle/>
          <a:p>
            <a:pPr marL="12700">
              <a:lnSpc>
                <a:spcPct val="100000"/>
              </a:lnSpc>
              <a:spcBef>
                <a:spcPts val="135"/>
              </a:spcBef>
            </a:pPr>
            <a:r>
              <a:rPr dirty="0"/>
              <a:t>未来发展趋</a:t>
            </a:r>
            <a:r>
              <a:rPr spc="-50" dirty="0"/>
              <a:t>势</a:t>
            </a:r>
          </a:p>
        </p:txBody>
      </p:sp>
      <p:grpSp>
        <p:nvGrpSpPr>
          <p:cNvPr id="5" name="object 5"/>
          <p:cNvGrpSpPr/>
          <p:nvPr/>
        </p:nvGrpSpPr>
        <p:grpSpPr>
          <a:xfrm>
            <a:off x="0" y="1198651"/>
            <a:ext cx="5684684" cy="1809538"/>
            <a:chOff x="0" y="1198651"/>
            <a:chExt cx="5684684" cy="1809538"/>
          </a:xfrm>
        </p:grpSpPr>
        <p:sp>
          <p:nvSpPr>
            <p:cNvPr id="7" name="object 7"/>
            <p:cNvSpPr/>
            <p:nvPr/>
          </p:nvSpPr>
          <p:spPr>
            <a:xfrm>
              <a:off x="0" y="1741999"/>
              <a:ext cx="5608955" cy="1266190"/>
            </a:xfrm>
            <a:custGeom>
              <a:avLst/>
              <a:gdLst/>
              <a:ahLst/>
              <a:cxnLst/>
              <a:rect l="l" t="t" r="r" b="b"/>
              <a:pathLst>
                <a:path w="5608955" h="1266189">
                  <a:moveTo>
                    <a:pt x="5608620" y="0"/>
                  </a:moveTo>
                  <a:lnTo>
                    <a:pt x="0" y="0"/>
                  </a:lnTo>
                  <a:lnTo>
                    <a:pt x="0" y="1265967"/>
                  </a:lnTo>
                  <a:lnTo>
                    <a:pt x="5608620" y="1265967"/>
                  </a:lnTo>
                  <a:lnTo>
                    <a:pt x="5608620" y="0"/>
                  </a:lnTo>
                  <a:close/>
                </a:path>
              </a:pathLst>
            </a:custGeom>
            <a:solidFill>
              <a:schemeClr val="bg1"/>
            </a:solidFill>
          </p:spPr>
          <p:txBody>
            <a:bodyPr wrap="square" lIns="0" tIns="0" rIns="0" bIns="0" rtlCol="0"/>
            <a:lstStyle/>
            <a:p>
              <a:endParaRPr dirty="0"/>
            </a:p>
          </p:txBody>
        </p:sp>
        <p:pic>
          <p:nvPicPr>
            <p:cNvPr id="6" name="object 6"/>
            <p:cNvPicPr/>
            <p:nvPr/>
          </p:nvPicPr>
          <p:blipFill>
            <a:blip r:embed="rId2" cstate="print"/>
            <a:stretch>
              <a:fillRect/>
            </a:stretch>
          </p:blipFill>
          <p:spPr>
            <a:xfrm>
              <a:off x="75730" y="1198651"/>
              <a:ext cx="5608620" cy="50609"/>
            </a:xfrm>
            <a:prstGeom prst="rect">
              <a:avLst/>
            </a:prstGeom>
          </p:spPr>
        </p:pic>
        <p:sp>
          <p:nvSpPr>
            <p:cNvPr id="8" name="object 8"/>
            <p:cNvSpPr/>
            <p:nvPr/>
          </p:nvSpPr>
          <p:spPr>
            <a:xfrm>
              <a:off x="75729" y="1242932"/>
              <a:ext cx="5608955" cy="1029335"/>
            </a:xfrm>
            <a:custGeom>
              <a:avLst/>
              <a:gdLst/>
              <a:ahLst/>
              <a:cxnLst/>
              <a:rect l="l" t="t" r="r" b="b"/>
              <a:pathLst>
                <a:path w="5608955" h="1029335">
                  <a:moveTo>
                    <a:pt x="5608620" y="0"/>
                  </a:moveTo>
                  <a:lnTo>
                    <a:pt x="0" y="0"/>
                  </a:lnTo>
                  <a:lnTo>
                    <a:pt x="0" y="978437"/>
                  </a:lnTo>
                  <a:lnTo>
                    <a:pt x="4008" y="998162"/>
                  </a:lnTo>
                  <a:lnTo>
                    <a:pt x="14922" y="1014315"/>
                  </a:lnTo>
                  <a:lnTo>
                    <a:pt x="31075" y="1025229"/>
                  </a:lnTo>
                  <a:lnTo>
                    <a:pt x="50800" y="1029237"/>
                  </a:lnTo>
                  <a:lnTo>
                    <a:pt x="5557820" y="1029237"/>
                  </a:lnTo>
                  <a:lnTo>
                    <a:pt x="5577545" y="1025229"/>
                  </a:lnTo>
                  <a:lnTo>
                    <a:pt x="5593698" y="1014315"/>
                  </a:lnTo>
                  <a:lnTo>
                    <a:pt x="5604612" y="998162"/>
                  </a:lnTo>
                  <a:lnTo>
                    <a:pt x="5608620" y="978437"/>
                  </a:lnTo>
                  <a:lnTo>
                    <a:pt x="5608620" y="0"/>
                  </a:lnTo>
                  <a:close/>
                </a:path>
              </a:pathLst>
            </a:custGeom>
            <a:solidFill>
              <a:srgbClr val="EBF2FA"/>
            </a:solidFill>
          </p:spPr>
          <p:txBody>
            <a:bodyPr wrap="square" lIns="0" tIns="0" rIns="0" bIns="0" rtlCol="0"/>
            <a:lstStyle/>
            <a:p>
              <a:endParaRPr/>
            </a:p>
          </p:txBody>
        </p:sp>
      </p:grpSp>
      <p:sp>
        <p:nvSpPr>
          <p:cNvPr id="3" name="object 3"/>
          <p:cNvSpPr/>
          <p:nvPr/>
        </p:nvSpPr>
        <p:spPr>
          <a:xfrm>
            <a:off x="75729" y="1000073"/>
            <a:ext cx="5608955" cy="211454"/>
          </a:xfrm>
          <a:custGeom>
            <a:avLst/>
            <a:gdLst/>
            <a:ahLst/>
            <a:cxnLst/>
            <a:rect l="l" t="t" r="r" b="b"/>
            <a:pathLst>
              <a:path w="5608955" h="211455">
                <a:moveTo>
                  <a:pt x="5557820" y="0"/>
                </a:moveTo>
                <a:lnTo>
                  <a:pt x="50800" y="0"/>
                </a:lnTo>
                <a:lnTo>
                  <a:pt x="31075" y="4008"/>
                </a:lnTo>
                <a:lnTo>
                  <a:pt x="14922" y="14922"/>
                </a:lnTo>
                <a:lnTo>
                  <a:pt x="4008" y="31075"/>
                </a:lnTo>
                <a:lnTo>
                  <a:pt x="0" y="50800"/>
                </a:lnTo>
                <a:lnTo>
                  <a:pt x="0" y="211234"/>
                </a:lnTo>
                <a:lnTo>
                  <a:pt x="5608620" y="211234"/>
                </a:lnTo>
                <a:lnTo>
                  <a:pt x="5608620" y="50800"/>
                </a:lnTo>
                <a:lnTo>
                  <a:pt x="5604612" y="31075"/>
                </a:lnTo>
                <a:lnTo>
                  <a:pt x="5593698" y="14922"/>
                </a:lnTo>
                <a:lnTo>
                  <a:pt x="5577545" y="4008"/>
                </a:lnTo>
                <a:lnTo>
                  <a:pt x="5557820" y="0"/>
                </a:lnTo>
                <a:close/>
              </a:path>
            </a:pathLst>
          </a:custGeom>
          <a:solidFill>
            <a:srgbClr val="004A8F"/>
          </a:solidFill>
        </p:spPr>
        <p:txBody>
          <a:bodyPr wrap="square" lIns="0" tIns="0" rIns="0" bIns="0" rtlCol="0"/>
          <a:lstStyle/>
          <a:p>
            <a:endParaRPr dirty="0"/>
          </a:p>
        </p:txBody>
      </p:sp>
      <p:sp>
        <p:nvSpPr>
          <p:cNvPr id="9" name="object 9"/>
          <p:cNvSpPr txBox="1"/>
          <p:nvPr/>
        </p:nvSpPr>
        <p:spPr>
          <a:xfrm>
            <a:off x="205181" y="1235587"/>
            <a:ext cx="5424170" cy="1012825"/>
          </a:xfrm>
          <a:prstGeom prst="rect">
            <a:avLst/>
          </a:prstGeom>
        </p:spPr>
        <p:txBody>
          <a:bodyPr vert="horz" wrap="square" lIns="0" tIns="12065" rIns="0" bIns="0" rtlCol="0">
            <a:spAutoFit/>
          </a:bodyPr>
          <a:lstStyle/>
          <a:p>
            <a:pPr marL="173990" indent="-161925">
              <a:lnSpc>
                <a:spcPts val="1200"/>
              </a:lnSpc>
              <a:spcBef>
                <a:spcPts val="95"/>
              </a:spcBef>
              <a:buClr>
                <a:srgbClr val="004A8F"/>
              </a:buClr>
              <a:buFont typeface="Tahoma"/>
              <a:buAutoNum type="arabicPeriod"/>
              <a:tabLst>
                <a:tab pos="174625" algn="l"/>
              </a:tabLst>
            </a:pPr>
            <a:r>
              <a:rPr sz="1000" b="1" spc="-10" dirty="0">
                <a:latin typeface="微软雅黑"/>
                <a:cs typeface="微软雅黑"/>
              </a:rPr>
              <a:t>无穷维空间演进：</a:t>
            </a:r>
            <a:r>
              <a:rPr sz="1000" spc="-10" dirty="0">
                <a:latin typeface="微软雅黑"/>
                <a:cs typeface="微软雅黑"/>
              </a:rPr>
              <a:t>与平均场博弈</a:t>
            </a:r>
            <a:r>
              <a:rPr sz="1000" dirty="0">
                <a:latin typeface="微软雅黑"/>
                <a:cs typeface="微软雅黑"/>
              </a:rPr>
              <a:t>（</a:t>
            </a:r>
            <a:r>
              <a:rPr sz="1000" dirty="0">
                <a:latin typeface="Tahoma"/>
                <a:cs typeface="Tahoma"/>
              </a:rPr>
              <a:t>MFG</a:t>
            </a:r>
            <a:r>
              <a:rPr sz="1000" dirty="0">
                <a:latin typeface="微软雅黑"/>
                <a:cs typeface="微软雅黑"/>
              </a:rPr>
              <a:t>）</a:t>
            </a:r>
            <a:r>
              <a:rPr sz="1000" spc="-10" dirty="0">
                <a:latin typeface="微软雅黑"/>
                <a:cs typeface="微软雅黑"/>
              </a:rPr>
              <a:t>深度融合，引</a:t>
            </a:r>
            <a:r>
              <a:rPr sz="1000" dirty="0">
                <a:latin typeface="微软雅黑"/>
                <a:cs typeface="微软雅黑"/>
              </a:rPr>
              <a:t>入</a:t>
            </a:r>
            <a:r>
              <a:rPr sz="1000" spc="60" dirty="0">
                <a:latin typeface="微软雅黑"/>
                <a:cs typeface="微软雅黑"/>
              </a:rPr>
              <a:t> </a:t>
            </a:r>
            <a:r>
              <a:rPr sz="1000" spc="-25" dirty="0">
                <a:latin typeface="Tahoma"/>
                <a:cs typeface="Tahoma"/>
              </a:rPr>
              <a:t>McKean-</a:t>
            </a:r>
            <a:r>
              <a:rPr sz="1000" dirty="0">
                <a:latin typeface="Tahoma"/>
                <a:cs typeface="Tahoma"/>
              </a:rPr>
              <a:t>Vlasov</a:t>
            </a:r>
            <a:r>
              <a:rPr sz="1000" spc="40" dirty="0">
                <a:latin typeface="Tahoma"/>
                <a:cs typeface="Tahoma"/>
              </a:rPr>
              <a:t> </a:t>
            </a:r>
            <a:r>
              <a:rPr sz="1000" spc="-10" dirty="0">
                <a:latin typeface="微软雅黑"/>
                <a:cs typeface="微软雅黑"/>
              </a:rPr>
              <a:t>方程，依</a:t>
            </a:r>
            <a:r>
              <a:rPr sz="1000" spc="-50" dirty="0">
                <a:latin typeface="微软雅黑"/>
                <a:cs typeface="微软雅黑"/>
              </a:rPr>
              <a:t>赖</a:t>
            </a:r>
            <a:endParaRPr sz="1000" dirty="0">
              <a:latin typeface="微软雅黑"/>
              <a:cs typeface="微软雅黑"/>
            </a:endParaRPr>
          </a:p>
          <a:p>
            <a:pPr marL="173990">
              <a:lnSpc>
                <a:spcPts val="1200"/>
              </a:lnSpc>
            </a:pPr>
            <a:r>
              <a:rPr sz="1000" spc="-40" dirty="0">
                <a:latin typeface="Tahoma"/>
                <a:cs typeface="Tahoma"/>
              </a:rPr>
              <a:t>Wasserstein</a:t>
            </a:r>
            <a:r>
              <a:rPr sz="1000" spc="20" dirty="0">
                <a:latin typeface="Tahoma"/>
                <a:cs typeface="Tahoma"/>
              </a:rPr>
              <a:t> </a:t>
            </a:r>
            <a:r>
              <a:rPr sz="1000" spc="-10" dirty="0">
                <a:latin typeface="微软雅黑"/>
                <a:cs typeface="微软雅黑"/>
              </a:rPr>
              <a:t>空间上的微分学（核心爆发点</a:t>
            </a:r>
            <a:r>
              <a:rPr sz="1000" spc="-509" dirty="0">
                <a:latin typeface="微软雅黑"/>
                <a:cs typeface="微软雅黑"/>
              </a:rPr>
              <a:t>）</a:t>
            </a:r>
            <a:r>
              <a:rPr sz="1000" spc="-50" dirty="0">
                <a:latin typeface="微软雅黑"/>
                <a:cs typeface="微软雅黑"/>
              </a:rPr>
              <a:t>。</a:t>
            </a:r>
            <a:endParaRPr sz="1000" dirty="0">
              <a:latin typeface="微软雅黑"/>
              <a:cs typeface="微软雅黑"/>
            </a:endParaRPr>
          </a:p>
          <a:p>
            <a:pPr marL="173990" marR="53975" indent="-161925">
              <a:lnSpc>
                <a:spcPct val="100000"/>
              </a:lnSpc>
              <a:spcBef>
                <a:spcPts val="295"/>
              </a:spcBef>
              <a:buClr>
                <a:srgbClr val="004A8F"/>
              </a:buClr>
              <a:buFont typeface="Tahoma"/>
              <a:buAutoNum type="arabicPeriod" startAt="2"/>
              <a:tabLst>
                <a:tab pos="174625" algn="l"/>
              </a:tabLst>
            </a:pPr>
            <a:r>
              <a:rPr sz="1000" b="1" spc="-10" dirty="0">
                <a:latin typeface="微软雅黑"/>
                <a:cs typeface="微软雅黑"/>
              </a:rPr>
              <a:t>高维数值突破：</a:t>
            </a:r>
            <a:r>
              <a:rPr sz="1000" spc="-10" dirty="0">
                <a:latin typeface="微软雅黑"/>
                <a:cs typeface="微软雅黑"/>
              </a:rPr>
              <a:t>面对高维解析理论的困境，基于深度学习的偏微分方程数值解法（如神经网</a:t>
            </a:r>
            <a:r>
              <a:rPr sz="1000" spc="-50" dirty="0">
                <a:latin typeface="微软雅黑"/>
                <a:cs typeface="微软雅黑"/>
              </a:rPr>
              <a:t>络</a:t>
            </a:r>
            <a:r>
              <a:rPr sz="1000" spc="-10" dirty="0">
                <a:latin typeface="微软雅黑"/>
                <a:cs typeface="微软雅黑"/>
              </a:rPr>
              <a:t>收敛性证明）成为强关联热点</a:t>
            </a:r>
            <a:r>
              <a:rPr sz="1000" spc="-50" dirty="0">
                <a:latin typeface="微软雅黑"/>
                <a:cs typeface="微软雅黑"/>
              </a:rPr>
              <a:t>。</a:t>
            </a:r>
            <a:endParaRPr sz="1000" dirty="0">
              <a:latin typeface="微软雅黑"/>
              <a:cs typeface="微软雅黑"/>
            </a:endParaRPr>
          </a:p>
          <a:p>
            <a:pPr marL="173990" marR="5080" indent="-161925">
              <a:lnSpc>
                <a:spcPct val="100000"/>
              </a:lnSpc>
              <a:spcBef>
                <a:spcPts val="290"/>
              </a:spcBef>
              <a:buClr>
                <a:srgbClr val="004A8F"/>
              </a:buClr>
              <a:buFont typeface="Tahoma"/>
              <a:buAutoNum type="arabicPeriod" startAt="2"/>
              <a:tabLst>
                <a:tab pos="174625" algn="l"/>
              </a:tabLst>
            </a:pPr>
            <a:r>
              <a:rPr sz="1000" b="1" spc="-10" dirty="0">
                <a:latin typeface="微软雅黑"/>
                <a:cs typeface="微软雅黑"/>
              </a:rPr>
              <a:t>无限时间视界：</a:t>
            </a:r>
            <a:r>
              <a:rPr sz="1000" spc="-10" dirty="0">
                <a:latin typeface="微软雅黑"/>
                <a:cs typeface="微软雅黑"/>
              </a:rPr>
              <a:t>涉及双曲贴现等模型，退化为带奇异边界的非线</a:t>
            </a:r>
            <a:r>
              <a:rPr sz="1000" dirty="0">
                <a:latin typeface="微软雅黑"/>
                <a:cs typeface="微软雅黑"/>
              </a:rPr>
              <a:t>性 </a:t>
            </a:r>
            <a:r>
              <a:rPr sz="1000" dirty="0">
                <a:latin typeface="Tahoma"/>
                <a:cs typeface="Tahoma"/>
              </a:rPr>
              <a:t>ODE</a:t>
            </a:r>
            <a:r>
              <a:rPr sz="1000" dirty="0">
                <a:latin typeface="微软雅黑"/>
                <a:cs typeface="微软雅黑"/>
              </a:rPr>
              <a:t>，</a:t>
            </a:r>
            <a:r>
              <a:rPr sz="1000" spc="-10" dirty="0">
                <a:latin typeface="微软雅黑"/>
                <a:cs typeface="微软雅黑"/>
              </a:rPr>
              <a:t>其长时间渐进行为</a:t>
            </a:r>
            <a:r>
              <a:rPr sz="1000" spc="-50" dirty="0">
                <a:latin typeface="微软雅黑"/>
                <a:cs typeface="微软雅黑"/>
              </a:rPr>
              <a:t>与</a:t>
            </a:r>
            <a:r>
              <a:rPr sz="1000" spc="-10" dirty="0">
                <a:latin typeface="微软雅黑"/>
                <a:cs typeface="微软雅黑"/>
              </a:rPr>
              <a:t>稳态唯一性仍是待开拓的处女地</a:t>
            </a:r>
            <a:r>
              <a:rPr sz="1000" spc="-50" dirty="0">
                <a:latin typeface="微软雅黑"/>
                <a:cs typeface="微软雅黑"/>
              </a:rPr>
              <a:t>。</a:t>
            </a:r>
            <a:endParaRPr sz="1000" dirty="0">
              <a:latin typeface="微软雅黑"/>
              <a:cs typeface="微软雅黑"/>
            </a:endParaRPr>
          </a:p>
        </p:txBody>
      </p:sp>
      <p:grpSp>
        <p:nvGrpSpPr>
          <p:cNvPr id="10" name="object 10"/>
          <p:cNvGrpSpPr/>
          <p:nvPr/>
        </p:nvGrpSpPr>
        <p:grpSpPr>
          <a:xfrm>
            <a:off x="0" y="3148736"/>
            <a:ext cx="5760085" cy="91440"/>
            <a:chOff x="0" y="3148736"/>
            <a:chExt cx="5760085" cy="91440"/>
          </a:xfrm>
        </p:grpSpPr>
        <p:sp>
          <p:nvSpPr>
            <p:cNvPr id="11" name="object 11"/>
            <p:cNvSpPr/>
            <p:nvPr/>
          </p:nvSpPr>
          <p:spPr>
            <a:xfrm>
              <a:off x="0"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2547"/>
            </a:solidFill>
          </p:spPr>
          <p:txBody>
            <a:bodyPr wrap="square" lIns="0" tIns="0" rIns="0" bIns="0" rtlCol="0"/>
            <a:lstStyle/>
            <a:p>
              <a:endParaRPr/>
            </a:p>
          </p:txBody>
        </p:sp>
        <p:sp>
          <p:nvSpPr>
            <p:cNvPr id="12" name="object 12"/>
            <p:cNvSpPr/>
            <p:nvPr/>
          </p:nvSpPr>
          <p:spPr>
            <a:xfrm>
              <a:off x="1919973"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386B"/>
            </a:solidFill>
          </p:spPr>
          <p:txBody>
            <a:bodyPr wrap="square" lIns="0" tIns="0" rIns="0" bIns="0" rtlCol="0"/>
            <a:lstStyle/>
            <a:p>
              <a:endParaRPr/>
            </a:p>
          </p:txBody>
        </p:sp>
        <p:sp>
          <p:nvSpPr>
            <p:cNvPr id="13" name="object 13"/>
            <p:cNvSpPr/>
            <p:nvPr/>
          </p:nvSpPr>
          <p:spPr>
            <a:xfrm>
              <a:off x="3839946"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4A8F"/>
            </a:solidFill>
          </p:spPr>
          <p:txBody>
            <a:bodyPr wrap="square" lIns="0" tIns="0" rIns="0" bIns="0" rtlCol="0"/>
            <a:lstStyle/>
            <a:p>
              <a:endParaRPr/>
            </a:p>
          </p:txBody>
        </p:sp>
      </p:grpSp>
      <p:sp>
        <p:nvSpPr>
          <p:cNvPr id="14" name="object 14"/>
          <p:cNvSpPr txBox="1">
            <a:spLocks noGrp="1"/>
          </p:cNvSpPr>
          <p:nvPr>
            <p:ph type="dt" sz="half" idx="6"/>
          </p:nvPr>
        </p:nvSpPr>
        <p:spPr>
          <a:prstGeom prst="rect">
            <a:avLst/>
          </a:prstGeom>
        </p:spPr>
        <p:txBody>
          <a:bodyPr vert="horz" wrap="square" lIns="0" tIns="22225" rIns="0" bIns="0" rtlCol="0">
            <a:spAutoFit/>
          </a:bodyPr>
          <a:lstStyle/>
          <a:p>
            <a:pPr marL="12700">
              <a:lnSpc>
                <a:spcPct val="100000"/>
              </a:lnSpc>
              <a:spcBef>
                <a:spcPts val="175"/>
              </a:spcBef>
            </a:pPr>
            <a:r>
              <a:rPr spc="-10" dirty="0"/>
              <a:t>邓</a:t>
            </a:r>
            <a:r>
              <a:rPr dirty="0"/>
              <a:t>垚</a:t>
            </a:r>
            <a:r>
              <a:rPr spc="240" dirty="0"/>
              <a:t> </a:t>
            </a:r>
            <a:r>
              <a:rPr dirty="0">
                <a:latin typeface="Century Gothic"/>
                <a:cs typeface="Century Gothic"/>
              </a:rPr>
              <a:t>(</a:t>
            </a:r>
            <a:r>
              <a:rPr spc="-10" dirty="0"/>
              <a:t>贵州大学</a:t>
            </a:r>
            <a:r>
              <a:rPr spc="-50" dirty="0">
                <a:latin typeface="Century Gothic"/>
                <a:cs typeface="Century Gothic"/>
              </a:rPr>
              <a:t>)</a:t>
            </a:r>
          </a:p>
        </p:txBody>
      </p:sp>
      <p:sp>
        <p:nvSpPr>
          <p:cNvPr id="15" name="object 15"/>
          <p:cNvSpPr txBox="1">
            <a:spLocks noGrp="1"/>
          </p:cNvSpPr>
          <p:nvPr>
            <p:ph type="ftr" sz="quarter" idx="5"/>
          </p:nvPr>
        </p:nvSpPr>
        <p:spPr>
          <a:prstGeom prst="rect">
            <a:avLst/>
          </a:prstGeom>
        </p:spPr>
        <p:txBody>
          <a:bodyPr vert="horz" wrap="square" lIns="0" tIns="22225" rIns="0" bIns="0" rtlCol="0">
            <a:spAutoFit/>
          </a:bodyPr>
          <a:lstStyle/>
          <a:p>
            <a:pPr marL="12700">
              <a:lnSpc>
                <a:spcPct val="100000"/>
              </a:lnSpc>
              <a:spcBef>
                <a:spcPts val="175"/>
              </a:spcBef>
            </a:pPr>
            <a:r>
              <a:rPr dirty="0"/>
              <a:t>2026</a:t>
            </a:r>
            <a:r>
              <a:rPr spc="15" dirty="0"/>
              <a:t> </a:t>
            </a:r>
            <a:r>
              <a:rPr dirty="0">
                <a:latin typeface="微软雅黑"/>
                <a:cs typeface="微软雅黑"/>
              </a:rPr>
              <a:t>年 </a:t>
            </a:r>
            <a:r>
              <a:rPr dirty="0"/>
              <a:t>3</a:t>
            </a:r>
            <a:r>
              <a:rPr spc="15" dirty="0"/>
              <a:t> </a:t>
            </a:r>
            <a:r>
              <a:rPr spc="5" dirty="0">
                <a:latin typeface="微软雅黑"/>
                <a:cs typeface="微软雅黑"/>
              </a:rPr>
              <a:t>月 </a:t>
            </a:r>
            <a:r>
              <a:rPr dirty="0"/>
              <a:t>9</a:t>
            </a:r>
            <a:r>
              <a:rPr spc="15" dirty="0"/>
              <a:t> </a:t>
            </a:r>
            <a:r>
              <a:rPr spc="-50" dirty="0">
                <a:latin typeface="微软雅黑"/>
                <a:cs typeface="微软雅黑"/>
              </a:rPr>
              <a:t>日</a:t>
            </a:r>
          </a:p>
        </p:txBody>
      </p:sp>
      <p:sp>
        <p:nvSpPr>
          <p:cNvPr id="16" name="object 16"/>
          <p:cNvSpPr txBox="1">
            <a:spLocks noGrp="1"/>
          </p:cNvSpPr>
          <p:nvPr>
            <p:ph type="sldNum" sz="quarter" idx="7"/>
          </p:nvPr>
        </p:nvSpPr>
        <p:spPr>
          <a:prstGeom prst="rect">
            <a:avLst/>
          </a:prstGeom>
        </p:spPr>
        <p:txBody>
          <a:bodyPr vert="horz" wrap="square" lIns="0" tIns="22225" rIns="0" bIns="0" rtlCol="0">
            <a:spAutoFit/>
          </a:bodyPr>
          <a:lstStyle/>
          <a:p>
            <a:pPr marL="38100">
              <a:lnSpc>
                <a:spcPct val="100000"/>
              </a:lnSpc>
              <a:spcBef>
                <a:spcPts val="175"/>
              </a:spcBef>
            </a:pPr>
            <a:fld id="{81D60167-4931-47E6-BA6A-407CBD079E47}" type="slidenum">
              <a:rPr spc="-20" dirty="0"/>
              <a:t>6</a:t>
            </a:fld>
            <a:r>
              <a:rPr spc="-35" dirty="0"/>
              <a:t> </a:t>
            </a:r>
            <a:r>
              <a:rPr dirty="0"/>
              <a:t>/</a:t>
            </a:r>
            <a:r>
              <a:rPr spc="-30" dirty="0"/>
              <a:t> </a:t>
            </a:r>
            <a:r>
              <a:rPr spc="-50" dirty="0"/>
              <a:t>7</a:t>
            </a:r>
          </a:p>
        </p:txBody>
      </p:sp>
      <p:sp>
        <p:nvSpPr>
          <p:cNvPr id="17" name="object 17"/>
          <p:cNvSpPr txBox="1"/>
          <p:nvPr/>
        </p:nvSpPr>
        <p:spPr>
          <a:xfrm>
            <a:off x="2456052" y="3132293"/>
            <a:ext cx="848360" cy="109220"/>
          </a:xfrm>
          <a:prstGeom prst="rect">
            <a:avLst/>
          </a:prstGeom>
        </p:spPr>
        <p:txBody>
          <a:bodyPr vert="horz" wrap="square" lIns="0" tIns="15875" rIns="0" bIns="0" rtlCol="0">
            <a:spAutoFit/>
          </a:bodyPr>
          <a:lstStyle/>
          <a:p>
            <a:pPr marL="12700">
              <a:lnSpc>
                <a:spcPct val="100000"/>
              </a:lnSpc>
              <a:spcBef>
                <a:spcPts val="125"/>
              </a:spcBef>
            </a:pPr>
            <a:r>
              <a:rPr sz="500" spc="-10" dirty="0">
                <a:solidFill>
                  <a:srgbClr val="FFFFFF"/>
                </a:solidFill>
                <a:latin typeface="微软雅黑"/>
                <a:cs typeface="微软雅黑"/>
                <a:hlinkClick r:id="rId3" action="ppaction://hlinksldjump"/>
              </a:rPr>
              <a:t>开题报告：奇异两点边值问</a:t>
            </a:r>
            <a:r>
              <a:rPr sz="500" spc="-50" dirty="0">
                <a:solidFill>
                  <a:srgbClr val="FFFFFF"/>
                </a:solidFill>
                <a:latin typeface="微软雅黑"/>
                <a:cs typeface="微软雅黑"/>
                <a:hlinkClick r:id="rId3" action="ppaction://hlinksldjump"/>
              </a:rPr>
              <a:t>题</a:t>
            </a:r>
            <a:endParaRPr sz="500">
              <a:latin typeface="微软雅黑"/>
              <a:cs typeface="微软雅黑"/>
            </a:endParaRPr>
          </a:p>
        </p:txBody>
      </p:sp>
      <p:sp>
        <p:nvSpPr>
          <p:cNvPr id="4" name="object 4"/>
          <p:cNvSpPr txBox="1"/>
          <p:nvPr/>
        </p:nvSpPr>
        <p:spPr>
          <a:xfrm>
            <a:off x="126530" y="1004660"/>
            <a:ext cx="1214755" cy="200660"/>
          </a:xfrm>
          <a:prstGeom prst="rect">
            <a:avLst/>
          </a:prstGeom>
        </p:spPr>
        <p:txBody>
          <a:bodyPr vert="horz" wrap="square" lIns="0" tIns="8255" rIns="0" bIns="0" rtlCol="0">
            <a:spAutoFit/>
          </a:bodyPr>
          <a:lstStyle/>
          <a:p>
            <a:pPr>
              <a:lnSpc>
                <a:spcPct val="100000"/>
              </a:lnSpc>
              <a:spcBef>
                <a:spcPts val="65"/>
              </a:spcBef>
            </a:pPr>
            <a:r>
              <a:rPr sz="1200" spc="-20" dirty="0">
                <a:solidFill>
                  <a:srgbClr val="FFFFFF"/>
                </a:solidFill>
                <a:latin typeface="微软雅黑"/>
                <a:cs typeface="微软雅黑"/>
              </a:rPr>
              <a:t>三大前沿演进方</a:t>
            </a:r>
            <a:r>
              <a:rPr sz="1200" spc="-50" dirty="0">
                <a:solidFill>
                  <a:srgbClr val="FFFFFF"/>
                </a:solidFill>
                <a:latin typeface="微软雅黑"/>
                <a:cs typeface="微软雅黑"/>
              </a:rPr>
              <a:t>向</a:t>
            </a:r>
            <a:endParaRPr sz="1200" dirty="0">
              <a:latin typeface="微软雅黑"/>
              <a:cs typeface="微软雅黑"/>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979"/>
            <a:ext cx="2030095" cy="244475"/>
          </a:xfrm>
          <a:prstGeom prst="rect">
            <a:avLst/>
          </a:prstGeom>
        </p:spPr>
        <p:txBody>
          <a:bodyPr vert="horz" wrap="square" lIns="0" tIns="17145" rIns="0" bIns="0" rtlCol="0">
            <a:spAutoFit/>
          </a:bodyPr>
          <a:lstStyle/>
          <a:p>
            <a:pPr marL="12700">
              <a:lnSpc>
                <a:spcPct val="100000"/>
              </a:lnSpc>
              <a:spcBef>
                <a:spcPts val="135"/>
              </a:spcBef>
            </a:pPr>
            <a:r>
              <a:rPr dirty="0"/>
              <a:t>主要研究内容与关键问</a:t>
            </a:r>
            <a:r>
              <a:rPr spc="-50" dirty="0"/>
              <a:t>题</a:t>
            </a:r>
          </a:p>
        </p:txBody>
      </p:sp>
      <p:sp>
        <p:nvSpPr>
          <p:cNvPr id="3" name="object 3"/>
          <p:cNvSpPr txBox="1"/>
          <p:nvPr/>
        </p:nvSpPr>
        <p:spPr>
          <a:xfrm>
            <a:off x="75730" y="857115"/>
            <a:ext cx="5559425" cy="1521460"/>
          </a:xfrm>
          <a:prstGeom prst="rect">
            <a:avLst/>
          </a:prstGeom>
        </p:spPr>
        <p:txBody>
          <a:bodyPr vert="horz" wrap="square" lIns="0" tIns="12065" rIns="0" bIns="0" rtlCol="0">
            <a:spAutoFit/>
          </a:bodyPr>
          <a:lstStyle/>
          <a:p>
            <a:pPr marL="50800" marR="17780">
              <a:lnSpc>
                <a:spcPct val="100000"/>
              </a:lnSpc>
              <a:spcBef>
                <a:spcPts val="95"/>
              </a:spcBef>
            </a:pPr>
            <a:r>
              <a:rPr sz="1000" b="1" spc="-10" dirty="0">
                <a:solidFill>
                  <a:srgbClr val="CC0000"/>
                </a:solidFill>
                <a:latin typeface="微软雅黑"/>
                <a:cs typeface="微软雅黑"/>
              </a:rPr>
              <a:t>关键难点</a:t>
            </a:r>
            <a:r>
              <a:rPr sz="1000" b="1" dirty="0">
                <a:solidFill>
                  <a:srgbClr val="CC0000"/>
                </a:solidFill>
                <a:latin typeface="微软雅黑"/>
                <a:cs typeface="微软雅黑"/>
              </a:rPr>
              <a:t>： </a:t>
            </a:r>
            <a:r>
              <a:rPr sz="1000" spc="-10" dirty="0">
                <a:latin typeface="微软雅黑"/>
                <a:cs typeface="微软雅黑"/>
              </a:rPr>
              <a:t>奇异两点边值问题本身具有</a:t>
            </a:r>
            <a:r>
              <a:rPr sz="1000" b="1" spc="-10" dirty="0">
                <a:latin typeface="微软雅黑"/>
                <a:cs typeface="微软雅黑"/>
              </a:rPr>
              <a:t>高度非线性特征</a:t>
            </a:r>
            <a:r>
              <a:rPr sz="1000" spc="-10" dirty="0">
                <a:latin typeface="微软雅黑"/>
                <a:cs typeface="微软雅黑"/>
              </a:rPr>
              <a:t>，且常规问题的解通常不唯一。传统方法</a:t>
            </a:r>
            <a:r>
              <a:rPr sz="1000" spc="-50" dirty="0">
                <a:latin typeface="微软雅黑"/>
                <a:cs typeface="微软雅黑"/>
              </a:rPr>
              <a:t>难</a:t>
            </a:r>
            <a:r>
              <a:rPr sz="1000" spc="-10" dirty="0">
                <a:latin typeface="微软雅黑"/>
                <a:cs typeface="微软雅黑"/>
              </a:rPr>
              <a:t>以直接奏效</a:t>
            </a:r>
            <a:r>
              <a:rPr sz="1000" spc="-50" dirty="0">
                <a:latin typeface="微软雅黑"/>
                <a:cs typeface="微软雅黑"/>
              </a:rPr>
              <a:t>。</a:t>
            </a:r>
            <a:endParaRPr sz="1000">
              <a:latin typeface="微软雅黑"/>
              <a:cs typeface="微软雅黑"/>
            </a:endParaRPr>
          </a:p>
          <a:p>
            <a:pPr>
              <a:lnSpc>
                <a:spcPct val="100000"/>
              </a:lnSpc>
              <a:spcBef>
                <a:spcPts val="25"/>
              </a:spcBef>
            </a:pPr>
            <a:endParaRPr sz="750">
              <a:latin typeface="微软雅黑"/>
              <a:cs typeface="微软雅黑"/>
            </a:endParaRPr>
          </a:p>
          <a:p>
            <a:pPr marL="50800">
              <a:lnSpc>
                <a:spcPct val="100000"/>
              </a:lnSpc>
            </a:pPr>
            <a:r>
              <a:rPr sz="1000" b="1" spc="-10" dirty="0">
                <a:solidFill>
                  <a:srgbClr val="004A8F"/>
                </a:solidFill>
                <a:latin typeface="微软雅黑"/>
                <a:cs typeface="微软雅黑"/>
              </a:rPr>
              <a:t>研究内容分解</a:t>
            </a:r>
            <a:r>
              <a:rPr sz="1000" b="1" spc="-50" dirty="0">
                <a:solidFill>
                  <a:srgbClr val="004A8F"/>
                </a:solidFill>
                <a:latin typeface="微软雅黑"/>
                <a:cs typeface="微软雅黑"/>
              </a:rPr>
              <a:t>：</a:t>
            </a:r>
            <a:endParaRPr sz="1000">
              <a:latin typeface="微软雅黑"/>
              <a:cs typeface="微软雅黑"/>
            </a:endParaRPr>
          </a:p>
          <a:p>
            <a:pPr marL="303530" indent="-162560">
              <a:lnSpc>
                <a:spcPct val="100000"/>
              </a:lnSpc>
              <a:spcBef>
                <a:spcPts val="295"/>
              </a:spcBef>
              <a:buClr>
                <a:srgbClr val="004A8F"/>
              </a:buClr>
              <a:buFont typeface="Tahoma"/>
              <a:buAutoNum type="arabicPeriod"/>
              <a:tabLst>
                <a:tab pos="304165" algn="l"/>
              </a:tabLst>
            </a:pPr>
            <a:r>
              <a:rPr sz="1000" b="1" spc="-10" dirty="0">
                <a:latin typeface="微软雅黑"/>
                <a:cs typeface="微软雅黑"/>
              </a:rPr>
              <a:t>问题转化：</a:t>
            </a:r>
            <a:r>
              <a:rPr sz="1000" spc="-10" dirty="0">
                <a:latin typeface="微软雅黑"/>
                <a:cs typeface="微软雅黑"/>
              </a:rPr>
              <a:t>证明奇异两点边值问题、</a:t>
            </a:r>
            <a:r>
              <a:rPr sz="1000" dirty="0">
                <a:latin typeface="Tahoma"/>
                <a:cs typeface="Tahoma"/>
              </a:rPr>
              <a:t>Riccati</a:t>
            </a:r>
            <a:r>
              <a:rPr sz="1000" spc="20" dirty="0">
                <a:latin typeface="Tahoma"/>
                <a:cs typeface="Tahoma"/>
              </a:rPr>
              <a:t> </a:t>
            </a:r>
            <a:r>
              <a:rPr sz="1000" spc="-10" dirty="0">
                <a:latin typeface="微软雅黑"/>
                <a:cs typeface="微软雅黑"/>
              </a:rPr>
              <a:t>方程以</a:t>
            </a:r>
            <a:r>
              <a:rPr sz="1000" dirty="0">
                <a:latin typeface="微软雅黑"/>
                <a:cs typeface="微软雅黑"/>
              </a:rPr>
              <a:t>及</a:t>
            </a:r>
            <a:r>
              <a:rPr sz="1000" spc="40" dirty="0">
                <a:latin typeface="微软雅黑"/>
                <a:cs typeface="微软雅黑"/>
              </a:rPr>
              <a:t> </a:t>
            </a:r>
            <a:r>
              <a:rPr sz="1000" dirty="0">
                <a:latin typeface="Tahoma"/>
                <a:cs typeface="Tahoma"/>
              </a:rPr>
              <a:t>LQ</a:t>
            </a:r>
            <a:r>
              <a:rPr sz="1000" spc="25" dirty="0">
                <a:latin typeface="Tahoma"/>
                <a:cs typeface="Tahoma"/>
              </a:rPr>
              <a:t> </a:t>
            </a:r>
            <a:r>
              <a:rPr sz="1000" spc="-10" dirty="0">
                <a:latin typeface="微软雅黑"/>
                <a:cs typeface="微软雅黑"/>
              </a:rPr>
              <a:t>问题三者的</a:t>
            </a:r>
            <a:r>
              <a:rPr sz="1000" b="1" spc="-10" dirty="0">
                <a:latin typeface="微软雅黑"/>
                <a:cs typeface="微软雅黑"/>
              </a:rPr>
              <a:t>等价性</a:t>
            </a:r>
            <a:r>
              <a:rPr sz="1000" spc="-50" dirty="0">
                <a:latin typeface="微软雅黑"/>
                <a:cs typeface="微软雅黑"/>
              </a:rPr>
              <a:t>。</a:t>
            </a:r>
            <a:endParaRPr sz="1000">
              <a:latin typeface="微软雅黑"/>
              <a:cs typeface="微软雅黑"/>
            </a:endParaRPr>
          </a:p>
          <a:p>
            <a:pPr marL="303530" indent="-162560">
              <a:lnSpc>
                <a:spcPct val="100000"/>
              </a:lnSpc>
              <a:spcBef>
                <a:spcPts val="195"/>
              </a:spcBef>
              <a:buClr>
                <a:srgbClr val="004A8F"/>
              </a:buClr>
              <a:buFont typeface="Tahoma"/>
              <a:buAutoNum type="arabicPeriod"/>
              <a:tabLst>
                <a:tab pos="304165" algn="l"/>
              </a:tabLst>
            </a:pPr>
            <a:r>
              <a:rPr sz="1000" b="1" spc="-10" dirty="0">
                <a:latin typeface="微软雅黑"/>
                <a:cs typeface="微软雅黑"/>
              </a:rPr>
              <a:t>存在唯一性证明</a:t>
            </a:r>
            <a:r>
              <a:rPr sz="1000" b="1" spc="-50" dirty="0">
                <a:latin typeface="微软雅黑"/>
                <a:cs typeface="微软雅黑"/>
              </a:rPr>
              <a:t>：</a:t>
            </a:r>
            <a:endParaRPr sz="1000">
              <a:latin typeface="微软雅黑"/>
              <a:cs typeface="微软雅黑"/>
            </a:endParaRPr>
          </a:p>
          <a:p>
            <a:pPr marL="556895" lvl="1" indent="-121920">
              <a:lnSpc>
                <a:spcPct val="100000"/>
              </a:lnSpc>
              <a:spcBef>
                <a:spcPts val="195"/>
              </a:spcBef>
              <a:buClr>
                <a:srgbClr val="004A8F"/>
              </a:buClr>
              <a:buFont typeface="DejaVu Serif"/>
              <a:buChar char="•"/>
              <a:tabLst>
                <a:tab pos="556895" algn="l"/>
              </a:tabLst>
            </a:pPr>
            <a:r>
              <a:rPr sz="900" dirty="0">
                <a:latin typeface="Arial"/>
                <a:cs typeface="Arial"/>
              </a:rPr>
              <a:t>LQ</a:t>
            </a:r>
            <a:r>
              <a:rPr sz="900" spc="40" dirty="0">
                <a:latin typeface="Arial"/>
                <a:cs typeface="Arial"/>
              </a:rPr>
              <a:t> </a:t>
            </a:r>
            <a:r>
              <a:rPr sz="900" spc="-10" dirty="0">
                <a:latin typeface="微软雅黑"/>
                <a:cs typeface="微软雅黑"/>
              </a:rPr>
              <a:t>问题的可解</a:t>
            </a:r>
            <a:r>
              <a:rPr sz="900" dirty="0">
                <a:latin typeface="微软雅黑"/>
                <a:cs typeface="微软雅黑"/>
              </a:rPr>
              <a:t>性</a:t>
            </a:r>
            <a:r>
              <a:rPr sz="900" spc="25" dirty="0">
                <a:latin typeface="微软雅黑"/>
                <a:cs typeface="微软雅黑"/>
              </a:rPr>
              <a:t> </a:t>
            </a:r>
            <a:r>
              <a:rPr sz="900" dirty="0">
                <a:latin typeface="Lucida Sans"/>
                <a:cs typeface="Lucida Sans"/>
              </a:rPr>
              <a:t>=</a:t>
            </a:r>
            <a:r>
              <a:rPr sz="900" i="1" dirty="0">
                <a:latin typeface="DejaVu Serif"/>
                <a:cs typeface="DejaVu Serif"/>
              </a:rPr>
              <a:t>⇒ </a:t>
            </a:r>
            <a:r>
              <a:rPr sz="900" dirty="0">
                <a:latin typeface="Arial"/>
                <a:cs typeface="Arial"/>
              </a:rPr>
              <a:t>Riccati</a:t>
            </a:r>
            <a:r>
              <a:rPr sz="900" spc="45" dirty="0">
                <a:latin typeface="Arial"/>
                <a:cs typeface="Arial"/>
              </a:rPr>
              <a:t> </a:t>
            </a:r>
            <a:r>
              <a:rPr sz="900" spc="-10" dirty="0">
                <a:latin typeface="微软雅黑"/>
                <a:cs typeface="微软雅黑"/>
              </a:rPr>
              <a:t>方程解的存在</a:t>
            </a:r>
            <a:r>
              <a:rPr sz="900" dirty="0">
                <a:latin typeface="微软雅黑"/>
                <a:cs typeface="微软雅黑"/>
              </a:rPr>
              <a:t>性</a:t>
            </a:r>
            <a:r>
              <a:rPr sz="900" spc="25" dirty="0">
                <a:latin typeface="微软雅黑"/>
                <a:cs typeface="微软雅黑"/>
              </a:rPr>
              <a:t> </a:t>
            </a:r>
            <a:r>
              <a:rPr sz="900" dirty="0">
                <a:latin typeface="Lucida Sans"/>
                <a:cs typeface="Lucida Sans"/>
              </a:rPr>
              <a:t>=</a:t>
            </a:r>
            <a:r>
              <a:rPr sz="900" i="1" dirty="0">
                <a:latin typeface="DejaVu Serif"/>
                <a:cs typeface="DejaVu Serif"/>
              </a:rPr>
              <a:t>⇒ </a:t>
            </a:r>
            <a:r>
              <a:rPr sz="900" spc="-10" dirty="0">
                <a:latin typeface="微软雅黑"/>
                <a:cs typeface="微软雅黑"/>
              </a:rPr>
              <a:t>边值问题解的存在性</a:t>
            </a:r>
            <a:r>
              <a:rPr sz="900" spc="-50" dirty="0">
                <a:latin typeface="微软雅黑"/>
                <a:cs typeface="微软雅黑"/>
              </a:rPr>
              <a:t>。</a:t>
            </a:r>
            <a:endParaRPr sz="900">
              <a:latin typeface="微软雅黑"/>
              <a:cs typeface="微软雅黑"/>
            </a:endParaRPr>
          </a:p>
          <a:p>
            <a:pPr marL="556895" lvl="1" indent="-121920">
              <a:lnSpc>
                <a:spcPct val="100000"/>
              </a:lnSpc>
              <a:spcBef>
                <a:spcPts val="15"/>
              </a:spcBef>
              <a:buClr>
                <a:srgbClr val="004A8F"/>
              </a:buClr>
              <a:buFont typeface="DejaVu Serif"/>
              <a:buChar char="•"/>
              <a:tabLst>
                <a:tab pos="556895" algn="l"/>
              </a:tabLst>
            </a:pPr>
            <a:r>
              <a:rPr sz="900" dirty="0">
                <a:latin typeface="Arial"/>
                <a:cs typeface="Arial"/>
              </a:rPr>
              <a:t>Riccati</a:t>
            </a:r>
            <a:r>
              <a:rPr sz="900" spc="30" dirty="0">
                <a:latin typeface="Arial"/>
                <a:cs typeface="Arial"/>
              </a:rPr>
              <a:t> </a:t>
            </a:r>
            <a:r>
              <a:rPr sz="900" spc="-10" dirty="0">
                <a:latin typeface="微软雅黑"/>
                <a:cs typeface="微软雅黑"/>
              </a:rPr>
              <a:t>解的唯一性</a:t>
            </a:r>
            <a:r>
              <a:rPr sz="900" dirty="0">
                <a:latin typeface="微软雅黑"/>
                <a:cs typeface="微软雅黑"/>
              </a:rPr>
              <a:t>质</a:t>
            </a:r>
            <a:r>
              <a:rPr sz="900" spc="20" dirty="0">
                <a:latin typeface="微软雅黑"/>
                <a:cs typeface="微软雅黑"/>
              </a:rPr>
              <a:t> </a:t>
            </a:r>
            <a:r>
              <a:rPr sz="900" dirty="0">
                <a:latin typeface="Lucida Sans"/>
                <a:cs typeface="Lucida Sans"/>
              </a:rPr>
              <a:t>=</a:t>
            </a:r>
            <a:r>
              <a:rPr sz="900" i="1" spc="-5" dirty="0">
                <a:latin typeface="DejaVu Serif"/>
                <a:cs typeface="DejaVu Serif"/>
              </a:rPr>
              <a:t>⇒ </a:t>
            </a:r>
            <a:r>
              <a:rPr sz="900" spc="-10" dirty="0">
                <a:latin typeface="微软雅黑"/>
                <a:cs typeface="微软雅黑"/>
              </a:rPr>
              <a:t>边值问题解的唯一性</a:t>
            </a:r>
            <a:r>
              <a:rPr sz="900" spc="-50" dirty="0">
                <a:latin typeface="微软雅黑"/>
                <a:cs typeface="微软雅黑"/>
              </a:rPr>
              <a:t>。</a:t>
            </a:r>
            <a:endParaRPr sz="900">
              <a:latin typeface="微软雅黑"/>
              <a:cs typeface="微软雅黑"/>
            </a:endParaRPr>
          </a:p>
          <a:p>
            <a:pPr marL="303530" indent="-162560">
              <a:lnSpc>
                <a:spcPct val="100000"/>
              </a:lnSpc>
              <a:spcBef>
                <a:spcPts val="315"/>
              </a:spcBef>
              <a:buClr>
                <a:srgbClr val="004A8F"/>
              </a:buClr>
              <a:buFont typeface="Tahoma"/>
              <a:buAutoNum type="arabicPeriod"/>
              <a:tabLst>
                <a:tab pos="304165" algn="l"/>
              </a:tabLst>
            </a:pPr>
            <a:r>
              <a:rPr sz="1000" b="1" spc="-10" dirty="0">
                <a:latin typeface="微软雅黑"/>
                <a:cs typeface="微软雅黑"/>
              </a:rPr>
              <a:t>数值实验：</a:t>
            </a:r>
            <a:r>
              <a:rPr sz="1000" spc="-10" dirty="0">
                <a:latin typeface="微软雅黑"/>
                <a:cs typeface="微软雅黑"/>
              </a:rPr>
              <a:t>针对一维问题，基</a:t>
            </a:r>
            <a:r>
              <a:rPr sz="1000" dirty="0">
                <a:latin typeface="微软雅黑"/>
                <a:cs typeface="微软雅黑"/>
              </a:rPr>
              <a:t>于</a:t>
            </a:r>
            <a:r>
              <a:rPr sz="1000" spc="-5" dirty="0">
                <a:latin typeface="微软雅黑"/>
                <a:cs typeface="微软雅黑"/>
              </a:rPr>
              <a:t> </a:t>
            </a:r>
            <a:r>
              <a:rPr sz="1000" dirty="0">
                <a:latin typeface="Tahoma"/>
                <a:cs typeface="Tahoma"/>
              </a:rPr>
              <a:t>Python</a:t>
            </a:r>
            <a:r>
              <a:rPr sz="1000" spc="-20" dirty="0">
                <a:latin typeface="Tahoma"/>
                <a:cs typeface="Tahoma"/>
              </a:rPr>
              <a:t> </a:t>
            </a:r>
            <a:r>
              <a:rPr sz="1000" spc="-10" dirty="0">
                <a:latin typeface="微软雅黑"/>
                <a:cs typeface="微软雅黑"/>
              </a:rPr>
              <a:t>编写迭代算法进行数值求解与验证</a:t>
            </a:r>
            <a:r>
              <a:rPr sz="1000" spc="-50" dirty="0">
                <a:latin typeface="微软雅黑"/>
                <a:cs typeface="微软雅黑"/>
              </a:rPr>
              <a:t>。</a:t>
            </a:r>
            <a:endParaRPr sz="1000">
              <a:latin typeface="微软雅黑"/>
              <a:cs typeface="微软雅黑"/>
            </a:endParaRPr>
          </a:p>
        </p:txBody>
      </p:sp>
      <p:grpSp>
        <p:nvGrpSpPr>
          <p:cNvPr id="4" name="object 4"/>
          <p:cNvGrpSpPr/>
          <p:nvPr/>
        </p:nvGrpSpPr>
        <p:grpSpPr>
          <a:xfrm>
            <a:off x="0" y="3148736"/>
            <a:ext cx="5760085" cy="91440"/>
            <a:chOff x="0" y="3148736"/>
            <a:chExt cx="5760085" cy="91440"/>
          </a:xfrm>
        </p:grpSpPr>
        <p:sp>
          <p:nvSpPr>
            <p:cNvPr id="5" name="object 5"/>
            <p:cNvSpPr/>
            <p:nvPr/>
          </p:nvSpPr>
          <p:spPr>
            <a:xfrm>
              <a:off x="0"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2547"/>
            </a:solidFill>
          </p:spPr>
          <p:txBody>
            <a:bodyPr wrap="square" lIns="0" tIns="0" rIns="0" bIns="0" rtlCol="0"/>
            <a:lstStyle/>
            <a:p>
              <a:endParaRPr/>
            </a:p>
          </p:txBody>
        </p:sp>
        <p:sp>
          <p:nvSpPr>
            <p:cNvPr id="6" name="object 6"/>
            <p:cNvSpPr/>
            <p:nvPr/>
          </p:nvSpPr>
          <p:spPr>
            <a:xfrm>
              <a:off x="1919973"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386B"/>
            </a:solidFill>
          </p:spPr>
          <p:txBody>
            <a:bodyPr wrap="square" lIns="0" tIns="0" rIns="0" bIns="0" rtlCol="0"/>
            <a:lstStyle/>
            <a:p>
              <a:endParaRPr/>
            </a:p>
          </p:txBody>
        </p:sp>
        <p:sp>
          <p:nvSpPr>
            <p:cNvPr id="7" name="object 7"/>
            <p:cNvSpPr/>
            <p:nvPr/>
          </p:nvSpPr>
          <p:spPr>
            <a:xfrm>
              <a:off x="3839946"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4A8F"/>
            </a:solidFill>
          </p:spPr>
          <p:txBody>
            <a:bodyPr wrap="square" lIns="0" tIns="0" rIns="0" bIns="0" rtlCol="0"/>
            <a:lstStyle/>
            <a:p>
              <a:endParaRPr/>
            </a:p>
          </p:txBody>
        </p:sp>
      </p:grpSp>
      <p:sp>
        <p:nvSpPr>
          <p:cNvPr id="8" name="object 8"/>
          <p:cNvSpPr txBox="1">
            <a:spLocks noGrp="1"/>
          </p:cNvSpPr>
          <p:nvPr>
            <p:ph type="dt" sz="half" idx="6"/>
          </p:nvPr>
        </p:nvSpPr>
        <p:spPr>
          <a:prstGeom prst="rect">
            <a:avLst/>
          </a:prstGeom>
        </p:spPr>
        <p:txBody>
          <a:bodyPr vert="horz" wrap="square" lIns="0" tIns="22225" rIns="0" bIns="0" rtlCol="0">
            <a:spAutoFit/>
          </a:bodyPr>
          <a:lstStyle/>
          <a:p>
            <a:pPr marL="12700">
              <a:lnSpc>
                <a:spcPct val="100000"/>
              </a:lnSpc>
              <a:spcBef>
                <a:spcPts val="175"/>
              </a:spcBef>
            </a:pPr>
            <a:r>
              <a:rPr spc="-10" dirty="0"/>
              <a:t>邓</a:t>
            </a:r>
            <a:r>
              <a:rPr dirty="0"/>
              <a:t>垚</a:t>
            </a:r>
            <a:r>
              <a:rPr spc="240" dirty="0"/>
              <a:t> </a:t>
            </a:r>
            <a:r>
              <a:rPr dirty="0">
                <a:latin typeface="Century Gothic"/>
                <a:cs typeface="Century Gothic"/>
              </a:rPr>
              <a:t>(</a:t>
            </a:r>
            <a:r>
              <a:rPr spc="-10" dirty="0"/>
              <a:t>贵州大学</a:t>
            </a:r>
            <a:r>
              <a:rPr spc="-50" dirty="0">
                <a:latin typeface="Century Gothic"/>
                <a:cs typeface="Century Gothic"/>
              </a:rPr>
              <a:t>)</a:t>
            </a:r>
          </a:p>
        </p:txBody>
      </p:sp>
      <p:sp>
        <p:nvSpPr>
          <p:cNvPr id="9" name="object 9"/>
          <p:cNvSpPr txBox="1">
            <a:spLocks noGrp="1"/>
          </p:cNvSpPr>
          <p:nvPr>
            <p:ph type="ftr" sz="quarter" idx="5"/>
          </p:nvPr>
        </p:nvSpPr>
        <p:spPr>
          <a:prstGeom prst="rect">
            <a:avLst/>
          </a:prstGeom>
        </p:spPr>
        <p:txBody>
          <a:bodyPr vert="horz" wrap="square" lIns="0" tIns="22225" rIns="0" bIns="0" rtlCol="0">
            <a:spAutoFit/>
          </a:bodyPr>
          <a:lstStyle/>
          <a:p>
            <a:pPr marL="12700">
              <a:lnSpc>
                <a:spcPct val="100000"/>
              </a:lnSpc>
              <a:spcBef>
                <a:spcPts val="175"/>
              </a:spcBef>
            </a:pPr>
            <a:r>
              <a:rPr dirty="0"/>
              <a:t>2026</a:t>
            </a:r>
            <a:r>
              <a:rPr spc="15" dirty="0"/>
              <a:t> </a:t>
            </a:r>
            <a:r>
              <a:rPr dirty="0">
                <a:latin typeface="微软雅黑"/>
                <a:cs typeface="微软雅黑"/>
              </a:rPr>
              <a:t>年 </a:t>
            </a:r>
            <a:r>
              <a:rPr dirty="0"/>
              <a:t>3</a:t>
            </a:r>
            <a:r>
              <a:rPr spc="15" dirty="0"/>
              <a:t> </a:t>
            </a:r>
            <a:r>
              <a:rPr spc="5" dirty="0">
                <a:latin typeface="微软雅黑"/>
                <a:cs typeface="微软雅黑"/>
              </a:rPr>
              <a:t>月 </a:t>
            </a:r>
            <a:r>
              <a:rPr dirty="0"/>
              <a:t>9</a:t>
            </a:r>
            <a:r>
              <a:rPr spc="15" dirty="0"/>
              <a:t> </a:t>
            </a:r>
            <a:r>
              <a:rPr spc="-50" dirty="0">
                <a:latin typeface="微软雅黑"/>
                <a:cs typeface="微软雅黑"/>
              </a:rPr>
              <a:t>日</a:t>
            </a:r>
          </a:p>
        </p:txBody>
      </p:sp>
      <p:sp>
        <p:nvSpPr>
          <p:cNvPr id="10" name="object 10"/>
          <p:cNvSpPr txBox="1">
            <a:spLocks noGrp="1"/>
          </p:cNvSpPr>
          <p:nvPr>
            <p:ph type="sldNum" sz="quarter" idx="7"/>
          </p:nvPr>
        </p:nvSpPr>
        <p:spPr>
          <a:prstGeom prst="rect">
            <a:avLst/>
          </a:prstGeom>
        </p:spPr>
        <p:txBody>
          <a:bodyPr vert="horz" wrap="square" lIns="0" tIns="22225" rIns="0" bIns="0" rtlCol="0">
            <a:spAutoFit/>
          </a:bodyPr>
          <a:lstStyle/>
          <a:p>
            <a:pPr marL="38100">
              <a:lnSpc>
                <a:spcPct val="100000"/>
              </a:lnSpc>
              <a:spcBef>
                <a:spcPts val="175"/>
              </a:spcBef>
            </a:pPr>
            <a:fld id="{81D60167-4931-47E6-BA6A-407CBD079E47}" type="slidenum">
              <a:rPr spc="-20" dirty="0"/>
              <a:t>7</a:t>
            </a:fld>
            <a:r>
              <a:rPr spc="-35" dirty="0"/>
              <a:t> </a:t>
            </a:r>
            <a:r>
              <a:rPr dirty="0"/>
              <a:t>/</a:t>
            </a:r>
            <a:r>
              <a:rPr spc="-30" dirty="0"/>
              <a:t> </a:t>
            </a:r>
            <a:r>
              <a:rPr spc="-50" dirty="0"/>
              <a:t>7</a:t>
            </a:r>
          </a:p>
        </p:txBody>
      </p:sp>
      <p:sp>
        <p:nvSpPr>
          <p:cNvPr id="11" name="object 11"/>
          <p:cNvSpPr txBox="1"/>
          <p:nvPr/>
        </p:nvSpPr>
        <p:spPr>
          <a:xfrm>
            <a:off x="2456052" y="3132293"/>
            <a:ext cx="848360" cy="109220"/>
          </a:xfrm>
          <a:prstGeom prst="rect">
            <a:avLst/>
          </a:prstGeom>
        </p:spPr>
        <p:txBody>
          <a:bodyPr vert="horz" wrap="square" lIns="0" tIns="15875" rIns="0" bIns="0" rtlCol="0">
            <a:spAutoFit/>
          </a:bodyPr>
          <a:lstStyle/>
          <a:p>
            <a:pPr marL="12700">
              <a:lnSpc>
                <a:spcPct val="100000"/>
              </a:lnSpc>
              <a:spcBef>
                <a:spcPts val="125"/>
              </a:spcBef>
            </a:pPr>
            <a:r>
              <a:rPr sz="500" spc="-10" dirty="0">
                <a:solidFill>
                  <a:srgbClr val="FFFFFF"/>
                </a:solidFill>
                <a:latin typeface="微软雅黑"/>
                <a:cs typeface="微软雅黑"/>
                <a:hlinkClick r:id="rId2" action="ppaction://hlinksldjump"/>
              </a:rPr>
              <a:t>开题报告：奇异两点边值问</a:t>
            </a:r>
            <a:r>
              <a:rPr sz="500" spc="-50" dirty="0">
                <a:solidFill>
                  <a:srgbClr val="FFFFFF"/>
                </a:solidFill>
                <a:latin typeface="微软雅黑"/>
                <a:cs typeface="微软雅黑"/>
                <a:hlinkClick r:id="rId2" action="ppaction://hlinksldjump"/>
              </a:rPr>
              <a:t>题</a:t>
            </a:r>
            <a:endParaRPr sz="500">
              <a:latin typeface="微软雅黑"/>
              <a:cs typeface="微软雅黑"/>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979"/>
            <a:ext cx="1118870" cy="244475"/>
          </a:xfrm>
          <a:prstGeom prst="rect">
            <a:avLst/>
          </a:prstGeom>
        </p:spPr>
        <p:txBody>
          <a:bodyPr vert="horz" wrap="square" lIns="0" tIns="17145" rIns="0" bIns="0" rtlCol="0">
            <a:spAutoFit/>
          </a:bodyPr>
          <a:lstStyle/>
          <a:p>
            <a:pPr marL="12700">
              <a:lnSpc>
                <a:spcPct val="100000"/>
              </a:lnSpc>
              <a:spcBef>
                <a:spcPts val="135"/>
              </a:spcBef>
            </a:pPr>
            <a:r>
              <a:rPr dirty="0"/>
              <a:t>研究技术路</a:t>
            </a:r>
            <a:r>
              <a:rPr spc="-50" dirty="0"/>
              <a:t>线</a:t>
            </a:r>
          </a:p>
        </p:txBody>
      </p:sp>
      <p:grpSp>
        <p:nvGrpSpPr>
          <p:cNvPr id="3" name="object 3"/>
          <p:cNvGrpSpPr/>
          <p:nvPr/>
        </p:nvGrpSpPr>
        <p:grpSpPr>
          <a:xfrm>
            <a:off x="197994" y="836928"/>
            <a:ext cx="1288415" cy="568325"/>
            <a:chOff x="197994" y="836928"/>
            <a:chExt cx="1288415" cy="568325"/>
          </a:xfrm>
        </p:grpSpPr>
        <p:sp>
          <p:nvSpPr>
            <p:cNvPr id="4" name="object 4"/>
            <p:cNvSpPr/>
            <p:nvPr/>
          </p:nvSpPr>
          <p:spPr>
            <a:xfrm>
              <a:off x="226082" y="865017"/>
              <a:ext cx="1260475" cy="540385"/>
            </a:xfrm>
            <a:custGeom>
              <a:avLst/>
              <a:gdLst/>
              <a:ahLst/>
              <a:cxnLst/>
              <a:rect l="l" t="t" r="r" b="b"/>
              <a:pathLst>
                <a:path w="1260475" h="540385">
                  <a:moveTo>
                    <a:pt x="1209404" y="0"/>
                  </a:moveTo>
                  <a:lnTo>
                    <a:pt x="50610" y="0"/>
                  </a:lnTo>
                  <a:lnTo>
                    <a:pt x="30910" y="3977"/>
                  </a:lnTo>
                  <a:lnTo>
                    <a:pt x="14823" y="14823"/>
                  </a:lnTo>
                  <a:lnTo>
                    <a:pt x="3977" y="30910"/>
                  </a:lnTo>
                  <a:lnTo>
                    <a:pt x="0" y="50610"/>
                  </a:lnTo>
                  <a:lnTo>
                    <a:pt x="0" y="489395"/>
                  </a:lnTo>
                  <a:lnTo>
                    <a:pt x="3977" y="509095"/>
                  </a:lnTo>
                  <a:lnTo>
                    <a:pt x="14823" y="525183"/>
                  </a:lnTo>
                  <a:lnTo>
                    <a:pt x="30910" y="536029"/>
                  </a:lnTo>
                  <a:lnTo>
                    <a:pt x="50610" y="540006"/>
                  </a:lnTo>
                  <a:lnTo>
                    <a:pt x="1209404" y="540006"/>
                  </a:lnTo>
                  <a:lnTo>
                    <a:pt x="1229105" y="536029"/>
                  </a:lnTo>
                  <a:lnTo>
                    <a:pt x="1245192" y="525183"/>
                  </a:lnTo>
                  <a:lnTo>
                    <a:pt x="1256038" y="509095"/>
                  </a:lnTo>
                  <a:lnTo>
                    <a:pt x="1260015" y="489395"/>
                  </a:lnTo>
                  <a:lnTo>
                    <a:pt x="1260015" y="50610"/>
                  </a:lnTo>
                  <a:lnTo>
                    <a:pt x="1256038" y="30910"/>
                  </a:lnTo>
                  <a:lnTo>
                    <a:pt x="1245192" y="14823"/>
                  </a:lnTo>
                  <a:lnTo>
                    <a:pt x="1229105" y="3977"/>
                  </a:lnTo>
                  <a:lnTo>
                    <a:pt x="1209404" y="0"/>
                  </a:lnTo>
                  <a:close/>
                </a:path>
              </a:pathLst>
            </a:custGeom>
            <a:solidFill>
              <a:srgbClr val="7F7F7F">
                <a:alpha val="29998"/>
              </a:srgbClr>
            </a:solidFill>
          </p:spPr>
          <p:txBody>
            <a:bodyPr wrap="square" lIns="0" tIns="0" rIns="0" bIns="0" rtlCol="0"/>
            <a:lstStyle/>
            <a:p>
              <a:endParaRPr/>
            </a:p>
          </p:txBody>
        </p:sp>
        <p:sp>
          <p:nvSpPr>
            <p:cNvPr id="5" name="object 5"/>
            <p:cNvSpPr/>
            <p:nvPr/>
          </p:nvSpPr>
          <p:spPr>
            <a:xfrm>
              <a:off x="197994" y="836928"/>
              <a:ext cx="1260475" cy="540385"/>
            </a:xfrm>
            <a:custGeom>
              <a:avLst/>
              <a:gdLst/>
              <a:ahLst/>
              <a:cxnLst/>
              <a:rect l="l" t="t" r="r" b="b"/>
              <a:pathLst>
                <a:path w="1260475" h="540385">
                  <a:moveTo>
                    <a:pt x="1209404" y="0"/>
                  </a:moveTo>
                  <a:lnTo>
                    <a:pt x="50610" y="0"/>
                  </a:lnTo>
                  <a:lnTo>
                    <a:pt x="30910" y="3977"/>
                  </a:lnTo>
                  <a:lnTo>
                    <a:pt x="14823" y="14823"/>
                  </a:lnTo>
                  <a:lnTo>
                    <a:pt x="3977" y="30910"/>
                  </a:lnTo>
                  <a:lnTo>
                    <a:pt x="0" y="50610"/>
                  </a:lnTo>
                  <a:lnTo>
                    <a:pt x="0" y="489395"/>
                  </a:lnTo>
                  <a:lnTo>
                    <a:pt x="3977" y="509095"/>
                  </a:lnTo>
                  <a:lnTo>
                    <a:pt x="14823" y="525183"/>
                  </a:lnTo>
                  <a:lnTo>
                    <a:pt x="30910" y="536029"/>
                  </a:lnTo>
                  <a:lnTo>
                    <a:pt x="50610" y="540006"/>
                  </a:lnTo>
                  <a:lnTo>
                    <a:pt x="1209404" y="540006"/>
                  </a:lnTo>
                  <a:lnTo>
                    <a:pt x="1229105" y="536029"/>
                  </a:lnTo>
                  <a:lnTo>
                    <a:pt x="1245192" y="525183"/>
                  </a:lnTo>
                  <a:lnTo>
                    <a:pt x="1256038" y="509095"/>
                  </a:lnTo>
                  <a:lnTo>
                    <a:pt x="1260015" y="489395"/>
                  </a:lnTo>
                  <a:lnTo>
                    <a:pt x="1260015" y="50610"/>
                  </a:lnTo>
                  <a:lnTo>
                    <a:pt x="1256038" y="30910"/>
                  </a:lnTo>
                  <a:lnTo>
                    <a:pt x="1245192" y="14823"/>
                  </a:lnTo>
                  <a:lnTo>
                    <a:pt x="1229105" y="3977"/>
                  </a:lnTo>
                  <a:lnTo>
                    <a:pt x="1209404" y="0"/>
                  </a:lnTo>
                  <a:close/>
                </a:path>
              </a:pathLst>
            </a:custGeom>
            <a:solidFill>
              <a:srgbClr val="0000B2"/>
            </a:solidFill>
          </p:spPr>
          <p:txBody>
            <a:bodyPr wrap="square" lIns="0" tIns="0" rIns="0" bIns="0" rtlCol="0"/>
            <a:lstStyle/>
            <a:p>
              <a:endParaRPr/>
            </a:p>
          </p:txBody>
        </p:sp>
      </p:grpSp>
      <p:sp>
        <p:nvSpPr>
          <p:cNvPr id="6" name="object 6"/>
          <p:cNvSpPr txBox="1"/>
          <p:nvPr/>
        </p:nvSpPr>
        <p:spPr>
          <a:xfrm>
            <a:off x="359803" y="881057"/>
            <a:ext cx="936625" cy="440690"/>
          </a:xfrm>
          <a:prstGeom prst="rect">
            <a:avLst/>
          </a:prstGeom>
        </p:spPr>
        <p:txBody>
          <a:bodyPr vert="horz" wrap="square" lIns="0" tIns="12065" rIns="0" bIns="0" rtlCol="0">
            <a:spAutoFit/>
          </a:bodyPr>
          <a:lstStyle/>
          <a:p>
            <a:pPr algn="ctr">
              <a:lnSpc>
                <a:spcPct val="100000"/>
              </a:lnSpc>
              <a:spcBef>
                <a:spcPts val="95"/>
              </a:spcBef>
            </a:pPr>
            <a:r>
              <a:rPr sz="900" b="1" spc="-10" dirty="0">
                <a:solidFill>
                  <a:srgbClr val="FFFFFF"/>
                </a:solidFill>
                <a:latin typeface="微软雅黑"/>
                <a:cs typeface="微软雅黑"/>
              </a:rPr>
              <a:t>问题</a:t>
            </a:r>
            <a:r>
              <a:rPr sz="900" b="1" spc="-50" dirty="0">
                <a:solidFill>
                  <a:srgbClr val="FFFFFF"/>
                </a:solidFill>
                <a:latin typeface="微软雅黑"/>
                <a:cs typeface="微软雅黑"/>
              </a:rPr>
              <a:t>域</a:t>
            </a:r>
            <a:endParaRPr sz="900">
              <a:latin typeface="微软雅黑"/>
              <a:cs typeface="微软雅黑"/>
            </a:endParaRPr>
          </a:p>
          <a:p>
            <a:pPr marL="12700" marR="5080" algn="ctr">
              <a:lnSpc>
                <a:spcPct val="101499"/>
              </a:lnSpc>
            </a:pPr>
            <a:r>
              <a:rPr sz="900" spc="-10" dirty="0">
                <a:solidFill>
                  <a:srgbClr val="FFFFFF"/>
                </a:solidFill>
                <a:latin typeface="微软雅黑"/>
                <a:cs typeface="微软雅黑"/>
              </a:rPr>
              <a:t>时间不一致难</a:t>
            </a:r>
            <a:r>
              <a:rPr sz="900" spc="-50" dirty="0">
                <a:solidFill>
                  <a:srgbClr val="FFFFFF"/>
                </a:solidFill>
                <a:latin typeface="微软雅黑"/>
                <a:cs typeface="微软雅黑"/>
              </a:rPr>
              <a:t>题</a:t>
            </a:r>
            <a:r>
              <a:rPr sz="900" spc="500" dirty="0">
                <a:solidFill>
                  <a:srgbClr val="FFFFFF"/>
                </a:solidFill>
                <a:latin typeface="微软雅黑"/>
                <a:cs typeface="微软雅黑"/>
              </a:rPr>
              <a:t> </a:t>
            </a:r>
            <a:r>
              <a:rPr sz="900" spc="-10" dirty="0">
                <a:solidFill>
                  <a:srgbClr val="FFFFFF"/>
                </a:solidFill>
                <a:latin typeface="微软雅黑"/>
                <a:cs typeface="微软雅黑"/>
              </a:rPr>
              <a:t>奇异两点边值问</a:t>
            </a:r>
            <a:r>
              <a:rPr sz="900" spc="-50" dirty="0">
                <a:solidFill>
                  <a:srgbClr val="FFFFFF"/>
                </a:solidFill>
                <a:latin typeface="微软雅黑"/>
                <a:cs typeface="微软雅黑"/>
              </a:rPr>
              <a:t>题</a:t>
            </a:r>
            <a:endParaRPr sz="900">
              <a:latin typeface="微软雅黑"/>
              <a:cs typeface="微软雅黑"/>
            </a:endParaRPr>
          </a:p>
        </p:txBody>
      </p:sp>
      <p:grpSp>
        <p:nvGrpSpPr>
          <p:cNvPr id="7" name="object 7"/>
          <p:cNvGrpSpPr/>
          <p:nvPr/>
        </p:nvGrpSpPr>
        <p:grpSpPr>
          <a:xfrm>
            <a:off x="2250013" y="836928"/>
            <a:ext cx="1288415" cy="568325"/>
            <a:chOff x="2250013" y="836928"/>
            <a:chExt cx="1288415" cy="568325"/>
          </a:xfrm>
        </p:grpSpPr>
        <p:sp>
          <p:nvSpPr>
            <p:cNvPr id="8" name="object 8"/>
            <p:cNvSpPr/>
            <p:nvPr/>
          </p:nvSpPr>
          <p:spPr>
            <a:xfrm>
              <a:off x="2278102" y="865017"/>
              <a:ext cx="1260475" cy="540385"/>
            </a:xfrm>
            <a:custGeom>
              <a:avLst/>
              <a:gdLst/>
              <a:ahLst/>
              <a:cxnLst/>
              <a:rect l="l" t="t" r="r" b="b"/>
              <a:pathLst>
                <a:path w="1260475" h="540385">
                  <a:moveTo>
                    <a:pt x="1209405" y="0"/>
                  </a:moveTo>
                  <a:lnTo>
                    <a:pt x="50610" y="0"/>
                  </a:lnTo>
                  <a:lnTo>
                    <a:pt x="30910" y="3977"/>
                  </a:lnTo>
                  <a:lnTo>
                    <a:pt x="14823" y="14823"/>
                  </a:lnTo>
                  <a:lnTo>
                    <a:pt x="3977" y="30910"/>
                  </a:lnTo>
                  <a:lnTo>
                    <a:pt x="0" y="50610"/>
                  </a:lnTo>
                  <a:lnTo>
                    <a:pt x="0" y="489395"/>
                  </a:lnTo>
                  <a:lnTo>
                    <a:pt x="3977" y="509095"/>
                  </a:lnTo>
                  <a:lnTo>
                    <a:pt x="14823" y="525183"/>
                  </a:lnTo>
                  <a:lnTo>
                    <a:pt x="30910" y="536029"/>
                  </a:lnTo>
                  <a:lnTo>
                    <a:pt x="50610" y="540006"/>
                  </a:lnTo>
                  <a:lnTo>
                    <a:pt x="1209405" y="540006"/>
                  </a:lnTo>
                  <a:lnTo>
                    <a:pt x="1229105" y="536029"/>
                  </a:lnTo>
                  <a:lnTo>
                    <a:pt x="1245192" y="525183"/>
                  </a:lnTo>
                  <a:lnTo>
                    <a:pt x="1256038" y="509095"/>
                  </a:lnTo>
                  <a:lnTo>
                    <a:pt x="1260015" y="489395"/>
                  </a:lnTo>
                  <a:lnTo>
                    <a:pt x="1260015" y="50610"/>
                  </a:lnTo>
                  <a:lnTo>
                    <a:pt x="1256038" y="30910"/>
                  </a:lnTo>
                  <a:lnTo>
                    <a:pt x="1245192" y="14823"/>
                  </a:lnTo>
                  <a:lnTo>
                    <a:pt x="1229105" y="3977"/>
                  </a:lnTo>
                  <a:lnTo>
                    <a:pt x="1209405" y="0"/>
                  </a:lnTo>
                  <a:close/>
                </a:path>
              </a:pathLst>
            </a:custGeom>
            <a:solidFill>
              <a:srgbClr val="7F7F7F">
                <a:alpha val="29998"/>
              </a:srgbClr>
            </a:solidFill>
          </p:spPr>
          <p:txBody>
            <a:bodyPr wrap="square" lIns="0" tIns="0" rIns="0" bIns="0" rtlCol="0"/>
            <a:lstStyle/>
            <a:p>
              <a:endParaRPr/>
            </a:p>
          </p:txBody>
        </p:sp>
        <p:sp>
          <p:nvSpPr>
            <p:cNvPr id="9" name="object 9"/>
            <p:cNvSpPr/>
            <p:nvPr/>
          </p:nvSpPr>
          <p:spPr>
            <a:xfrm>
              <a:off x="2250013" y="836928"/>
              <a:ext cx="1260475" cy="540385"/>
            </a:xfrm>
            <a:custGeom>
              <a:avLst/>
              <a:gdLst/>
              <a:ahLst/>
              <a:cxnLst/>
              <a:rect l="l" t="t" r="r" b="b"/>
              <a:pathLst>
                <a:path w="1260475" h="540385">
                  <a:moveTo>
                    <a:pt x="1209405" y="0"/>
                  </a:moveTo>
                  <a:lnTo>
                    <a:pt x="50610" y="0"/>
                  </a:lnTo>
                  <a:lnTo>
                    <a:pt x="30910" y="3977"/>
                  </a:lnTo>
                  <a:lnTo>
                    <a:pt x="14823" y="14823"/>
                  </a:lnTo>
                  <a:lnTo>
                    <a:pt x="3977" y="30910"/>
                  </a:lnTo>
                  <a:lnTo>
                    <a:pt x="0" y="50610"/>
                  </a:lnTo>
                  <a:lnTo>
                    <a:pt x="0" y="489395"/>
                  </a:lnTo>
                  <a:lnTo>
                    <a:pt x="3977" y="509095"/>
                  </a:lnTo>
                  <a:lnTo>
                    <a:pt x="14823" y="525183"/>
                  </a:lnTo>
                  <a:lnTo>
                    <a:pt x="30910" y="536029"/>
                  </a:lnTo>
                  <a:lnTo>
                    <a:pt x="50610" y="540006"/>
                  </a:lnTo>
                  <a:lnTo>
                    <a:pt x="1209405" y="540006"/>
                  </a:lnTo>
                  <a:lnTo>
                    <a:pt x="1229105" y="536029"/>
                  </a:lnTo>
                  <a:lnTo>
                    <a:pt x="1245192" y="525183"/>
                  </a:lnTo>
                  <a:lnTo>
                    <a:pt x="1256038" y="509095"/>
                  </a:lnTo>
                  <a:lnTo>
                    <a:pt x="1260015" y="489395"/>
                  </a:lnTo>
                  <a:lnTo>
                    <a:pt x="1260015" y="50610"/>
                  </a:lnTo>
                  <a:lnTo>
                    <a:pt x="1256038" y="30910"/>
                  </a:lnTo>
                  <a:lnTo>
                    <a:pt x="1245192" y="14823"/>
                  </a:lnTo>
                  <a:lnTo>
                    <a:pt x="1229105" y="3977"/>
                  </a:lnTo>
                  <a:lnTo>
                    <a:pt x="1209405" y="0"/>
                  </a:lnTo>
                  <a:close/>
                </a:path>
              </a:pathLst>
            </a:custGeom>
            <a:solidFill>
              <a:srgbClr val="005959"/>
            </a:solidFill>
          </p:spPr>
          <p:txBody>
            <a:bodyPr wrap="square" lIns="0" tIns="0" rIns="0" bIns="0" rtlCol="0"/>
            <a:lstStyle/>
            <a:p>
              <a:endParaRPr/>
            </a:p>
          </p:txBody>
        </p:sp>
      </p:grpSp>
      <p:sp>
        <p:nvSpPr>
          <p:cNvPr id="10" name="object 10"/>
          <p:cNvSpPr txBox="1"/>
          <p:nvPr/>
        </p:nvSpPr>
        <p:spPr>
          <a:xfrm>
            <a:off x="2294420" y="880612"/>
            <a:ext cx="1171575" cy="440690"/>
          </a:xfrm>
          <a:prstGeom prst="rect">
            <a:avLst/>
          </a:prstGeom>
        </p:spPr>
        <p:txBody>
          <a:bodyPr vert="horz" wrap="square" lIns="0" tIns="12065" rIns="0" bIns="0" rtlCol="0">
            <a:spAutoFit/>
          </a:bodyPr>
          <a:lstStyle/>
          <a:p>
            <a:pPr algn="ctr">
              <a:lnSpc>
                <a:spcPct val="100000"/>
              </a:lnSpc>
              <a:spcBef>
                <a:spcPts val="95"/>
              </a:spcBef>
            </a:pPr>
            <a:r>
              <a:rPr sz="900" b="1" spc="-10" dirty="0">
                <a:solidFill>
                  <a:srgbClr val="FFFFFF"/>
                </a:solidFill>
                <a:latin typeface="微软雅黑"/>
                <a:cs typeface="微软雅黑"/>
              </a:rPr>
              <a:t>转化</a:t>
            </a:r>
            <a:r>
              <a:rPr sz="900" b="1" spc="-50" dirty="0">
                <a:solidFill>
                  <a:srgbClr val="FFFFFF"/>
                </a:solidFill>
                <a:latin typeface="微软雅黑"/>
                <a:cs typeface="微软雅黑"/>
              </a:rPr>
              <a:t>域</a:t>
            </a:r>
            <a:endParaRPr sz="900">
              <a:latin typeface="微软雅黑"/>
              <a:cs typeface="微软雅黑"/>
            </a:endParaRPr>
          </a:p>
          <a:p>
            <a:pPr marL="12700" marR="5080" algn="ctr">
              <a:lnSpc>
                <a:spcPct val="101499"/>
              </a:lnSpc>
            </a:pPr>
            <a:r>
              <a:rPr sz="900" spc="-10" dirty="0">
                <a:solidFill>
                  <a:srgbClr val="FFFFFF"/>
                </a:solidFill>
                <a:latin typeface="微软雅黑"/>
                <a:cs typeface="微软雅黑"/>
              </a:rPr>
              <a:t>解耦策</a:t>
            </a:r>
            <a:r>
              <a:rPr sz="900" dirty="0">
                <a:solidFill>
                  <a:srgbClr val="FFFFFF"/>
                </a:solidFill>
                <a:latin typeface="微软雅黑"/>
                <a:cs typeface="微软雅黑"/>
              </a:rPr>
              <a:t>略</a:t>
            </a:r>
            <a:r>
              <a:rPr sz="900" spc="60" dirty="0">
                <a:solidFill>
                  <a:srgbClr val="FFFFFF"/>
                </a:solidFill>
                <a:latin typeface="微软雅黑"/>
                <a:cs typeface="微软雅黑"/>
              </a:rPr>
              <a:t> </a:t>
            </a:r>
            <a:r>
              <a:rPr sz="900" dirty="0">
                <a:solidFill>
                  <a:srgbClr val="FFFFFF"/>
                </a:solidFill>
                <a:latin typeface="Arial"/>
                <a:cs typeface="Arial"/>
              </a:rPr>
              <a:t>(P</a:t>
            </a:r>
            <a:r>
              <a:rPr sz="900" spc="80" dirty="0">
                <a:solidFill>
                  <a:srgbClr val="FFFFFF"/>
                </a:solidFill>
                <a:latin typeface="Arial"/>
                <a:cs typeface="Arial"/>
              </a:rPr>
              <a:t> </a:t>
            </a:r>
            <a:r>
              <a:rPr sz="900" spc="-20" dirty="0">
                <a:solidFill>
                  <a:srgbClr val="FFFFFF"/>
                </a:solidFill>
                <a:latin typeface="微软雅黑"/>
                <a:cs typeface="微软雅黑"/>
              </a:rPr>
              <a:t>函数</a:t>
            </a:r>
            <a:r>
              <a:rPr sz="900" spc="5" dirty="0">
                <a:solidFill>
                  <a:srgbClr val="FFFFFF"/>
                </a:solidFill>
                <a:latin typeface="Arial"/>
                <a:cs typeface="Arial"/>
              </a:rPr>
              <a:t>) </a:t>
            </a:r>
            <a:r>
              <a:rPr sz="900" dirty="0">
                <a:solidFill>
                  <a:srgbClr val="FFFFFF"/>
                </a:solidFill>
                <a:latin typeface="Arial"/>
                <a:cs typeface="Arial"/>
              </a:rPr>
              <a:t>Riccati</a:t>
            </a:r>
            <a:r>
              <a:rPr sz="900" spc="20" dirty="0">
                <a:solidFill>
                  <a:srgbClr val="FFFFFF"/>
                </a:solidFill>
                <a:latin typeface="Arial"/>
                <a:cs typeface="Arial"/>
              </a:rPr>
              <a:t> </a:t>
            </a:r>
            <a:r>
              <a:rPr sz="900" spc="95" dirty="0">
                <a:solidFill>
                  <a:srgbClr val="FFFFFF"/>
                </a:solidFill>
                <a:latin typeface="Arial"/>
                <a:cs typeface="Arial"/>
              </a:rPr>
              <a:t>&amp;</a:t>
            </a:r>
            <a:r>
              <a:rPr sz="900" spc="20" dirty="0">
                <a:solidFill>
                  <a:srgbClr val="FFFFFF"/>
                </a:solidFill>
                <a:latin typeface="Arial"/>
                <a:cs typeface="Arial"/>
              </a:rPr>
              <a:t> </a:t>
            </a:r>
            <a:r>
              <a:rPr sz="900" dirty="0">
                <a:solidFill>
                  <a:srgbClr val="FFFFFF"/>
                </a:solidFill>
                <a:latin typeface="Arial"/>
                <a:cs typeface="Arial"/>
              </a:rPr>
              <a:t>LQ</a:t>
            </a:r>
            <a:r>
              <a:rPr sz="900" spc="20" dirty="0">
                <a:solidFill>
                  <a:srgbClr val="FFFFFF"/>
                </a:solidFill>
                <a:latin typeface="Arial"/>
                <a:cs typeface="Arial"/>
              </a:rPr>
              <a:t> </a:t>
            </a:r>
            <a:r>
              <a:rPr sz="900" spc="-10" dirty="0">
                <a:solidFill>
                  <a:srgbClr val="FFFFFF"/>
                </a:solidFill>
                <a:latin typeface="微软雅黑"/>
                <a:cs typeface="微软雅黑"/>
              </a:rPr>
              <a:t>等价映</a:t>
            </a:r>
            <a:r>
              <a:rPr sz="900" spc="-50" dirty="0">
                <a:solidFill>
                  <a:srgbClr val="FFFFFF"/>
                </a:solidFill>
                <a:latin typeface="微软雅黑"/>
                <a:cs typeface="微软雅黑"/>
              </a:rPr>
              <a:t>射</a:t>
            </a:r>
            <a:endParaRPr sz="900">
              <a:latin typeface="微软雅黑"/>
              <a:cs typeface="微软雅黑"/>
            </a:endParaRPr>
          </a:p>
        </p:txBody>
      </p:sp>
      <p:grpSp>
        <p:nvGrpSpPr>
          <p:cNvPr id="11" name="object 11"/>
          <p:cNvGrpSpPr/>
          <p:nvPr/>
        </p:nvGrpSpPr>
        <p:grpSpPr>
          <a:xfrm>
            <a:off x="4302034" y="836928"/>
            <a:ext cx="1288415" cy="568325"/>
            <a:chOff x="4302034" y="836928"/>
            <a:chExt cx="1288415" cy="568325"/>
          </a:xfrm>
        </p:grpSpPr>
        <p:sp>
          <p:nvSpPr>
            <p:cNvPr id="12" name="object 12"/>
            <p:cNvSpPr/>
            <p:nvPr/>
          </p:nvSpPr>
          <p:spPr>
            <a:xfrm>
              <a:off x="4330123" y="865017"/>
              <a:ext cx="1260475" cy="540385"/>
            </a:xfrm>
            <a:custGeom>
              <a:avLst/>
              <a:gdLst/>
              <a:ahLst/>
              <a:cxnLst/>
              <a:rect l="l" t="t" r="r" b="b"/>
              <a:pathLst>
                <a:path w="1260475" h="540385">
                  <a:moveTo>
                    <a:pt x="1209405" y="0"/>
                  </a:moveTo>
                  <a:lnTo>
                    <a:pt x="50610" y="0"/>
                  </a:lnTo>
                  <a:lnTo>
                    <a:pt x="30910" y="3977"/>
                  </a:lnTo>
                  <a:lnTo>
                    <a:pt x="14823" y="14823"/>
                  </a:lnTo>
                  <a:lnTo>
                    <a:pt x="3977" y="30910"/>
                  </a:lnTo>
                  <a:lnTo>
                    <a:pt x="0" y="50610"/>
                  </a:lnTo>
                  <a:lnTo>
                    <a:pt x="0" y="489395"/>
                  </a:lnTo>
                  <a:lnTo>
                    <a:pt x="3977" y="509095"/>
                  </a:lnTo>
                  <a:lnTo>
                    <a:pt x="14823" y="525183"/>
                  </a:lnTo>
                  <a:lnTo>
                    <a:pt x="30910" y="536029"/>
                  </a:lnTo>
                  <a:lnTo>
                    <a:pt x="50610" y="540006"/>
                  </a:lnTo>
                  <a:lnTo>
                    <a:pt x="1209405" y="540006"/>
                  </a:lnTo>
                  <a:lnTo>
                    <a:pt x="1229105" y="536029"/>
                  </a:lnTo>
                  <a:lnTo>
                    <a:pt x="1245192" y="525183"/>
                  </a:lnTo>
                  <a:lnTo>
                    <a:pt x="1256038" y="509095"/>
                  </a:lnTo>
                  <a:lnTo>
                    <a:pt x="1260015" y="489395"/>
                  </a:lnTo>
                  <a:lnTo>
                    <a:pt x="1260015" y="50610"/>
                  </a:lnTo>
                  <a:lnTo>
                    <a:pt x="1256038" y="30910"/>
                  </a:lnTo>
                  <a:lnTo>
                    <a:pt x="1245192" y="14823"/>
                  </a:lnTo>
                  <a:lnTo>
                    <a:pt x="1229105" y="3977"/>
                  </a:lnTo>
                  <a:lnTo>
                    <a:pt x="1209405" y="0"/>
                  </a:lnTo>
                  <a:close/>
                </a:path>
              </a:pathLst>
            </a:custGeom>
            <a:solidFill>
              <a:srgbClr val="7F7F7F">
                <a:alpha val="29998"/>
              </a:srgbClr>
            </a:solidFill>
          </p:spPr>
          <p:txBody>
            <a:bodyPr wrap="square" lIns="0" tIns="0" rIns="0" bIns="0" rtlCol="0"/>
            <a:lstStyle/>
            <a:p>
              <a:endParaRPr/>
            </a:p>
          </p:txBody>
        </p:sp>
        <p:sp>
          <p:nvSpPr>
            <p:cNvPr id="13" name="object 13"/>
            <p:cNvSpPr/>
            <p:nvPr/>
          </p:nvSpPr>
          <p:spPr>
            <a:xfrm>
              <a:off x="4302034" y="836928"/>
              <a:ext cx="1260475" cy="540385"/>
            </a:xfrm>
            <a:custGeom>
              <a:avLst/>
              <a:gdLst/>
              <a:ahLst/>
              <a:cxnLst/>
              <a:rect l="l" t="t" r="r" b="b"/>
              <a:pathLst>
                <a:path w="1260475" h="540385">
                  <a:moveTo>
                    <a:pt x="1209405" y="0"/>
                  </a:moveTo>
                  <a:lnTo>
                    <a:pt x="50610" y="0"/>
                  </a:lnTo>
                  <a:lnTo>
                    <a:pt x="30910" y="3977"/>
                  </a:lnTo>
                  <a:lnTo>
                    <a:pt x="14823" y="14823"/>
                  </a:lnTo>
                  <a:lnTo>
                    <a:pt x="3977" y="30910"/>
                  </a:lnTo>
                  <a:lnTo>
                    <a:pt x="0" y="50610"/>
                  </a:lnTo>
                  <a:lnTo>
                    <a:pt x="0" y="489395"/>
                  </a:lnTo>
                  <a:lnTo>
                    <a:pt x="3977" y="509095"/>
                  </a:lnTo>
                  <a:lnTo>
                    <a:pt x="14823" y="525183"/>
                  </a:lnTo>
                  <a:lnTo>
                    <a:pt x="30910" y="536029"/>
                  </a:lnTo>
                  <a:lnTo>
                    <a:pt x="50610" y="540006"/>
                  </a:lnTo>
                  <a:lnTo>
                    <a:pt x="1209405" y="540006"/>
                  </a:lnTo>
                  <a:lnTo>
                    <a:pt x="1229105" y="536029"/>
                  </a:lnTo>
                  <a:lnTo>
                    <a:pt x="1245192" y="525183"/>
                  </a:lnTo>
                  <a:lnTo>
                    <a:pt x="1256038" y="509095"/>
                  </a:lnTo>
                  <a:lnTo>
                    <a:pt x="1260015" y="489395"/>
                  </a:lnTo>
                  <a:lnTo>
                    <a:pt x="1260015" y="50610"/>
                  </a:lnTo>
                  <a:lnTo>
                    <a:pt x="1256038" y="30910"/>
                  </a:lnTo>
                  <a:lnTo>
                    <a:pt x="1245192" y="14823"/>
                  </a:lnTo>
                  <a:lnTo>
                    <a:pt x="1229105" y="3977"/>
                  </a:lnTo>
                  <a:lnTo>
                    <a:pt x="1209405" y="0"/>
                  </a:lnTo>
                  <a:close/>
                </a:path>
              </a:pathLst>
            </a:custGeom>
            <a:solidFill>
              <a:srgbClr val="B25900"/>
            </a:solidFill>
          </p:spPr>
          <p:txBody>
            <a:bodyPr wrap="square" lIns="0" tIns="0" rIns="0" bIns="0" rtlCol="0"/>
            <a:lstStyle/>
            <a:p>
              <a:endParaRPr/>
            </a:p>
          </p:txBody>
        </p:sp>
      </p:grpSp>
      <p:sp>
        <p:nvSpPr>
          <p:cNvPr id="14" name="object 14"/>
          <p:cNvSpPr txBox="1"/>
          <p:nvPr/>
        </p:nvSpPr>
        <p:spPr>
          <a:xfrm>
            <a:off x="4455705" y="880612"/>
            <a:ext cx="953135" cy="440690"/>
          </a:xfrm>
          <a:prstGeom prst="rect">
            <a:avLst/>
          </a:prstGeom>
        </p:spPr>
        <p:txBody>
          <a:bodyPr vert="horz" wrap="square" lIns="0" tIns="12065" rIns="0" bIns="0" rtlCol="0">
            <a:spAutoFit/>
          </a:bodyPr>
          <a:lstStyle/>
          <a:p>
            <a:pPr algn="ctr">
              <a:lnSpc>
                <a:spcPct val="100000"/>
              </a:lnSpc>
              <a:spcBef>
                <a:spcPts val="95"/>
              </a:spcBef>
            </a:pPr>
            <a:r>
              <a:rPr sz="900" b="1" spc="-10" dirty="0">
                <a:solidFill>
                  <a:srgbClr val="FFFFFF"/>
                </a:solidFill>
                <a:latin typeface="微软雅黑"/>
                <a:cs typeface="微软雅黑"/>
              </a:rPr>
              <a:t>解决</a:t>
            </a:r>
            <a:r>
              <a:rPr sz="900" b="1" spc="-50" dirty="0">
                <a:solidFill>
                  <a:srgbClr val="FFFFFF"/>
                </a:solidFill>
                <a:latin typeface="微软雅黑"/>
                <a:cs typeface="微软雅黑"/>
              </a:rPr>
              <a:t>域</a:t>
            </a:r>
            <a:endParaRPr sz="900">
              <a:latin typeface="微软雅黑"/>
              <a:cs typeface="微软雅黑"/>
            </a:endParaRPr>
          </a:p>
          <a:p>
            <a:pPr algn="ctr">
              <a:lnSpc>
                <a:spcPct val="100000"/>
              </a:lnSpc>
              <a:spcBef>
                <a:spcPts val="15"/>
              </a:spcBef>
            </a:pPr>
            <a:r>
              <a:rPr sz="900" spc="-10" dirty="0">
                <a:solidFill>
                  <a:srgbClr val="FFFFFF"/>
                </a:solidFill>
                <a:latin typeface="微软雅黑"/>
                <a:cs typeface="微软雅黑"/>
              </a:rPr>
              <a:t>理论分</a:t>
            </a:r>
            <a:r>
              <a:rPr sz="900" dirty="0">
                <a:solidFill>
                  <a:srgbClr val="FFFFFF"/>
                </a:solidFill>
                <a:latin typeface="微软雅黑"/>
                <a:cs typeface="微软雅黑"/>
              </a:rPr>
              <a:t>析</a:t>
            </a:r>
            <a:r>
              <a:rPr sz="900" spc="35" dirty="0">
                <a:solidFill>
                  <a:srgbClr val="FFFFFF"/>
                </a:solidFill>
                <a:latin typeface="微软雅黑"/>
                <a:cs typeface="微软雅黑"/>
              </a:rPr>
              <a:t> </a:t>
            </a:r>
            <a:r>
              <a:rPr sz="900" spc="55" dirty="0">
                <a:solidFill>
                  <a:srgbClr val="FFFFFF"/>
                </a:solidFill>
                <a:latin typeface="Arial"/>
                <a:cs typeface="Arial"/>
              </a:rPr>
              <a:t>(</a:t>
            </a:r>
            <a:r>
              <a:rPr sz="900" spc="-10" dirty="0">
                <a:solidFill>
                  <a:srgbClr val="FFFFFF"/>
                </a:solidFill>
                <a:latin typeface="微软雅黑"/>
                <a:cs typeface="微软雅黑"/>
              </a:rPr>
              <a:t>唯一性</a:t>
            </a:r>
            <a:r>
              <a:rPr sz="900" spc="5" dirty="0">
                <a:solidFill>
                  <a:srgbClr val="FFFFFF"/>
                </a:solidFill>
                <a:latin typeface="Arial"/>
                <a:cs typeface="Arial"/>
              </a:rPr>
              <a:t>)</a:t>
            </a:r>
            <a:endParaRPr sz="900">
              <a:latin typeface="Arial"/>
              <a:cs typeface="Arial"/>
            </a:endParaRPr>
          </a:p>
          <a:p>
            <a:pPr algn="ctr">
              <a:lnSpc>
                <a:spcPct val="100000"/>
              </a:lnSpc>
              <a:spcBef>
                <a:spcPts val="15"/>
              </a:spcBef>
            </a:pPr>
            <a:r>
              <a:rPr sz="900" spc="-10" dirty="0">
                <a:solidFill>
                  <a:srgbClr val="FFFFFF"/>
                </a:solidFill>
                <a:latin typeface="微软雅黑"/>
                <a:cs typeface="微软雅黑"/>
              </a:rPr>
              <a:t>数值迭代算</a:t>
            </a:r>
            <a:r>
              <a:rPr sz="900" spc="-50" dirty="0">
                <a:solidFill>
                  <a:srgbClr val="FFFFFF"/>
                </a:solidFill>
                <a:latin typeface="微软雅黑"/>
                <a:cs typeface="微软雅黑"/>
              </a:rPr>
              <a:t>法</a:t>
            </a:r>
            <a:endParaRPr sz="900">
              <a:latin typeface="微软雅黑"/>
              <a:cs typeface="微软雅黑"/>
            </a:endParaRPr>
          </a:p>
        </p:txBody>
      </p:sp>
      <p:grpSp>
        <p:nvGrpSpPr>
          <p:cNvPr id="15" name="object 15"/>
          <p:cNvGrpSpPr/>
          <p:nvPr/>
        </p:nvGrpSpPr>
        <p:grpSpPr>
          <a:xfrm>
            <a:off x="1460661" y="1063242"/>
            <a:ext cx="2822575" cy="87630"/>
            <a:chOff x="1460661" y="1063242"/>
            <a:chExt cx="2822575" cy="87630"/>
          </a:xfrm>
        </p:grpSpPr>
        <p:sp>
          <p:nvSpPr>
            <p:cNvPr id="16" name="object 16"/>
            <p:cNvSpPr/>
            <p:nvPr/>
          </p:nvSpPr>
          <p:spPr>
            <a:xfrm>
              <a:off x="1460661" y="1106931"/>
              <a:ext cx="695325" cy="0"/>
            </a:xfrm>
            <a:custGeom>
              <a:avLst/>
              <a:gdLst/>
              <a:ahLst/>
              <a:cxnLst/>
              <a:rect l="l" t="t" r="r" b="b"/>
              <a:pathLst>
                <a:path w="695325">
                  <a:moveTo>
                    <a:pt x="0" y="0"/>
                  </a:moveTo>
                  <a:lnTo>
                    <a:pt x="694981" y="0"/>
                  </a:lnTo>
                </a:path>
              </a:pathLst>
            </a:custGeom>
            <a:ln w="18979">
              <a:solidFill>
                <a:srgbClr val="B2B2B2"/>
              </a:solidFill>
            </a:ln>
          </p:spPr>
          <p:txBody>
            <a:bodyPr wrap="square" lIns="0" tIns="0" rIns="0" bIns="0" rtlCol="0"/>
            <a:lstStyle/>
            <a:p>
              <a:endParaRPr/>
            </a:p>
          </p:txBody>
        </p:sp>
        <p:pic>
          <p:nvPicPr>
            <p:cNvPr id="17" name="object 17"/>
            <p:cNvPicPr/>
            <p:nvPr/>
          </p:nvPicPr>
          <p:blipFill>
            <a:blip r:embed="rId2" cstate="print"/>
            <a:stretch>
              <a:fillRect/>
            </a:stretch>
          </p:blipFill>
          <p:spPr>
            <a:xfrm>
              <a:off x="2120873" y="1063242"/>
              <a:ext cx="109346" cy="87378"/>
            </a:xfrm>
            <a:prstGeom prst="rect">
              <a:avLst/>
            </a:prstGeom>
          </p:spPr>
        </p:pic>
        <p:sp>
          <p:nvSpPr>
            <p:cNvPr id="18" name="object 18"/>
            <p:cNvSpPr/>
            <p:nvPr/>
          </p:nvSpPr>
          <p:spPr>
            <a:xfrm>
              <a:off x="3513077" y="1106931"/>
              <a:ext cx="695325" cy="0"/>
            </a:xfrm>
            <a:custGeom>
              <a:avLst/>
              <a:gdLst/>
              <a:ahLst/>
              <a:cxnLst/>
              <a:rect l="l" t="t" r="r" b="b"/>
              <a:pathLst>
                <a:path w="695325">
                  <a:moveTo>
                    <a:pt x="0" y="0"/>
                  </a:moveTo>
                  <a:lnTo>
                    <a:pt x="694982" y="0"/>
                  </a:lnTo>
                </a:path>
              </a:pathLst>
            </a:custGeom>
            <a:ln w="18979">
              <a:solidFill>
                <a:srgbClr val="B2B2B2"/>
              </a:solidFill>
            </a:ln>
          </p:spPr>
          <p:txBody>
            <a:bodyPr wrap="square" lIns="0" tIns="0" rIns="0" bIns="0" rtlCol="0"/>
            <a:lstStyle/>
            <a:p>
              <a:endParaRPr/>
            </a:p>
          </p:txBody>
        </p:sp>
        <p:pic>
          <p:nvPicPr>
            <p:cNvPr id="19" name="object 19"/>
            <p:cNvPicPr/>
            <p:nvPr/>
          </p:nvPicPr>
          <p:blipFill>
            <a:blip r:embed="rId2" cstate="print"/>
            <a:stretch>
              <a:fillRect/>
            </a:stretch>
          </p:blipFill>
          <p:spPr>
            <a:xfrm>
              <a:off x="4173289" y="1063242"/>
              <a:ext cx="109346" cy="87378"/>
            </a:xfrm>
            <a:prstGeom prst="rect">
              <a:avLst/>
            </a:prstGeom>
          </p:spPr>
        </p:pic>
      </p:grpSp>
      <p:sp>
        <p:nvSpPr>
          <p:cNvPr id="20" name="object 20"/>
          <p:cNvSpPr txBox="1"/>
          <p:nvPr/>
        </p:nvSpPr>
        <p:spPr>
          <a:xfrm>
            <a:off x="1664373" y="916371"/>
            <a:ext cx="379730" cy="132080"/>
          </a:xfrm>
          <a:prstGeom prst="rect">
            <a:avLst/>
          </a:prstGeom>
        </p:spPr>
        <p:txBody>
          <a:bodyPr vert="horz" wrap="square" lIns="0" tIns="12065" rIns="0" bIns="0" rtlCol="0">
            <a:spAutoFit/>
          </a:bodyPr>
          <a:lstStyle/>
          <a:p>
            <a:pPr marL="12700">
              <a:lnSpc>
                <a:spcPct val="100000"/>
              </a:lnSpc>
              <a:spcBef>
                <a:spcPts val="95"/>
              </a:spcBef>
            </a:pPr>
            <a:r>
              <a:rPr sz="700" spc="-10" dirty="0">
                <a:solidFill>
                  <a:srgbClr val="7F7F7F"/>
                </a:solidFill>
                <a:latin typeface="微软雅黑"/>
                <a:cs typeface="微软雅黑"/>
              </a:rPr>
              <a:t>等价转</a:t>
            </a:r>
            <a:r>
              <a:rPr sz="700" spc="-50" dirty="0">
                <a:solidFill>
                  <a:srgbClr val="7F7F7F"/>
                </a:solidFill>
                <a:latin typeface="微软雅黑"/>
                <a:cs typeface="微软雅黑"/>
              </a:rPr>
              <a:t>化</a:t>
            </a:r>
            <a:endParaRPr sz="700">
              <a:latin typeface="微软雅黑"/>
              <a:cs typeface="微软雅黑"/>
            </a:endParaRPr>
          </a:p>
        </p:txBody>
      </p:sp>
      <p:sp>
        <p:nvSpPr>
          <p:cNvPr id="21" name="object 21"/>
          <p:cNvSpPr txBox="1"/>
          <p:nvPr/>
        </p:nvSpPr>
        <p:spPr>
          <a:xfrm>
            <a:off x="3716782" y="916548"/>
            <a:ext cx="379730" cy="132080"/>
          </a:xfrm>
          <a:prstGeom prst="rect">
            <a:avLst/>
          </a:prstGeom>
        </p:spPr>
        <p:txBody>
          <a:bodyPr vert="horz" wrap="square" lIns="0" tIns="12065" rIns="0" bIns="0" rtlCol="0">
            <a:spAutoFit/>
          </a:bodyPr>
          <a:lstStyle/>
          <a:p>
            <a:pPr marL="12700">
              <a:lnSpc>
                <a:spcPct val="100000"/>
              </a:lnSpc>
              <a:spcBef>
                <a:spcPts val="95"/>
              </a:spcBef>
            </a:pPr>
            <a:r>
              <a:rPr sz="700" spc="-10" dirty="0">
                <a:solidFill>
                  <a:srgbClr val="7F7F7F"/>
                </a:solidFill>
                <a:latin typeface="微软雅黑"/>
                <a:cs typeface="微软雅黑"/>
              </a:rPr>
              <a:t>验证支</a:t>
            </a:r>
            <a:r>
              <a:rPr sz="700" spc="-50" dirty="0">
                <a:solidFill>
                  <a:srgbClr val="7F7F7F"/>
                </a:solidFill>
                <a:latin typeface="微软雅黑"/>
                <a:cs typeface="微软雅黑"/>
              </a:rPr>
              <a:t>撑</a:t>
            </a:r>
            <a:endParaRPr sz="700">
              <a:latin typeface="微软雅黑"/>
              <a:cs typeface="微软雅黑"/>
            </a:endParaRPr>
          </a:p>
        </p:txBody>
      </p:sp>
      <p:sp>
        <p:nvSpPr>
          <p:cNvPr id="22" name="object 22"/>
          <p:cNvSpPr txBox="1"/>
          <p:nvPr/>
        </p:nvSpPr>
        <p:spPr>
          <a:xfrm>
            <a:off x="214947" y="1821542"/>
            <a:ext cx="3872229" cy="594995"/>
          </a:xfrm>
          <a:prstGeom prst="rect">
            <a:avLst/>
          </a:prstGeom>
        </p:spPr>
        <p:txBody>
          <a:bodyPr vert="horz" wrap="square" lIns="0" tIns="50165" rIns="0" bIns="0" rtlCol="0">
            <a:spAutoFit/>
          </a:bodyPr>
          <a:lstStyle/>
          <a:p>
            <a:pPr marL="164465" indent="-127000">
              <a:lnSpc>
                <a:spcPct val="100000"/>
              </a:lnSpc>
              <a:spcBef>
                <a:spcPts val="395"/>
              </a:spcBef>
              <a:buClr>
                <a:srgbClr val="004A8F"/>
              </a:buClr>
              <a:buFont typeface="Times New Roman"/>
              <a:buChar char="•"/>
              <a:tabLst>
                <a:tab pos="165100" algn="l"/>
              </a:tabLst>
            </a:pPr>
            <a:r>
              <a:rPr sz="1000" b="1" spc="-10" dirty="0">
                <a:latin typeface="微软雅黑"/>
                <a:cs typeface="微软雅黑"/>
              </a:rPr>
              <a:t>问题驱动：</a:t>
            </a:r>
            <a:r>
              <a:rPr sz="1000" spc="-10" dirty="0">
                <a:latin typeface="微软雅黑"/>
                <a:cs typeface="微软雅黑"/>
              </a:rPr>
              <a:t>针对非线性边值问题存在的非唯一性与非局部性挑战</a:t>
            </a:r>
            <a:r>
              <a:rPr sz="1000" spc="-50" dirty="0">
                <a:latin typeface="微软雅黑"/>
                <a:cs typeface="微软雅黑"/>
              </a:rPr>
              <a:t>。</a:t>
            </a:r>
            <a:endParaRPr sz="1000">
              <a:latin typeface="微软雅黑"/>
              <a:cs typeface="微软雅黑"/>
            </a:endParaRPr>
          </a:p>
          <a:p>
            <a:pPr marL="164465" indent="-127000">
              <a:lnSpc>
                <a:spcPct val="100000"/>
              </a:lnSpc>
              <a:spcBef>
                <a:spcPts val="295"/>
              </a:spcBef>
              <a:buClr>
                <a:srgbClr val="004A8F"/>
              </a:buClr>
              <a:buFont typeface="Times New Roman"/>
              <a:buChar char="•"/>
              <a:tabLst>
                <a:tab pos="165100" algn="l"/>
              </a:tabLst>
            </a:pPr>
            <a:r>
              <a:rPr sz="1000" b="1" spc="-10" dirty="0">
                <a:latin typeface="微软雅黑"/>
                <a:cs typeface="微软雅黑"/>
              </a:rPr>
              <a:t>方法创新：</a:t>
            </a:r>
            <a:r>
              <a:rPr sz="1000" spc="-10" dirty="0">
                <a:latin typeface="微软雅黑"/>
                <a:cs typeface="微软雅黑"/>
              </a:rPr>
              <a:t>利用解耦技术建</a:t>
            </a:r>
            <a:r>
              <a:rPr sz="1000" dirty="0">
                <a:latin typeface="微软雅黑"/>
                <a:cs typeface="微软雅黑"/>
              </a:rPr>
              <a:t>立</a:t>
            </a:r>
            <a:r>
              <a:rPr sz="1000" spc="35" dirty="0">
                <a:latin typeface="微软雅黑"/>
                <a:cs typeface="微软雅黑"/>
              </a:rPr>
              <a:t> </a:t>
            </a:r>
            <a:r>
              <a:rPr sz="1000" dirty="0">
                <a:latin typeface="Tahoma"/>
                <a:cs typeface="Tahoma"/>
              </a:rPr>
              <a:t>Riccati</a:t>
            </a:r>
            <a:r>
              <a:rPr sz="1000" spc="20" dirty="0">
                <a:latin typeface="Tahoma"/>
                <a:cs typeface="Tahoma"/>
              </a:rPr>
              <a:t> </a:t>
            </a:r>
            <a:r>
              <a:rPr sz="1000" spc="15" dirty="0">
                <a:latin typeface="微软雅黑"/>
                <a:cs typeface="微软雅黑"/>
              </a:rPr>
              <a:t>与 </a:t>
            </a:r>
            <a:r>
              <a:rPr sz="1000" dirty="0">
                <a:latin typeface="Tahoma"/>
                <a:cs typeface="Tahoma"/>
              </a:rPr>
              <a:t>LQ</a:t>
            </a:r>
            <a:r>
              <a:rPr sz="1000" spc="20" dirty="0">
                <a:latin typeface="Tahoma"/>
                <a:cs typeface="Tahoma"/>
              </a:rPr>
              <a:t> </a:t>
            </a:r>
            <a:r>
              <a:rPr sz="1000" spc="-10" dirty="0">
                <a:latin typeface="微软雅黑"/>
                <a:cs typeface="微软雅黑"/>
              </a:rPr>
              <a:t>问题的等价关系</a:t>
            </a:r>
            <a:r>
              <a:rPr sz="1000" spc="-50" dirty="0">
                <a:latin typeface="微软雅黑"/>
                <a:cs typeface="微软雅黑"/>
              </a:rPr>
              <a:t>。</a:t>
            </a:r>
            <a:endParaRPr sz="1000">
              <a:latin typeface="微软雅黑"/>
              <a:cs typeface="微软雅黑"/>
            </a:endParaRPr>
          </a:p>
          <a:p>
            <a:pPr marL="164465" indent="-127000">
              <a:lnSpc>
                <a:spcPct val="100000"/>
              </a:lnSpc>
              <a:spcBef>
                <a:spcPts val="290"/>
              </a:spcBef>
              <a:buClr>
                <a:srgbClr val="004A8F"/>
              </a:buClr>
              <a:buFont typeface="Times New Roman"/>
              <a:buChar char="•"/>
              <a:tabLst>
                <a:tab pos="165100" algn="l"/>
              </a:tabLst>
            </a:pPr>
            <a:r>
              <a:rPr sz="1000" b="1" spc="-10" dirty="0">
                <a:latin typeface="微软雅黑"/>
                <a:cs typeface="微软雅黑"/>
              </a:rPr>
              <a:t>闭环验证：</a:t>
            </a:r>
            <a:r>
              <a:rPr sz="1000" spc="-10" dirty="0">
                <a:latin typeface="微软雅黑"/>
                <a:cs typeface="微软雅黑"/>
              </a:rPr>
              <a:t>理论证明与数值仿真相结合，确保结论的可靠性</a:t>
            </a:r>
            <a:r>
              <a:rPr sz="1000" spc="-50" dirty="0">
                <a:latin typeface="微软雅黑"/>
                <a:cs typeface="微软雅黑"/>
              </a:rPr>
              <a:t>。</a:t>
            </a:r>
            <a:endParaRPr sz="1000">
              <a:latin typeface="微软雅黑"/>
              <a:cs typeface="微软雅黑"/>
            </a:endParaRPr>
          </a:p>
        </p:txBody>
      </p:sp>
      <p:grpSp>
        <p:nvGrpSpPr>
          <p:cNvPr id="23" name="object 23"/>
          <p:cNvGrpSpPr/>
          <p:nvPr/>
        </p:nvGrpSpPr>
        <p:grpSpPr>
          <a:xfrm>
            <a:off x="0" y="3148736"/>
            <a:ext cx="5760085" cy="91440"/>
            <a:chOff x="0" y="3148736"/>
            <a:chExt cx="5760085" cy="91440"/>
          </a:xfrm>
        </p:grpSpPr>
        <p:sp>
          <p:nvSpPr>
            <p:cNvPr id="24" name="object 24"/>
            <p:cNvSpPr/>
            <p:nvPr/>
          </p:nvSpPr>
          <p:spPr>
            <a:xfrm>
              <a:off x="0"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2547"/>
            </a:solidFill>
          </p:spPr>
          <p:txBody>
            <a:bodyPr wrap="square" lIns="0" tIns="0" rIns="0" bIns="0" rtlCol="0"/>
            <a:lstStyle/>
            <a:p>
              <a:endParaRPr/>
            </a:p>
          </p:txBody>
        </p:sp>
        <p:sp>
          <p:nvSpPr>
            <p:cNvPr id="25" name="object 25"/>
            <p:cNvSpPr/>
            <p:nvPr/>
          </p:nvSpPr>
          <p:spPr>
            <a:xfrm>
              <a:off x="1919973"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386B"/>
            </a:solidFill>
          </p:spPr>
          <p:txBody>
            <a:bodyPr wrap="square" lIns="0" tIns="0" rIns="0" bIns="0" rtlCol="0"/>
            <a:lstStyle/>
            <a:p>
              <a:endParaRPr/>
            </a:p>
          </p:txBody>
        </p:sp>
        <p:sp>
          <p:nvSpPr>
            <p:cNvPr id="26" name="object 26"/>
            <p:cNvSpPr/>
            <p:nvPr/>
          </p:nvSpPr>
          <p:spPr>
            <a:xfrm>
              <a:off x="3839946"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4A8F"/>
            </a:solidFill>
          </p:spPr>
          <p:txBody>
            <a:bodyPr wrap="square" lIns="0" tIns="0" rIns="0" bIns="0" rtlCol="0"/>
            <a:lstStyle/>
            <a:p>
              <a:endParaRPr/>
            </a:p>
          </p:txBody>
        </p:sp>
      </p:grpSp>
      <p:sp>
        <p:nvSpPr>
          <p:cNvPr id="27" name="object 27"/>
          <p:cNvSpPr txBox="1">
            <a:spLocks noGrp="1"/>
          </p:cNvSpPr>
          <p:nvPr>
            <p:ph type="dt" sz="half" idx="6"/>
          </p:nvPr>
        </p:nvSpPr>
        <p:spPr>
          <a:prstGeom prst="rect">
            <a:avLst/>
          </a:prstGeom>
        </p:spPr>
        <p:txBody>
          <a:bodyPr vert="horz" wrap="square" lIns="0" tIns="22225" rIns="0" bIns="0" rtlCol="0">
            <a:spAutoFit/>
          </a:bodyPr>
          <a:lstStyle/>
          <a:p>
            <a:pPr marL="12700">
              <a:lnSpc>
                <a:spcPct val="100000"/>
              </a:lnSpc>
              <a:spcBef>
                <a:spcPts val="175"/>
              </a:spcBef>
            </a:pPr>
            <a:r>
              <a:rPr spc="-10" dirty="0"/>
              <a:t>邓</a:t>
            </a:r>
            <a:r>
              <a:rPr dirty="0"/>
              <a:t>垚</a:t>
            </a:r>
            <a:r>
              <a:rPr spc="240" dirty="0"/>
              <a:t> </a:t>
            </a:r>
            <a:r>
              <a:rPr dirty="0">
                <a:latin typeface="Century Gothic"/>
                <a:cs typeface="Century Gothic"/>
              </a:rPr>
              <a:t>(</a:t>
            </a:r>
            <a:r>
              <a:rPr spc="-10" dirty="0"/>
              <a:t>贵州大学</a:t>
            </a:r>
            <a:r>
              <a:rPr spc="-50" dirty="0">
                <a:latin typeface="Century Gothic"/>
                <a:cs typeface="Century Gothic"/>
              </a:rPr>
              <a:t>)</a:t>
            </a:r>
          </a:p>
        </p:txBody>
      </p:sp>
      <p:sp>
        <p:nvSpPr>
          <p:cNvPr id="28" name="object 28"/>
          <p:cNvSpPr txBox="1">
            <a:spLocks noGrp="1"/>
          </p:cNvSpPr>
          <p:nvPr>
            <p:ph type="ftr" sz="quarter" idx="5"/>
          </p:nvPr>
        </p:nvSpPr>
        <p:spPr>
          <a:prstGeom prst="rect">
            <a:avLst/>
          </a:prstGeom>
        </p:spPr>
        <p:txBody>
          <a:bodyPr vert="horz" wrap="square" lIns="0" tIns="22225" rIns="0" bIns="0" rtlCol="0">
            <a:spAutoFit/>
          </a:bodyPr>
          <a:lstStyle/>
          <a:p>
            <a:pPr marL="12700">
              <a:lnSpc>
                <a:spcPct val="100000"/>
              </a:lnSpc>
              <a:spcBef>
                <a:spcPts val="175"/>
              </a:spcBef>
            </a:pPr>
            <a:r>
              <a:rPr dirty="0"/>
              <a:t>2026</a:t>
            </a:r>
            <a:r>
              <a:rPr spc="15" dirty="0"/>
              <a:t> </a:t>
            </a:r>
            <a:r>
              <a:rPr dirty="0">
                <a:latin typeface="微软雅黑"/>
                <a:cs typeface="微软雅黑"/>
              </a:rPr>
              <a:t>年 </a:t>
            </a:r>
            <a:r>
              <a:rPr dirty="0"/>
              <a:t>3</a:t>
            </a:r>
            <a:r>
              <a:rPr spc="15" dirty="0"/>
              <a:t> </a:t>
            </a:r>
            <a:r>
              <a:rPr spc="5" dirty="0">
                <a:latin typeface="微软雅黑"/>
                <a:cs typeface="微软雅黑"/>
              </a:rPr>
              <a:t>月 </a:t>
            </a:r>
            <a:r>
              <a:rPr dirty="0"/>
              <a:t>9</a:t>
            </a:r>
            <a:r>
              <a:rPr spc="15" dirty="0"/>
              <a:t> </a:t>
            </a:r>
            <a:r>
              <a:rPr spc="-50" dirty="0">
                <a:latin typeface="微软雅黑"/>
                <a:cs typeface="微软雅黑"/>
              </a:rPr>
              <a:t>日</a:t>
            </a:r>
          </a:p>
        </p:txBody>
      </p:sp>
      <p:sp>
        <p:nvSpPr>
          <p:cNvPr id="29" name="object 29"/>
          <p:cNvSpPr txBox="1">
            <a:spLocks noGrp="1"/>
          </p:cNvSpPr>
          <p:nvPr>
            <p:ph type="sldNum" sz="quarter" idx="7"/>
          </p:nvPr>
        </p:nvSpPr>
        <p:spPr>
          <a:prstGeom prst="rect">
            <a:avLst/>
          </a:prstGeom>
        </p:spPr>
        <p:txBody>
          <a:bodyPr vert="horz" wrap="square" lIns="0" tIns="22225" rIns="0" bIns="0" rtlCol="0">
            <a:spAutoFit/>
          </a:bodyPr>
          <a:lstStyle/>
          <a:p>
            <a:pPr marL="38100">
              <a:lnSpc>
                <a:spcPct val="100000"/>
              </a:lnSpc>
              <a:spcBef>
                <a:spcPts val="175"/>
              </a:spcBef>
            </a:pPr>
            <a:fld id="{81D60167-4931-47E6-BA6A-407CBD079E47}" type="slidenum">
              <a:rPr spc="-20" dirty="0"/>
              <a:t>8</a:t>
            </a:fld>
            <a:r>
              <a:rPr spc="-35" dirty="0"/>
              <a:t> </a:t>
            </a:r>
            <a:r>
              <a:rPr dirty="0"/>
              <a:t>/</a:t>
            </a:r>
            <a:r>
              <a:rPr spc="-30" dirty="0"/>
              <a:t> </a:t>
            </a:r>
            <a:r>
              <a:rPr spc="-50" dirty="0"/>
              <a:t>7</a:t>
            </a:r>
          </a:p>
        </p:txBody>
      </p:sp>
      <p:sp>
        <p:nvSpPr>
          <p:cNvPr id="30" name="object 30"/>
          <p:cNvSpPr txBox="1"/>
          <p:nvPr/>
        </p:nvSpPr>
        <p:spPr>
          <a:xfrm>
            <a:off x="2456052" y="3132293"/>
            <a:ext cx="848360" cy="109220"/>
          </a:xfrm>
          <a:prstGeom prst="rect">
            <a:avLst/>
          </a:prstGeom>
        </p:spPr>
        <p:txBody>
          <a:bodyPr vert="horz" wrap="square" lIns="0" tIns="15875" rIns="0" bIns="0" rtlCol="0">
            <a:spAutoFit/>
          </a:bodyPr>
          <a:lstStyle/>
          <a:p>
            <a:pPr marL="12700">
              <a:lnSpc>
                <a:spcPct val="100000"/>
              </a:lnSpc>
              <a:spcBef>
                <a:spcPts val="125"/>
              </a:spcBef>
            </a:pPr>
            <a:r>
              <a:rPr sz="500" spc="-10" dirty="0">
                <a:solidFill>
                  <a:srgbClr val="FFFFFF"/>
                </a:solidFill>
                <a:latin typeface="微软雅黑"/>
                <a:cs typeface="微软雅黑"/>
                <a:hlinkClick r:id="rId3" action="ppaction://hlinksldjump"/>
              </a:rPr>
              <a:t>开题报告：奇异两点边值问</a:t>
            </a:r>
            <a:r>
              <a:rPr sz="500" spc="-50" dirty="0">
                <a:solidFill>
                  <a:srgbClr val="FFFFFF"/>
                </a:solidFill>
                <a:latin typeface="微软雅黑"/>
                <a:cs typeface="微软雅黑"/>
                <a:hlinkClick r:id="rId3" action="ppaction://hlinksldjump"/>
              </a:rPr>
              <a:t>题</a:t>
            </a:r>
            <a:endParaRPr sz="500">
              <a:latin typeface="微软雅黑"/>
              <a:cs typeface="微软雅黑"/>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979"/>
            <a:ext cx="1665605" cy="244475"/>
          </a:xfrm>
          <a:prstGeom prst="rect">
            <a:avLst/>
          </a:prstGeom>
        </p:spPr>
        <p:txBody>
          <a:bodyPr vert="horz" wrap="square" lIns="0" tIns="17145" rIns="0" bIns="0" rtlCol="0">
            <a:spAutoFit/>
          </a:bodyPr>
          <a:lstStyle/>
          <a:p>
            <a:pPr marL="12700">
              <a:lnSpc>
                <a:spcPct val="100000"/>
              </a:lnSpc>
              <a:spcBef>
                <a:spcPts val="135"/>
              </a:spcBef>
            </a:pPr>
            <a:r>
              <a:rPr dirty="0"/>
              <a:t>工作基础与解决办</a:t>
            </a:r>
            <a:r>
              <a:rPr spc="-50" dirty="0"/>
              <a:t>法</a:t>
            </a:r>
          </a:p>
        </p:txBody>
      </p:sp>
      <p:sp>
        <p:nvSpPr>
          <p:cNvPr id="3" name="object 3"/>
          <p:cNvSpPr txBox="1"/>
          <p:nvPr/>
        </p:nvSpPr>
        <p:spPr>
          <a:xfrm>
            <a:off x="46253" y="1100969"/>
            <a:ext cx="2480310" cy="898525"/>
          </a:xfrm>
          <a:prstGeom prst="rect">
            <a:avLst/>
          </a:prstGeom>
        </p:spPr>
        <p:txBody>
          <a:bodyPr vert="horz" wrap="square" lIns="0" tIns="50165" rIns="0" bIns="0" rtlCol="0">
            <a:spAutoFit/>
          </a:bodyPr>
          <a:lstStyle/>
          <a:p>
            <a:pPr marL="38100">
              <a:lnSpc>
                <a:spcPct val="100000"/>
              </a:lnSpc>
              <a:spcBef>
                <a:spcPts val="395"/>
              </a:spcBef>
            </a:pPr>
            <a:r>
              <a:rPr sz="1000" b="1" spc="-10" dirty="0">
                <a:solidFill>
                  <a:srgbClr val="004A8F"/>
                </a:solidFill>
                <a:latin typeface="微软雅黑"/>
                <a:cs typeface="微软雅黑"/>
              </a:rPr>
              <a:t>具备条件</a:t>
            </a:r>
            <a:r>
              <a:rPr sz="1000" b="1" spc="-50" dirty="0">
                <a:solidFill>
                  <a:srgbClr val="004A8F"/>
                </a:solidFill>
                <a:latin typeface="微软雅黑"/>
                <a:cs typeface="微软雅黑"/>
              </a:rPr>
              <a:t>：</a:t>
            </a:r>
            <a:endParaRPr sz="1000">
              <a:latin typeface="微软雅黑"/>
              <a:cs typeface="微软雅黑"/>
            </a:endParaRPr>
          </a:p>
          <a:p>
            <a:pPr marL="290830" marR="30480" indent="-127000">
              <a:lnSpc>
                <a:spcPct val="100000"/>
              </a:lnSpc>
              <a:spcBef>
                <a:spcPts val="295"/>
              </a:spcBef>
              <a:buClr>
                <a:srgbClr val="004A8F"/>
              </a:buClr>
              <a:buFont typeface="Times New Roman"/>
              <a:buChar char="•"/>
              <a:tabLst>
                <a:tab pos="291465" algn="l"/>
              </a:tabLst>
            </a:pPr>
            <a:r>
              <a:rPr sz="1000" b="1" spc="-10" dirty="0">
                <a:latin typeface="微软雅黑"/>
                <a:cs typeface="微软雅黑"/>
              </a:rPr>
              <a:t>理论基础：</a:t>
            </a:r>
            <a:r>
              <a:rPr sz="1000" spc="-10" dirty="0">
                <a:latin typeface="微软雅黑"/>
                <a:cs typeface="微软雅黑"/>
              </a:rPr>
              <a:t>扎实的常微分方程理论、</a:t>
            </a:r>
            <a:r>
              <a:rPr sz="1000" spc="-50" dirty="0">
                <a:latin typeface="微软雅黑"/>
                <a:cs typeface="微软雅黑"/>
              </a:rPr>
              <a:t>数</a:t>
            </a:r>
            <a:r>
              <a:rPr sz="1000" spc="-10" dirty="0">
                <a:latin typeface="微软雅黑"/>
                <a:cs typeface="微软雅黑"/>
              </a:rPr>
              <a:t>学分析与最优控制基础</a:t>
            </a:r>
            <a:r>
              <a:rPr sz="1000" spc="-50" dirty="0">
                <a:latin typeface="微软雅黑"/>
                <a:cs typeface="微软雅黑"/>
              </a:rPr>
              <a:t>。</a:t>
            </a:r>
            <a:endParaRPr sz="1000">
              <a:latin typeface="微软雅黑"/>
              <a:cs typeface="微软雅黑"/>
            </a:endParaRPr>
          </a:p>
          <a:p>
            <a:pPr marL="290830" indent="-127000">
              <a:lnSpc>
                <a:spcPts val="1200"/>
              </a:lnSpc>
              <a:spcBef>
                <a:spcPts val="290"/>
              </a:spcBef>
              <a:buClr>
                <a:srgbClr val="004A8F"/>
              </a:buClr>
              <a:buFont typeface="Times New Roman"/>
              <a:buChar char="•"/>
              <a:tabLst>
                <a:tab pos="291465" algn="l"/>
              </a:tabLst>
            </a:pPr>
            <a:r>
              <a:rPr sz="1000" b="1" spc="-10" dirty="0">
                <a:latin typeface="微软雅黑"/>
                <a:cs typeface="微软雅黑"/>
              </a:rPr>
              <a:t>计算能力：</a:t>
            </a:r>
            <a:r>
              <a:rPr sz="1000" spc="-10" dirty="0">
                <a:latin typeface="微软雅黑"/>
                <a:cs typeface="微软雅黑"/>
              </a:rPr>
              <a:t>熟练掌</a:t>
            </a:r>
            <a:r>
              <a:rPr sz="1000" dirty="0">
                <a:latin typeface="微软雅黑"/>
                <a:cs typeface="微软雅黑"/>
              </a:rPr>
              <a:t>握</a:t>
            </a:r>
            <a:r>
              <a:rPr sz="1000" spc="25" dirty="0">
                <a:latin typeface="微软雅黑"/>
                <a:cs typeface="微软雅黑"/>
              </a:rPr>
              <a:t> </a:t>
            </a:r>
            <a:r>
              <a:rPr sz="1000" spc="-10" dirty="0">
                <a:latin typeface="Tahoma"/>
                <a:cs typeface="Tahoma"/>
              </a:rPr>
              <a:t>Python/MATLAB</a:t>
            </a:r>
            <a:endParaRPr sz="1000">
              <a:latin typeface="Tahoma"/>
              <a:cs typeface="Tahoma"/>
            </a:endParaRPr>
          </a:p>
          <a:p>
            <a:pPr marL="290830">
              <a:lnSpc>
                <a:spcPts val="1200"/>
              </a:lnSpc>
            </a:pPr>
            <a:r>
              <a:rPr sz="1000" spc="-10" dirty="0">
                <a:latin typeface="微软雅黑"/>
                <a:cs typeface="微软雅黑"/>
              </a:rPr>
              <a:t>编程，具备算法设计与代码优化能力</a:t>
            </a:r>
            <a:r>
              <a:rPr sz="1000" spc="-50" dirty="0">
                <a:latin typeface="微软雅黑"/>
                <a:cs typeface="微软雅黑"/>
              </a:rPr>
              <a:t>。</a:t>
            </a:r>
            <a:endParaRPr sz="1000">
              <a:latin typeface="微软雅黑"/>
              <a:cs typeface="微软雅黑"/>
            </a:endParaRPr>
          </a:p>
        </p:txBody>
      </p:sp>
      <p:sp>
        <p:nvSpPr>
          <p:cNvPr id="4" name="object 4"/>
          <p:cNvSpPr txBox="1"/>
          <p:nvPr/>
        </p:nvSpPr>
        <p:spPr>
          <a:xfrm>
            <a:off x="2608707" y="1005770"/>
            <a:ext cx="3070225" cy="1088390"/>
          </a:xfrm>
          <a:prstGeom prst="rect">
            <a:avLst/>
          </a:prstGeom>
        </p:spPr>
        <p:txBody>
          <a:bodyPr vert="horz" wrap="square" lIns="0" tIns="50165" rIns="0" bIns="0" rtlCol="0">
            <a:spAutoFit/>
          </a:bodyPr>
          <a:lstStyle/>
          <a:p>
            <a:pPr marL="38100">
              <a:lnSpc>
                <a:spcPct val="100000"/>
              </a:lnSpc>
              <a:spcBef>
                <a:spcPts val="395"/>
              </a:spcBef>
            </a:pPr>
            <a:r>
              <a:rPr sz="1000" b="1" spc="-10" dirty="0">
                <a:solidFill>
                  <a:srgbClr val="004A8F"/>
                </a:solidFill>
                <a:latin typeface="微软雅黑"/>
                <a:cs typeface="微软雅黑"/>
              </a:rPr>
              <a:t>行动方</a:t>
            </a:r>
            <a:r>
              <a:rPr sz="1000" b="1" dirty="0">
                <a:solidFill>
                  <a:srgbClr val="004A8F"/>
                </a:solidFill>
                <a:latin typeface="微软雅黑"/>
                <a:cs typeface="微软雅黑"/>
              </a:rPr>
              <a:t>案</a:t>
            </a:r>
            <a:r>
              <a:rPr sz="1000" b="1" spc="140" dirty="0">
                <a:solidFill>
                  <a:srgbClr val="004A8F"/>
                </a:solidFill>
                <a:latin typeface="微软雅黑"/>
                <a:cs typeface="微软雅黑"/>
              </a:rPr>
              <a:t> </a:t>
            </a:r>
            <a:r>
              <a:rPr sz="1000" dirty="0">
                <a:solidFill>
                  <a:srgbClr val="004A8F"/>
                </a:solidFill>
                <a:latin typeface="Arial Black"/>
                <a:cs typeface="Arial Black"/>
              </a:rPr>
              <a:t>(</a:t>
            </a:r>
            <a:r>
              <a:rPr sz="1000" b="1" spc="-10" dirty="0">
                <a:solidFill>
                  <a:srgbClr val="004A8F"/>
                </a:solidFill>
                <a:latin typeface="微软雅黑"/>
                <a:cs typeface="微软雅黑"/>
              </a:rPr>
              <a:t>理论</a:t>
            </a:r>
            <a:r>
              <a:rPr sz="1000" dirty="0">
                <a:solidFill>
                  <a:srgbClr val="004A8F"/>
                </a:solidFill>
                <a:latin typeface="Arial Black"/>
                <a:cs typeface="Arial Black"/>
              </a:rPr>
              <a:t>-</a:t>
            </a:r>
            <a:r>
              <a:rPr sz="1000" b="1" spc="-10" dirty="0">
                <a:solidFill>
                  <a:srgbClr val="004A8F"/>
                </a:solidFill>
                <a:latin typeface="微软雅黑"/>
                <a:cs typeface="微软雅黑"/>
              </a:rPr>
              <a:t>实践</a:t>
            </a:r>
            <a:r>
              <a:rPr sz="1000" dirty="0">
                <a:solidFill>
                  <a:srgbClr val="004A8F"/>
                </a:solidFill>
                <a:latin typeface="Arial Black"/>
                <a:cs typeface="Arial Black"/>
              </a:rPr>
              <a:t>-</a:t>
            </a:r>
            <a:r>
              <a:rPr sz="1000" b="1" spc="-10" dirty="0">
                <a:solidFill>
                  <a:srgbClr val="004A8F"/>
                </a:solidFill>
                <a:latin typeface="微软雅黑"/>
                <a:cs typeface="微软雅黑"/>
              </a:rPr>
              <a:t>优化</a:t>
            </a:r>
            <a:r>
              <a:rPr sz="1000" spc="-25" dirty="0">
                <a:solidFill>
                  <a:srgbClr val="004A8F"/>
                </a:solidFill>
                <a:latin typeface="Arial Black"/>
                <a:cs typeface="Arial Black"/>
              </a:rPr>
              <a:t>)</a:t>
            </a:r>
            <a:r>
              <a:rPr sz="1000" b="1" spc="-25" dirty="0">
                <a:solidFill>
                  <a:srgbClr val="004A8F"/>
                </a:solidFill>
                <a:latin typeface="微软雅黑"/>
                <a:cs typeface="微软雅黑"/>
              </a:rPr>
              <a:t>：</a:t>
            </a:r>
            <a:endParaRPr sz="1000">
              <a:latin typeface="微软雅黑"/>
              <a:cs typeface="微软雅黑"/>
            </a:endParaRPr>
          </a:p>
          <a:p>
            <a:pPr marL="290830" indent="-127000">
              <a:lnSpc>
                <a:spcPct val="100000"/>
              </a:lnSpc>
              <a:spcBef>
                <a:spcPts val="295"/>
              </a:spcBef>
              <a:buClr>
                <a:srgbClr val="004A8F"/>
              </a:buClr>
              <a:buFont typeface="Times New Roman"/>
              <a:buChar char="•"/>
              <a:tabLst>
                <a:tab pos="291465" algn="l"/>
              </a:tabLst>
            </a:pPr>
            <a:r>
              <a:rPr sz="1000" spc="-10" dirty="0">
                <a:latin typeface="微软雅黑"/>
                <a:cs typeface="微软雅黑"/>
              </a:rPr>
              <a:t>研读《常微分方程理论</a:t>
            </a:r>
            <a:r>
              <a:rPr sz="1000" spc="-509" dirty="0">
                <a:latin typeface="微软雅黑"/>
                <a:cs typeface="微软雅黑"/>
              </a:rPr>
              <a:t>》</a:t>
            </a:r>
            <a:r>
              <a:rPr sz="1000" spc="-10" dirty="0">
                <a:latin typeface="微软雅黑"/>
                <a:cs typeface="微软雅黑"/>
              </a:rPr>
              <a:t>《最优控制简明教程</a:t>
            </a:r>
            <a:r>
              <a:rPr sz="1000" spc="-280" dirty="0">
                <a:latin typeface="微软雅黑"/>
                <a:cs typeface="微软雅黑"/>
              </a:rPr>
              <a:t>》。</a:t>
            </a:r>
            <a:endParaRPr sz="1000">
              <a:latin typeface="微软雅黑"/>
              <a:cs typeface="微软雅黑"/>
            </a:endParaRPr>
          </a:p>
          <a:p>
            <a:pPr marL="290830" marR="48260" indent="-127000">
              <a:lnSpc>
                <a:spcPct val="100000"/>
              </a:lnSpc>
              <a:spcBef>
                <a:spcPts val="290"/>
              </a:spcBef>
              <a:buClr>
                <a:srgbClr val="004A8F"/>
              </a:buClr>
              <a:buFont typeface="Times New Roman"/>
              <a:buChar char="•"/>
              <a:tabLst>
                <a:tab pos="291465" algn="l"/>
              </a:tabLst>
            </a:pPr>
            <a:r>
              <a:rPr sz="1000" spc="-10" dirty="0">
                <a:latin typeface="微软雅黑"/>
                <a:cs typeface="微软雅黑"/>
              </a:rPr>
              <a:t>针</a:t>
            </a:r>
            <a:r>
              <a:rPr sz="1000" dirty="0">
                <a:latin typeface="微软雅黑"/>
                <a:cs typeface="微软雅黑"/>
              </a:rPr>
              <a:t>对 </a:t>
            </a:r>
            <a:r>
              <a:rPr sz="1000" dirty="0">
                <a:latin typeface="Tahoma"/>
                <a:cs typeface="Tahoma"/>
              </a:rPr>
              <a:t>Riccati</a:t>
            </a:r>
            <a:r>
              <a:rPr sz="1000" spc="-15" dirty="0">
                <a:latin typeface="Tahoma"/>
                <a:cs typeface="Tahoma"/>
              </a:rPr>
              <a:t> </a:t>
            </a:r>
            <a:r>
              <a:rPr sz="1000" spc="-10" dirty="0">
                <a:latin typeface="微软雅黑"/>
                <a:cs typeface="微软雅黑"/>
              </a:rPr>
              <a:t>方程设计</a:t>
            </a:r>
            <a:r>
              <a:rPr sz="1000" b="1" spc="-10" dirty="0">
                <a:latin typeface="微软雅黑"/>
                <a:cs typeface="微软雅黑"/>
              </a:rPr>
              <a:t>轻量级迭代方法</a:t>
            </a:r>
            <a:r>
              <a:rPr sz="1000" spc="-10" dirty="0">
                <a:latin typeface="微软雅黑"/>
                <a:cs typeface="微软雅黑"/>
              </a:rPr>
              <a:t>，避免全</a:t>
            </a:r>
            <a:r>
              <a:rPr sz="1000" spc="-50" dirty="0">
                <a:latin typeface="微软雅黑"/>
                <a:cs typeface="微软雅黑"/>
              </a:rPr>
              <a:t>系</a:t>
            </a:r>
            <a:r>
              <a:rPr sz="1000" spc="-10" dirty="0">
                <a:latin typeface="微软雅黑"/>
                <a:cs typeface="微软雅黑"/>
              </a:rPr>
              <a:t>统高复杂度计算</a:t>
            </a:r>
            <a:r>
              <a:rPr sz="1000" spc="-50" dirty="0">
                <a:latin typeface="微软雅黑"/>
                <a:cs typeface="微软雅黑"/>
              </a:rPr>
              <a:t>。</a:t>
            </a:r>
            <a:endParaRPr sz="1000">
              <a:latin typeface="微软雅黑"/>
              <a:cs typeface="微软雅黑"/>
            </a:endParaRPr>
          </a:p>
          <a:p>
            <a:pPr marL="290830" indent="-127000">
              <a:lnSpc>
                <a:spcPts val="1200"/>
              </a:lnSpc>
              <a:spcBef>
                <a:spcPts val="290"/>
              </a:spcBef>
              <a:buClr>
                <a:srgbClr val="004A8F"/>
              </a:buClr>
              <a:buFont typeface="Times New Roman"/>
              <a:buChar char="•"/>
              <a:tabLst>
                <a:tab pos="291465" algn="l"/>
              </a:tabLst>
            </a:pPr>
            <a:r>
              <a:rPr sz="1000" spc="-10" dirty="0">
                <a:latin typeface="微软雅黑"/>
                <a:cs typeface="微软雅黑"/>
              </a:rPr>
              <a:t>结合边界条件处理与收敛性分析，使</a:t>
            </a:r>
            <a:r>
              <a:rPr sz="1000" dirty="0">
                <a:latin typeface="微软雅黑"/>
                <a:cs typeface="微软雅黑"/>
              </a:rPr>
              <a:t>用</a:t>
            </a:r>
            <a:r>
              <a:rPr sz="1000" spc="25" dirty="0">
                <a:latin typeface="微软雅黑"/>
                <a:cs typeface="微软雅黑"/>
              </a:rPr>
              <a:t> </a:t>
            </a:r>
            <a:r>
              <a:rPr sz="1000" spc="-10" dirty="0">
                <a:latin typeface="Tahoma"/>
                <a:cs typeface="Tahoma"/>
              </a:rPr>
              <a:t>Matplotlib</a:t>
            </a:r>
            <a:endParaRPr sz="1000">
              <a:latin typeface="Tahoma"/>
              <a:cs typeface="Tahoma"/>
            </a:endParaRPr>
          </a:p>
          <a:p>
            <a:pPr marL="290830">
              <a:lnSpc>
                <a:spcPts val="1200"/>
              </a:lnSpc>
            </a:pPr>
            <a:r>
              <a:rPr sz="1000" spc="-10" dirty="0">
                <a:latin typeface="微软雅黑"/>
                <a:cs typeface="微软雅黑"/>
              </a:rPr>
              <a:t>实现数据可视化</a:t>
            </a:r>
            <a:r>
              <a:rPr sz="1000" spc="-50" dirty="0">
                <a:latin typeface="微软雅黑"/>
                <a:cs typeface="微软雅黑"/>
              </a:rPr>
              <a:t>。</a:t>
            </a:r>
            <a:endParaRPr sz="1000">
              <a:latin typeface="微软雅黑"/>
              <a:cs typeface="微软雅黑"/>
            </a:endParaRPr>
          </a:p>
        </p:txBody>
      </p:sp>
      <p:grpSp>
        <p:nvGrpSpPr>
          <p:cNvPr id="5" name="object 5"/>
          <p:cNvGrpSpPr/>
          <p:nvPr/>
        </p:nvGrpSpPr>
        <p:grpSpPr>
          <a:xfrm>
            <a:off x="0" y="3148736"/>
            <a:ext cx="5760085" cy="91440"/>
            <a:chOff x="0" y="3148736"/>
            <a:chExt cx="5760085" cy="91440"/>
          </a:xfrm>
        </p:grpSpPr>
        <p:sp>
          <p:nvSpPr>
            <p:cNvPr id="6" name="object 6"/>
            <p:cNvSpPr/>
            <p:nvPr/>
          </p:nvSpPr>
          <p:spPr>
            <a:xfrm>
              <a:off x="0"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2547"/>
            </a:solidFill>
          </p:spPr>
          <p:txBody>
            <a:bodyPr wrap="square" lIns="0" tIns="0" rIns="0" bIns="0" rtlCol="0"/>
            <a:lstStyle/>
            <a:p>
              <a:endParaRPr/>
            </a:p>
          </p:txBody>
        </p:sp>
        <p:sp>
          <p:nvSpPr>
            <p:cNvPr id="7" name="object 7"/>
            <p:cNvSpPr/>
            <p:nvPr/>
          </p:nvSpPr>
          <p:spPr>
            <a:xfrm>
              <a:off x="1919973"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386B"/>
            </a:solidFill>
          </p:spPr>
          <p:txBody>
            <a:bodyPr wrap="square" lIns="0" tIns="0" rIns="0" bIns="0" rtlCol="0"/>
            <a:lstStyle/>
            <a:p>
              <a:endParaRPr/>
            </a:p>
          </p:txBody>
        </p:sp>
        <p:sp>
          <p:nvSpPr>
            <p:cNvPr id="8" name="object 8"/>
            <p:cNvSpPr/>
            <p:nvPr/>
          </p:nvSpPr>
          <p:spPr>
            <a:xfrm>
              <a:off x="3839946"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4A8F"/>
            </a:solidFill>
          </p:spPr>
          <p:txBody>
            <a:bodyPr wrap="square" lIns="0" tIns="0" rIns="0" bIns="0" rtlCol="0"/>
            <a:lstStyle/>
            <a:p>
              <a:endParaRPr/>
            </a:p>
          </p:txBody>
        </p:sp>
      </p:grpSp>
      <p:sp>
        <p:nvSpPr>
          <p:cNvPr id="9" name="object 9"/>
          <p:cNvSpPr txBox="1">
            <a:spLocks noGrp="1"/>
          </p:cNvSpPr>
          <p:nvPr>
            <p:ph type="dt" sz="half" idx="6"/>
          </p:nvPr>
        </p:nvSpPr>
        <p:spPr>
          <a:prstGeom prst="rect">
            <a:avLst/>
          </a:prstGeom>
        </p:spPr>
        <p:txBody>
          <a:bodyPr vert="horz" wrap="square" lIns="0" tIns="22225" rIns="0" bIns="0" rtlCol="0">
            <a:spAutoFit/>
          </a:bodyPr>
          <a:lstStyle/>
          <a:p>
            <a:pPr marL="12700">
              <a:lnSpc>
                <a:spcPct val="100000"/>
              </a:lnSpc>
              <a:spcBef>
                <a:spcPts val="175"/>
              </a:spcBef>
            </a:pPr>
            <a:r>
              <a:rPr spc="-10" dirty="0"/>
              <a:t>邓</a:t>
            </a:r>
            <a:r>
              <a:rPr dirty="0"/>
              <a:t>垚</a:t>
            </a:r>
            <a:r>
              <a:rPr spc="240" dirty="0"/>
              <a:t> </a:t>
            </a:r>
            <a:r>
              <a:rPr dirty="0">
                <a:latin typeface="Century Gothic"/>
                <a:cs typeface="Century Gothic"/>
              </a:rPr>
              <a:t>(</a:t>
            </a:r>
            <a:r>
              <a:rPr spc="-10" dirty="0"/>
              <a:t>贵州大学</a:t>
            </a:r>
            <a:r>
              <a:rPr spc="-50" dirty="0">
                <a:latin typeface="Century Gothic"/>
                <a:cs typeface="Century Gothic"/>
              </a:rPr>
              <a:t>)</a:t>
            </a:r>
          </a:p>
        </p:txBody>
      </p:sp>
      <p:sp>
        <p:nvSpPr>
          <p:cNvPr id="10" name="object 10"/>
          <p:cNvSpPr txBox="1">
            <a:spLocks noGrp="1"/>
          </p:cNvSpPr>
          <p:nvPr>
            <p:ph type="ftr" sz="quarter" idx="5"/>
          </p:nvPr>
        </p:nvSpPr>
        <p:spPr>
          <a:prstGeom prst="rect">
            <a:avLst/>
          </a:prstGeom>
        </p:spPr>
        <p:txBody>
          <a:bodyPr vert="horz" wrap="square" lIns="0" tIns="22225" rIns="0" bIns="0" rtlCol="0">
            <a:spAutoFit/>
          </a:bodyPr>
          <a:lstStyle/>
          <a:p>
            <a:pPr marL="12700">
              <a:lnSpc>
                <a:spcPct val="100000"/>
              </a:lnSpc>
              <a:spcBef>
                <a:spcPts val="175"/>
              </a:spcBef>
            </a:pPr>
            <a:r>
              <a:rPr dirty="0"/>
              <a:t>2026</a:t>
            </a:r>
            <a:r>
              <a:rPr spc="15" dirty="0"/>
              <a:t> </a:t>
            </a:r>
            <a:r>
              <a:rPr dirty="0">
                <a:latin typeface="微软雅黑"/>
                <a:cs typeface="微软雅黑"/>
              </a:rPr>
              <a:t>年 </a:t>
            </a:r>
            <a:r>
              <a:rPr dirty="0"/>
              <a:t>3</a:t>
            </a:r>
            <a:r>
              <a:rPr spc="15" dirty="0"/>
              <a:t> </a:t>
            </a:r>
            <a:r>
              <a:rPr spc="5" dirty="0">
                <a:latin typeface="微软雅黑"/>
                <a:cs typeface="微软雅黑"/>
              </a:rPr>
              <a:t>月 </a:t>
            </a:r>
            <a:r>
              <a:rPr dirty="0"/>
              <a:t>9</a:t>
            </a:r>
            <a:r>
              <a:rPr spc="15" dirty="0"/>
              <a:t> </a:t>
            </a:r>
            <a:r>
              <a:rPr spc="-50" dirty="0">
                <a:latin typeface="微软雅黑"/>
                <a:cs typeface="微软雅黑"/>
              </a:rPr>
              <a:t>日</a:t>
            </a:r>
          </a:p>
        </p:txBody>
      </p:sp>
      <p:sp>
        <p:nvSpPr>
          <p:cNvPr id="11" name="object 11"/>
          <p:cNvSpPr txBox="1">
            <a:spLocks noGrp="1"/>
          </p:cNvSpPr>
          <p:nvPr>
            <p:ph type="sldNum" sz="quarter" idx="7"/>
          </p:nvPr>
        </p:nvSpPr>
        <p:spPr>
          <a:prstGeom prst="rect">
            <a:avLst/>
          </a:prstGeom>
        </p:spPr>
        <p:txBody>
          <a:bodyPr vert="horz" wrap="square" lIns="0" tIns="22225" rIns="0" bIns="0" rtlCol="0">
            <a:spAutoFit/>
          </a:bodyPr>
          <a:lstStyle/>
          <a:p>
            <a:pPr marL="38100">
              <a:lnSpc>
                <a:spcPct val="100000"/>
              </a:lnSpc>
              <a:spcBef>
                <a:spcPts val="175"/>
              </a:spcBef>
            </a:pPr>
            <a:fld id="{81D60167-4931-47E6-BA6A-407CBD079E47}" type="slidenum">
              <a:rPr spc="-20" dirty="0"/>
              <a:t>9</a:t>
            </a:fld>
            <a:r>
              <a:rPr spc="-35" dirty="0"/>
              <a:t> </a:t>
            </a:r>
            <a:r>
              <a:rPr dirty="0"/>
              <a:t>/</a:t>
            </a:r>
            <a:r>
              <a:rPr spc="-30" dirty="0"/>
              <a:t> </a:t>
            </a:r>
            <a:r>
              <a:rPr spc="-50" dirty="0"/>
              <a:t>7</a:t>
            </a:r>
          </a:p>
        </p:txBody>
      </p:sp>
      <p:sp>
        <p:nvSpPr>
          <p:cNvPr id="12" name="object 12"/>
          <p:cNvSpPr txBox="1"/>
          <p:nvPr/>
        </p:nvSpPr>
        <p:spPr>
          <a:xfrm>
            <a:off x="2456052" y="3132293"/>
            <a:ext cx="848360" cy="109220"/>
          </a:xfrm>
          <a:prstGeom prst="rect">
            <a:avLst/>
          </a:prstGeom>
        </p:spPr>
        <p:txBody>
          <a:bodyPr vert="horz" wrap="square" lIns="0" tIns="15875" rIns="0" bIns="0" rtlCol="0">
            <a:spAutoFit/>
          </a:bodyPr>
          <a:lstStyle/>
          <a:p>
            <a:pPr marL="12700">
              <a:lnSpc>
                <a:spcPct val="100000"/>
              </a:lnSpc>
              <a:spcBef>
                <a:spcPts val="125"/>
              </a:spcBef>
            </a:pPr>
            <a:r>
              <a:rPr sz="500" spc="-10" dirty="0">
                <a:solidFill>
                  <a:srgbClr val="FFFFFF"/>
                </a:solidFill>
                <a:latin typeface="微软雅黑"/>
                <a:cs typeface="微软雅黑"/>
                <a:hlinkClick r:id="rId2" action="ppaction://hlinksldjump"/>
              </a:rPr>
              <a:t>开题报告：奇异两点边值问</a:t>
            </a:r>
            <a:r>
              <a:rPr sz="500" spc="-50" dirty="0">
                <a:solidFill>
                  <a:srgbClr val="FFFFFF"/>
                </a:solidFill>
                <a:latin typeface="微软雅黑"/>
                <a:cs typeface="微软雅黑"/>
                <a:hlinkClick r:id="rId2" action="ppaction://hlinksldjump"/>
              </a:rPr>
              <a:t>题</a:t>
            </a:r>
            <a:endParaRPr sz="500">
              <a:latin typeface="微软雅黑"/>
              <a:cs typeface="微软雅黑"/>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进度计</a:t>
            </a:r>
            <a:r>
              <a:rPr spc="-50" dirty="0"/>
              <a:t>划</a:t>
            </a:r>
          </a:p>
        </p:txBody>
      </p:sp>
      <p:sp>
        <p:nvSpPr>
          <p:cNvPr id="3" name="object 3"/>
          <p:cNvSpPr/>
          <p:nvPr/>
        </p:nvSpPr>
        <p:spPr>
          <a:xfrm>
            <a:off x="352005" y="896899"/>
            <a:ext cx="5056505" cy="0"/>
          </a:xfrm>
          <a:custGeom>
            <a:avLst/>
            <a:gdLst/>
            <a:ahLst/>
            <a:cxnLst/>
            <a:rect l="l" t="t" r="r" b="b"/>
            <a:pathLst>
              <a:path w="5056505">
                <a:moveTo>
                  <a:pt x="0" y="0"/>
                </a:moveTo>
                <a:lnTo>
                  <a:pt x="5055997" y="0"/>
                </a:lnTo>
              </a:path>
            </a:pathLst>
          </a:custGeom>
          <a:ln w="10121">
            <a:solidFill>
              <a:srgbClr val="000000"/>
            </a:solidFill>
          </a:ln>
        </p:spPr>
        <p:txBody>
          <a:bodyPr wrap="square" lIns="0" tIns="0" rIns="0" bIns="0" rtlCol="0"/>
          <a:lstStyle/>
          <a:p>
            <a:endParaRPr/>
          </a:p>
        </p:txBody>
      </p:sp>
      <p:sp>
        <p:nvSpPr>
          <p:cNvPr id="4" name="object 4"/>
          <p:cNvSpPr txBox="1"/>
          <p:nvPr/>
        </p:nvSpPr>
        <p:spPr>
          <a:xfrm>
            <a:off x="473227" y="958677"/>
            <a:ext cx="531495" cy="177800"/>
          </a:xfrm>
          <a:prstGeom prst="rect">
            <a:avLst/>
          </a:prstGeom>
        </p:spPr>
        <p:txBody>
          <a:bodyPr vert="horz" wrap="square" lIns="0" tIns="12065" rIns="0" bIns="0" rtlCol="0">
            <a:spAutoFit/>
          </a:bodyPr>
          <a:lstStyle/>
          <a:p>
            <a:pPr marL="12700">
              <a:lnSpc>
                <a:spcPct val="100000"/>
              </a:lnSpc>
              <a:spcBef>
                <a:spcPts val="95"/>
              </a:spcBef>
            </a:pPr>
            <a:r>
              <a:rPr sz="1000" b="1" spc="-10" dirty="0">
                <a:solidFill>
                  <a:srgbClr val="004A8F"/>
                </a:solidFill>
                <a:latin typeface="微软雅黑"/>
                <a:cs typeface="微软雅黑"/>
              </a:rPr>
              <a:t>时间节</a:t>
            </a:r>
            <a:r>
              <a:rPr sz="1000" b="1" spc="-50" dirty="0">
                <a:solidFill>
                  <a:srgbClr val="004A8F"/>
                </a:solidFill>
                <a:latin typeface="微软雅黑"/>
                <a:cs typeface="微软雅黑"/>
              </a:rPr>
              <a:t>点</a:t>
            </a:r>
            <a:endParaRPr sz="1000">
              <a:latin typeface="微软雅黑"/>
              <a:cs typeface="微软雅黑"/>
            </a:endParaRPr>
          </a:p>
        </p:txBody>
      </p:sp>
      <p:sp>
        <p:nvSpPr>
          <p:cNvPr id="5" name="object 5"/>
          <p:cNvSpPr txBox="1"/>
          <p:nvPr/>
        </p:nvSpPr>
        <p:spPr>
          <a:xfrm>
            <a:off x="1189177" y="958677"/>
            <a:ext cx="784860" cy="177800"/>
          </a:xfrm>
          <a:prstGeom prst="rect">
            <a:avLst/>
          </a:prstGeom>
        </p:spPr>
        <p:txBody>
          <a:bodyPr vert="horz" wrap="square" lIns="0" tIns="12065" rIns="0" bIns="0" rtlCol="0">
            <a:spAutoFit/>
          </a:bodyPr>
          <a:lstStyle/>
          <a:p>
            <a:pPr marL="12700">
              <a:lnSpc>
                <a:spcPct val="100000"/>
              </a:lnSpc>
              <a:spcBef>
                <a:spcPts val="95"/>
              </a:spcBef>
            </a:pPr>
            <a:r>
              <a:rPr sz="1000" b="1" spc="-10" dirty="0">
                <a:solidFill>
                  <a:srgbClr val="004A8F"/>
                </a:solidFill>
                <a:latin typeface="微软雅黑"/>
                <a:cs typeface="微软雅黑"/>
              </a:rPr>
              <a:t>主要工作内</a:t>
            </a:r>
            <a:r>
              <a:rPr sz="1000" b="1" spc="-50" dirty="0">
                <a:solidFill>
                  <a:srgbClr val="004A8F"/>
                </a:solidFill>
                <a:latin typeface="微软雅黑"/>
                <a:cs typeface="微软雅黑"/>
              </a:rPr>
              <a:t>容</a:t>
            </a:r>
            <a:endParaRPr sz="1000">
              <a:latin typeface="微软雅黑"/>
              <a:cs typeface="微软雅黑"/>
            </a:endParaRPr>
          </a:p>
        </p:txBody>
      </p:sp>
      <p:sp>
        <p:nvSpPr>
          <p:cNvPr id="6" name="object 6"/>
          <p:cNvSpPr/>
          <p:nvPr/>
        </p:nvSpPr>
        <p:spPr>
          <a:xfrm>
            <a:off x="352005" y="1191856"/>
            <a:ext cx="5056505" cy="0"/>
          </a:xfrm>
          <a:custGeom>
            <a:avLst/>
            <a:gdLst/>
            <a:ahLst/>
            <a:cxnLst/>
            <a:rect l="l" t="t" r="r" b="b"/>
            <a:pathLst>
              <a:path w="5056505">
                <a:moveTo>
                  <a:pt x="0" y="0"/>
                </a:moveTo>
                <a:lnTo>
                  <a:pt x="5055997" y="0"/>
                </a:lnTo>
              </a:path>
            </a:pathLst>
          </a:custGeom>
          <a:ln w="6327">
            <a:solidFill>
              <a:srgbClr val="000000"/>
            </a:solidFill>
          </a:ln>
        </p:spPr>
        <p:txBody>
          <a:bodyPr wrap="square" lIns="0" tIns="0" rIns="0" bIns="0" rtlCol="0"/>
          <a:lstStyle/>
          <a:p>
            <a:endParaRPr/>
          </a:p>
        </p:txBody>
      </p:sp>
      <p:sp>
        <p:nvSpPr>
          <p:cNvPr id="7" name="object 7"/>
          <p:cNvSpPr txBox="1"/>
          <p:nvPr/>
        </p:nvSpPr>
        <p:spPr>
          <a:xfrm>
            <a:off x="478485" y="1251729"/>
            <a:ext cx="521334" cy="177800"/>
          </a:xfrm>
          <a:prstGeom prst="rect">
            <a:avLst/>
          </a:prstGeom>
        </p:spPr>
        <p:txBody>
          <a:bodyPr vert="horz" wrap="square" lIns="0" tIns="12065" rIns="0" bIns="0" rtlCol="0">
            <a:spAutoFit/>
          </a:bodyPr>
          <a:lstStyle/>
          <a:p>
            <a:pPr marL="12700">
              <a:lnSpc>
                <a:spcPct val="100000"/>
              </a:lnSpc>
              <a:spcBef>
                <a:spcPts val="95"/>
              </a:spcBef>
            </a:pPr>
            <a:r>
              <a:rPr sz="1000" spc="-130" dirty="0">
                <a:latin typeface="Arial Black"/>
                <a:cs typeface="Arial Black"/>
              </a:rPr>
              <a:t>3</a:t>
            </a:r>
            <a:r>
              <a:rPr sz="1000" spc="35" dirty="0">
                <a:latin typeface="Arial Black"/>
                <a:cs typeface="Arial Black"/>
              </a:rPr>
              <a:t> </a:t>
            </a:r>
            <a:r>
              <a:rPr sz="1000" b="1" spc="-10" dirty="0">
                <a:latin typeface="微软雅黑"/>
                <a:cs typeface="微软雅黑"/>
              </a:rPr>
              <a:t>月下</a:t>
            </a:r>
            <a:r>
              <a:rPr sz="1000" b="1" spc="-50" dirty="0">
                <a:latin typeface="微软雅黑"/>
                <a:cs typeface="微软雅黑"/>
              </a:rPr>
              <a:t>旬</a:t>
            </a:r>
            <a:endParaRPr sz="1000">
              <a:latin typeface="微软雅黑"/>
              <a:cs typeface="微软雅黑"/>
            </a:endParaRPr>
          </a:p>
        </p:txBody>
      </p:sp>
      <p:sp>
        <p:nvSpPr>
          <p:cNvPr id="8" name="object 8"/>
          <p:cNvSpPr txBox="1">
            <a:spLocks noGrp="1"/>
          </p:cNvSpPr>
          <p:nvPr>
            <p:ph type="body" idx="1"/>
          </p:nvPr>
        </p:nvSpPr>
        <p:spPr>
          <a:prstGeom prst="rect">
            <a:avLst/>
          </a:prstGeom>
        </p:spPr>
        <p:txBody>
          <a:bodyPr vert="horz" wrap="square" lIns="0" tIns="12065" rIns="0" bIns="0" rtlCol="0">
            <a:spAutoFit/>
          </a:bodyPr>
          <a:lstStyle/>
          <a:p>
            <a:pPr marL="12700" marR="5080">
              <a:lnSpc>
                <a:spcPct val="100000"/>
              </a:lnSpc>
              <a:spcBef>
                <a:spcPts val="95"/>
              </a:spcBef>
            </a:pPr>
            <a:r>
              <a:rPr spc="-10" dirty="0"/>
              <a:t>集中完成理论推导，建</a:t>
            </a:r>
            <a:r>
              <a:rPr dirty="0"/>
              <a:t>立 </a:t>
            </a:r>
            <a:r>
              <a:rPr spc="75" dirty="0">
                <a:latin typeface="Tahoma"/>
                <a:cs typeface="Tahoma"/>
              </a:rPr>
              <a:t>BVP</a:t>
            </a:r>
            <a:r>
              <a:rPr spc="-10" dirty="0"/>
              <a:t>、</a:t>
            </a:r>
            <a:r>
              <a:rPr dirty="0">
                <a:latin typeface="Tahoma"/>
                <a:cs typeface="Tahoma"/>
              </a:rPr>
              <a:t>Riccati </a:t>
            </a:r>
            <a:r>
              <a:rPr dirty="0"/>
              <a:t>与 </a:t>
            </a:r>
            <a:r>
              <a:rPr dirty="0">
                <a:latin typeface="Tahoma"/>
                <a:cs typeface="Tahoma"/>
              </a:rPr>
              <a:t>LQ </a:t>
            </a:r>
            <a:r>
              <a:rPr spc="-10" dirty="0"/>
              <a:t>问题的等价关系，论证解</a:t>
            </a:r>
            <a:r>
              <a:rPr spc="-50" dirty="0"/>
              <a:t>的</a:t>
            </a:r>
            <a:r>
              <a:rPr spc="-10" dirty="0"/>
              <a:t>存在唯一性</a:t>
            </a:r>
            <a:r>
              <a:rPr spc="-50" dirty="0"/>
              <a:t>。</a:t>
            </a:r>
          </a:p>
          <a:p>
            <a:pPr marL="12700" marR="5080">
              <a:lnSpc>
                <a:spcPct val="100000"/>
              </a:lnSpc>
              <a:spcBef>
                <a:spcPts val="590"/>
              </a:spcBef>
            </a:pPr>
            <a:r>
              <a:rPr spc="-10" dirty="0"/>
              <a:t>开展数值实现</a:t>
            </a:r>
            <a:r>
              <a:rPr spc="-20" dirty="0"/>
              <a:t>，</a:t>
            </a:r>
            <a:r>
              <a:rPr spc="-10" dirty="0"/>
              <a:t>设</a:t>
            </a:r>
            <a:r>
              <a:rPr dirty="0"/>
              <a:t>计</a:t>
            </a:r>
            <a:r>
              <a:rPr spc="-10" dirty="0"/>
              <a:t> </a:t>
            </a:r>
            <a:r>
              <a:rPr dirty="0">
                <a:latin typeface="Tahoma"/>
                <a:cs typeface="Tahoma"/>
              </a:rPr>
              <a:t>Python</a:t>
            </a:r>
            <a:r>
              <a:rPr spc="-25" dirty="0">
                <a:latin typeface="Tahoma"/>
                <a:cs typeface="Tahoma"/>
              </a:rPr>
              <a:t> </a:t>
            </a:r>
            <a:r>
              <a:rPr spc="-10" dirty="0"/>
              <a:t>迭代算法</a:t>
            </a:r>
            <a:r>
              <a:rPr spc="-20" dirty="0"/>
              <a:t>，</a:t>
            </a:r>
            <a:r>
              <a:rPr spc="-10" dirty="0"/>
              <a:t>进行边界条件下的数值实验并分</a:t>
            </a:r>
            <a:r>
              <a:rPr spc="-50" dirty="0"/>
              <a:t>析</a:t>
            </a:r>
            <a:r>
              <a:rPr spc="-10" dirty="0"/>
              <a:t>收敛性；撰写论文初稿</a:t>
            </a:r>
            <a:r>
              <a:rPr spc="-50" dirty="0"/>
              <a:t>。</a:t>
            </a:r>
          </a:p>
          <a:p>
            <a:pPr marL="12700" marR="5080">
              <a:lnSpc>
                <a:spcPct val="100000"/>
              </a:lnSpc>
              <a:spcBef>
                <a:spcPts val="585"/>
              </a:spcBef>
            </a:pPr>
            <a:r>
              <a:rPr spc="-10" dirty="0"/>
              <a:t>优化数值结果</a:t>
            </a:r>
            <a:r>
              <a:rPr spc="-165" dirty="0"/>
              <a:t>，</a:t>
            </a:r>
            <a:r>
              <a:rPr spc="-10" dirty="0"/>
              <a:t>完善理论表述的逻辑衔接</a:t>
            </a:r>
            <a:r>
              <a:rPr spc="-165" dirty="0"/>
              <a:t>；</a:t>
            </a:r>
            <a:r>
              <a:rPr spc="-10" dirty="0"/>
              <a:t>论文定稿</a:t>
            </a:r>
            <a:r>
              <a:rPr spc="-170" dirty="0"/>
              <a:t>，</a:t>
            </a:r>
            <a:r>
              <a:rPr spc="-10" dirty="0"/>
              <a:t>制作答</a:t>
            </a:r>
            <a:r>
              <a:rPr dirty="0"/>
              <a:t>辩 </a:t>
            </a:r>
            <a:r>
              <a:rPr dirty="0">
                <a:latin typeface="Tahoma"/>
                <a:cs typeface="Tahoma"/>
              </a:rPr>
              <a:t>PPT</a:t>
            </a:r>
            <a:r>
              <a:rPr dirty="0"/>
              <a:t>，</a:t>
            </a:r>
            <a:r>
              <a:rPr spc="-10" dirty="0"/>
              <a:t>准</a:t>
            </a:r>
            <a:r>
              <a:rPr spc="-50" dirty="0"/>
              <a:t>备</a:t>
            </a:r>
            <a:r>
              <a:rPr spc="-10" dirty="0"/>
              <a:t>正式答辩</a:t>
            </a:r>
            <a:r>
              <a:rPr spc="-50" dirty="0"/>
              <a:t>。</a:t>
            </a:r>
          </a:p>
        </p:txBody>
      </p:sp>
      <p:sp>
        <p:nvSpPr>
          <p:cNvPr id="9" name="object 9"/>
          <p:cNvSpPr txBox="1"/>
          <p:nvPr/>
        </p:nvSpPr>
        <p:spPr>
          <a:xfrm>
            <a:off x="478485" y="1631307"/>
            <a:ext cx="521334" cy="177800"/>
          </a:xfrm>
          <a:prstGeom prst="rect">
            <a:avLst/>
          </a:prstGeom>
        </p:spPr>
        <p:txBody>
          <a:bodyPr vert="horz" wrap="square" lIns="0" tIns="12065" rIns="0" bIns="0" rtlCol="0">
            <a:spAutoFit/>
          </a:bodyPr>
          <a:lstStyle/>
          <a:p>
            <a:pPr marL="12700">
              <a:lnSpc>
                <a:spcPct val="100000"/>
              </a:lnSpc>
              <a:spcBef>
                <a:spcPts val="95"/>
              </a:spcBef>
            </a:pPr>
            <a:r>
              <a:rPr sz="1000" spc="-130" dirty="0">
                <a:latin typeface="Arial Black"/>
                <a:cs typeface="Arial Black"/>
              </a:rPr>
              <a:t>4</a:t>
            </a:r>
            <a:r>
              <a:rPr sz="1000" spc="35" dirty="0">
                <a:latin typeface="Arial Black"/>
                <a:cs typeface="Arial Black"/>
              </a:rPr>
              <a:t> </a:t>
            </a:r>
            <a:r>
              <a:rPr sz="1000" b="1" spc="-10" dirty="0">
                <a:latin typeface="微软雅黑"/>
                <a:cs typeface="微软雅黑"/>
              </a:rPr>
              <a:t>月全</a:t>
            </a:r>
            <a:r>
              <a:rPr sz="1000" b="1" spc="-50" dirty="0">
                <a:latin typeface="微软雅黑"/>
                <a:cs typeface="微软雅黑"/>
              </a:rPr>
              <a:t>月</a:t>
            </a:r>
            <a:endParaRPr sz="1000">
              <a:latin typeface="微软雅黑"/>
              <a:cs typeface="微软雅黑"/>
            </a:endParaRPr>
          </a:p>
        </p:txBody>
      </p:sp>
      <p:sp>
        <p:nvSpPr>
          <p:cNvPr id="10" name="object 10"/>
          <p:cNvSpPr txBox="1"/>
          <p:nvPr/>
        </p:nvSpPr>
        <p:spPr>
          <a:xfrm>
            <a:off x="415213" y="2010885"/>
            <a:ext cx="647700" cy="177800"/>
          </a:xfrm>
          <a:prstGeom prst="rect">
            <a:avLst/>
          </a:prstGeom>
        </p:spPr>
        <p:txBody>
          <a:bodyPr vert="horz" wrap="square" lIns="0" tIns="12065" rIns="0" bIns="0" rtlCol="0">
            <a:spAutoFit/>
          </a:bodyPr>
          <a:lstStyle/>
          <a:p>
            <a:pPr marL="12700">
              <a:lnSpc>
                <a:spcPct val="100000"/>
              </a:lnSpc>
              <a:spcBef>
                <a:spcPts val="95"/>
              </a:spcBef>
            </a:pPr>
            <a:r>
              <a:rPr sz="1000" spc="-130" dirty="0">
                <a:latin typeface="Arial Black"/>
                <a:cs typeface="Arial Black"/>
              </a:rPr>
              <a:t>5</a:t>
            </a:r>
            <a:r>
              <a:rPr sz="1000" spc="35" dirty="0">
                <a:latin typeface="Arial Black"/>
                <a:cs typeface="Arial Black"/>
              </a:rPr>
              <a:t> </a:t>
            </a:r>
            <a:r>
              <a:rPr sz="1000" b="1" spc="-10" dirty="0">
                <a:latin typeface="微软雅黑"/>
                <a:cs typeface="微软雅黑"/>
              </a:rPr>
              <a:t>月上中</a:t>
            </a:r>
            <a:r>
              <a:rPr sz="1000" b="1" spc="-50" dirty="0">
                <a:latin typeface="微软雅黑"/>
                <a:cs typeface="微软雅黑"/>
              </a:rPr>
              <a:t>旬</a:t>
            </a:r>
            <a:endParaRPr sz="1000">
              <a:latin typeface="微软雅黑"/>
              <a:cs typeface="微软雅黑"/>
            </a:endParaRPr>
          </a:p>
        </p:txBody>
      </p:sp>
      <p:sp>
        <p:nvSpPr>
          <p:cNvPr id="11" name="object 11"/>
          <p:cNvSpPr/>
          <p:nvPr/>
        </p:nvSpPr>
        <p:spPr>
          <a:xfrm>
            <a:off x="352005" y="2397798"/>
            <a:ext cx="5056505" cy="0"/>
          </a:xfrm>
          <a:custGeom>
            <a:avLst/>
            <a:gdLst/>
            <a:ahLst/>
            <a:cxnLst/>
            <a:rect l="l" t="t" r="r" b="b"/>
            <a:pathLst>
              <a:path w="5056505">
                <a:moveTo>
                  <a:pt x="0" y="0"/>
                </a:moveTo>
                <a:lnTo>
                  <a:pt x="5055997" y="0"/>
                </a:lnTo>
              </a:path>
            </a:pathLst>
          </a:custGeom>
          <a:ln w="10121">
            <a:solidFill>
              <a:srgbClr val="000000"/>
            </a:solidFill>
          </a:ln>
        </p:spPr>
        <p:txBody>
          <a:bodyPr wrap="square" lIns="0" tIns="0" rIns="0" bIns="0" rtlCol="0"/>
          <a:lstStyle/>
          <a:p>
            <a:endParaRPr/>
          </a:p>
        </p:txBody>
      </p:sp>
      <p:grpSp>
        <p:nvGrpSpPr>
          <p:cNvPr id="12" name="object 12"/>
          <p:cNvGrpSpPr/>
          <p:nvPr/>
        </p:nvGrpSpPr>
        <p:grpSpPr>
          <a:xfrm>
            <a:off x="0" y="3148736"/>
            <a:ext cx="5760085" cy="91440"/>
            <a:chOff x="0" y="3148736"/>
            <a:chExt cx="5760085" cy="91440"/>
          </a:xfrm>
        </p:grpSpPr>
        <p:sp>
          <p:nvSpPr>
            <p:cNvPr id="13" name="object 13"/>
            <p:cNvSpPr/>
            <p:nvPr/>
          </p:nvSpPr>
          <p:spPr>
            <a:xfrm>
              <a:off x="0"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2547"/>
            </a:solidFill>
          </p:spPr>
          <p:txBody>
            <a:bodyPr wrap="square" lIns="0" tIns="0" rIns="0" bIns="0" rtlCol="0"/>
            <a:lstStyle/>
            <a:p>
              <a:endParaRPr/>
            </a:p>
          </p:txBody>
        </p:sp>
        <p:sp>
          <p:nvSpPr>
            <p:cNvPr id="14" name="object 14"/>
            <p:cNvSpPr/>
            <p:nvPr/>
          </p:nvSpPr>
          <p:spPr>
            <a:xfrm>
              <a:off x="1919973"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386B"/>
            </a:solidFill>
          </p:spPr>
          <p:txBody>
            <a:bodyPr wrap="square" lIns="0" tIns="0" rIns="0" bIns="0" rtlCol="0"/>
            <a:lstStyle/>
            <a:p>
              <a:endParaRPr/>
            </a:p>
          </p:txBody>
        </p:sp>
        <p:sp>
          <p:nvSpPr>
            <p:cNvPr id="15" name="object 15"/>
            <p:cNvSpPr/>
            <p:nvPr/>
          </p:nvSpPr>
          <p:spPr>
            <a:xfrm>
              <a:off x="3839946" y="3148736"/>
              <a:ext cx="1920239" cy="91440"/>
            </a:xfrm>
            <a:custGeom>
              <a:avLst/>
              <a:gdLst/>
              <a:ahLst/>
              <a:cxnLst/>
              <a:rect l="l" t="t" r="r" b="b"/>
              <a:pathLst>
                <a:path w="1920239" h="91439">
                  <a:moveTo>
                    <a:pt x="1919973" y="0"/>
                  </a:moveTo>
                  <a:lnTo>
                    <a:pt x="0" y="0"/>
                  </a:lnTo>
                  <a:lnTo>
                    <a:pt x="0" y="91287"/>
                  </a:lnTo>
                  <a:lnTo>
                    <a:pt x="1919973" y="91287"/>
                  </a:lnTo>
                  <a:lnTo>
                    <a:pt x="1919973" y="0"/>
                  </a:lnTo>
                  <a:close/>
                </a:path>
              </a:pathLst>
            </a:custGeom>
            <a:solidFill>
              <a:srgbClr val="004A8F"/>
            </a:solidFill>
          </p:spPr>
          <p:txBody>
            <a:bodyPr wrap="square" lIns="0" tIns="0" rIns="0" bIns="0" rtlCol="0"/>
            <a:lstStyle/>
            <a:p>
              <a:endParaRPr/>
            </a:p>
          </p:txBody>
        </p:sp>
      </p:grpSp>
      <p:sp>
        <p:nvSpPr>
          <p:cNvPr id="16" name="object 16"/>
          <p:cNvSpPr txBox="1">
            <a:spLocks noGrp="1"/>
          </p:cNvSpPr>
          <p:nvPr>
            <p:ph type="dt" sz="half" idx="6"/>
          </p:nvPr>
        </p:nvSpPr>
        <p:spPr>
          <a:prstGeom prst="rect">
            <a:avLst/>
          </a:prstGeom>
        </p:spPr>
        <p:txBody>
          <a:bodyPr vert="horz" wrap="square" lIns="0" tIns="22225" rIns="0" bIns="0" rtlCol="0">
            <a:spAutoFit/>
          </a:bodyPr>
          <a:lstStyle/>
          <a:p>
            <a:pPr marL="12700">
              <a:lnSpc>
                <a:spcPct val="100000"/>
              </a:lnSpc>
              <a:spcBef>
                <a:spcPts val="175"/>
              </a:spcBef>
            </a:pPr>
            <a:r>
              <a:rPr spc="-10" dirty="0"/>
              <a:t>邓</a:t>
            </a:r>
            <a:r>
              <a:rPr dirty="0"/>
              <a:t>垚</a:t>
            </a:r>
            <a:r>
              <a:rPr spc="240" dirty="0"/>
              <a:t> </a:t>
            </a:r>
            <a:r>
              <a:rPr dirty="0">
                <a:latin typeface="Century Gothic"/>
                <a:cs typeface="Century Gothic"/>
              </a:rPr>
              <a:t>(</a:t>
            </a:r>
            <a:r>
              <a:rPr spc="-10" dirty="0"/>
              <a:t>贵州大学</a:t>
            </a:r>
            <a:r>
              <a:rPr spc="-50" dirty="0">
                <a:latin typeface="Century Gothic"/>
                <a:cs typeface="Century Gothic"/>
              </a:rPr>
              <a:t>)</a:t>
            </a:r>
          </a:p>
        </p:txBody>
      </p:sp>
      <p:sp>
        <p:nvSpPr>
          <p:cNvPr id="17" name="object 17"/>
          <p:cNvSpPr txBox="1">
            <a:spLocks noGrp="1"/>
          </p:cNvSpPr>
          <p:nvPr>
            <p:ph type="ftr" sz="quarter" idx="5"/>
          </p:nvPr>
        </p:nvSpPr>
        <p:spPr>
          <a:prstGeom prst="rect">
            <a:avLst/>
          </a:prstGeom>
        </p:spPr>
        <p:txBody>
          <a:bodyPr vert="horz" wrap="square" lIns="0" tIns="22225" rIns="0" bIns="0" rtlCol="0">
            <a:spAutoFit/>
          </a:bodyPr>
          <a:lstStyle/>
          <a:p>
            <a:pPr marL="12700">
              <a:lnSpc>
                <a:spcPct val="100000"/>
              </a:lnSpc>
              <a:spcBef>
                <a:spcPts val="175"/>
              </a:spcBef>
            </a:pPr>
            <a:r>
              <a:rPr dirty="0"/>
              <a:t>2026</a:t>
            </a:r>
            <a:r>
              <a:rPr spc="15" dirty="0"/>
              <a:t> </a:t>
            </a:r>
            <a:r>
              <a:rPr dirty="0">
                <a:latin typeface="微软雅黑"/>
                <a:cs typeface="微软雅黑"/>
              </a:rPr>
              <a:t>年 </a:t>
            </a:r>
            <a:r>
              <a:rPr dirty="0"/>
              <a:t>3</a:t>
            </a:r>
            <a:r>
              <a:rPr spc="15" dirty="0"/>
              <a:t> </a:t>
            </a:r>
            <a:r>
              <a:rPr spc="5" dirty="0">
                <a:latin typeface="微软雅黑"/>
                <a:cs typeface="微软雅黑"/>
              </a:rPr>
              <a:t>月 </a:t>
            </a:r>
            <a:r>
              <a:rPr dirty="0"/>
              <a:t>9</a:t>
            </a:r>
            <a:r>
              <a:rPr spc="15" dirty="0"/>
              <a:t> </a:t>
            </a:r>
            <a:r>
              <a:rPr spc="-50" dirty="0">
                <a:latin typeface="微软雅黑"/>
                <a:cs typeface="微软雅黑"/>
              </a:rPr>
              <a:t>日</a:t>
            </a:r>
          </a:p>
        </p:txBody>
      </p:sp>
      <p:sp>
        <p:nvSpPr>
          <p:cNvPr id="18" name="object 18"/>
          <p:cNvSpPr txBox="1">
            <a:spLocks noGrp="1"/>
          </p:cNvSpPr>
          <p:nvPr>
            <p:ph type="sldNum" sz="quarter" idx="7"/>
          </p:nvPr>
        </p:nvSpPr>
        <p:spPr>
          <a:prstGeom prst="rect">
            <a:avLst/>
          </a:prstGeom>
        </p:spPr>
        <p:txBody>
          <a:bodyPr vert="horz" wrap="square" lIns="0" tIns="22225" rIns="0" bIns="0" rtlCol="0">
            <a:spAutoFit/>
          </a:bodyPr>
          <a:lstStyle/>
          <a:p>
            <a:pPr marL="38100">
              <a:lnSpc>
                <a:spcPct val="100000"/>
              </a:lnSpc>
              <a:spcBef>
                <a:spcPts val="175"/>
              </a:spcBef>
            </a:pPr>
            <a:fld id="{81D60167-4931-47E6-BA6A-407CBD079E47}" type="slidenum">
              <a:rPr spc="-20" dirty="0"/>
              <a:t>10</a:t>
            </a:fld>
            <a:r>
              <a:rPr spc="-35" dirty="0"/>
              <a:t> </a:t>
            </a:r>
            <a:r>
              <a:rPr dirty="0"/>
              <a:t>/</a:t>
            </a:r>
            <a:r>
              <a:rPr spc="-30" dirty="0"/>
              <a:t> </a:t>
            </a:r>
            <a:r>
              <a:rPr spc="-50" dirty="0"/>
              <a:t>7</a:t>
            </a:r>
          </a:p>
        </p:txBody>
      </p:sp>
      <p:sp>
        <p:nvSpPr>
          <p:cNvPr id="19" name="object 19"/>
          <p:cNvSpPr txBox="1"/>
          <p:nvPr/>
        </p:nvSpPr>
        <p:spPr>
          <a:xfrm>
            <a:off x="2456052" y="3132293"/>
            <a:ext cx="848360" cy="109220"/>
          </a:xfrm>
          <a:prstGeom prst="rect">
            <a:avLst/>
          </a:prstGeom>
        </p:spPr>
        <p:txBody>
          <a:bodyPr vert="horz" wrap="square" lIns="0" tIns="15875" rIns="0" bIns="0" rtlCol="0">
            <a:spAutoFit/>
          </a:bodyPr>
          <a:lstStyle/>
          <a:p>
            <a:pPr marL="12700">
              <a:lnSpc>
                <a:spcPct val="100000"/>
              </a:lnSpc>
              <a:spcBef>
                <a:spcPts val="125"/>
              </a:spcBef>
            </a:pPr>
            <a:r>
              <a:rPr sz="500" spc="-10" dirty="0">
                <a:solidFill>
                  <a:srgbClr val="FFFFFF"/>
                </a:solidFill>
                <a:latin typeface="微软雅黑"/>
                <a:cs typeface="微软雅黑"/>
                <a:hlinkClick r:id="rId2" action="ppaction://hlinksldjump"/>
              </a:rPr>
              <a:t>开题报告：奇异两点边值问</a:t>
            </a:r>
            <a:r>
              <a:rPr sz="500" spc="-50" dirty="0">
                <a:solidFill>
                  <a:srgbClr val="FFFFFF"/>
                </a:solidFill>
                <a:latin typeface="微软雅黑"/>
                <a:cs typeface="微软雅黑"/>
                <a:hlinkClick r:id="rId2" action="ppaction://hlinksldjump"/>
              </a:rPr>
              <a:t>题</a:t>
            </a:r>
            <a:endParaRPr sz="500">
              <a:latin typeface="微软雅黑"/>
              <a:cs typeface="微软雅黑"/>
            </a:endParaRP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5875" rIns="0" bIns="0" rtlCol="0">
            <a:spAutoFit/>
          </a:bodyPr>
          <a:lstStyle/>
          <a:p>
            <a:pPr marL="12700">
              <a:lnSpc>
                <a:spcPct val="100000"/>
              </a:lnSpc>
              <a:spcBef>
                <a:spcPts val="125"/>
              </a:spcBef>
            </a:pPr>
            <a:r>
              <a:rPr sz="2450" b="1" dirty="0">
                <a:solidFill>
                  <a:srgbClr val="004A8F"/>
                </a:solidFill>
                <a:latin typeface="微软雅黑"/>
                <a:cs typeface="微软雅黑"/>
              </a:rPr>
              <a:t>恳请各位老师批评指正</a:t>
            </a:r>
            <a:r>
              <a:rPr sz="2450" b="1" spc="-50" dirty="0">
                <a:solidFill>
                  <a:srgbClr val="004A8F"/>
                </a:solidFill>
                <a:latin typeface="微软雅黑"/>
                <a:cs typeface="微软雅黑"/>
              </a:rPr>
              <a:t>！</a:t>
            </a:r>
            <a:endParaRPr sz="2450">
              <a:latin typeface="微软雅黑"/>
              <a:cs typeface="微软雅黑"/>
            </a:endParaRPr>
          </a:p>
        </p:txBody>
      </p:sp>
      <p:sp>
        <p:nvSpPr>
          <p:cNvPr id="3" name="object 3"/>
          <p:cNvSpPr txBox="1"/>
          <p:nvPr/>
        </p:nvSpPr>
        <p:spPr>
          <a:xfrm>
            <a:off x="2656585" y="1623743"/>
            <a:ext cx="572135" cy="244475"/>
          </a:xfrm>
          <a:prstGeom prst="rect">
            <a:avLst/>
          </a:prstGeom>
        </p:spPr>
        <p:txBody>
          <a:bodyPr vert="horz" wrap="square" lIns="0" tIns="17145" rIns="0" bIns="0" rtlCol="0">
            <a:spAutoFit/>
          </a:bodyPr>
          <a:lstStyle/>
          <a:p>
            <a:pPr marL="12700">
              <a:lnSpc>
                <a:spcPct val="100000"/>
              </a:lnSpc>
              <a:spcBef>
                <a:spcPts val="135"/>
              </a:spcBef>
            </a:pPr>
            <a:r>
              <a:rPr sz="1400" dirty="0">
                <a:latin typeface="微软雅黑"/>
                <a:cs typeface="微软雅黑"/>
              </a:rPr>
              <a:t>谢谢</a:t>
            </a:r>
            <a:r>
              <a:rPr sz="1400" spc="-50" dirty="0">
                <a:latin typeface="微软雅黑"/>
                <a:cs typeface="微软雅黑"/>
              </a:rPr>
              <a:t>！</a:t>
            </a:r>
            <a:endParaRPr sz="1400">
              <a:latin typeface="微软雅黑"/>
              <a:cs typeface="微软雅黑"/>
            </a:endParaRP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TotalTime>
  <Words>553</Words>
  <Application>Microsoft Office PowerPoint</Application>
  <PresentationFormat>自定义</PresentationFormat>
  <Paragraphs>128</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微软雅黑</vt:lpstr>
      <vt:lpstr>Arial</vt:lpstr>
      <vt:lpstr>Arial Black</vt:lpstr>
      <vt:lpstr>Century Gothic</vt:lpstr>
      <vt:lpstr>DejaVu Serif</vt:lpstr>
      <vt:lpstr>Lucida Sans</vt:lpstr>
      <vt:lpstr>Tahoma</vt:lpstr>
      <vt:lpstr>Times New Roman</vt:lpstr>
      <vt:lpstr>Office Theme</vt:lpstr>
      <vt:lpstr>PowerPoint 演示文稿</vt:lpstr>
      <vt:lpstr>PowerPoint 演示文稿</vt:lpstr>
      <vt:lpstr>研究背景与目的</vt:lpstr>
      <vt:lpstr>研究意义</vt:lpstr>
      <vt:lpstr>国内外研究现状</vt:lpstr>
      <vt:lpstr>未来发展趋势</vt:lpstr>
      <vt:lpstr>主要研究内容与关键问题</vt:lpstr>
      <vt:lpstr>研究技术路线</vt:lpstr>
      <vt:lpstr>工作基础与解决办法</vt:lpstr>
      <vt:lpstr>进度计划</vt:lpstr>
      <vt:lpstr>恳请各位老师批评指正！</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奇异两点边值问题解的存在性和唯一性 - 贵州大学本科生毕业论文（设计）开题报告</dc:title>
  <dc:creator>报告人：邓垚  0.2cm 指导教师：彭云飞  教授</dc:creator>
  <cp:lastModifiedBy>垚 邓</cp:lastModifiedBy>
  <cp:revision>2</cp:revision>
  <dcterms:created xsi:type="dcterms:W3CDTF">2026-03-09T10:53:28Z</dcterms:created>
  <dcterms:modified xsi:type="dcterms:W3CDTF">2026-03-09T11:09:15Z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2026-03-09T00:00:00Z</vt:filetime>
  </property>
  <property fmtid="{D5CDD505-2E9C-101B-9397-08002B2CF9AE}" pid="3" name="Creator">
    <vt:lpwstr>LaTeX with Beamer class</vt:lpwstr>
  </property>
  <property fmtid="{D5CDD505-2E9C-101B-9397-08002B2CF9AE}" pid="4" name="Producer">
    <vt:lpwstr>xdvipdfmx (20220710)</vt:lpwstr>
  </property>
  <property fmtid="{D5CDD505-2E9C-101B-9397-08002B2CF9AE}" pid="5" name="LastSaved">
    <vt:filetime>2026-03-09T00:00:00Z</vt:filetime>
  </property>
</Properties>
</file>